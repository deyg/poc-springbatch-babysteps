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0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Boa noite, pessoal! Hoje vamos entender os fundamentos do Spring Batch e acompanhar uma aplicação do início à recuperação de uma falha. Nosso objetivo é conseguir explicar os componentes do processamento, executar um Job, interpretar os metadados e demonstrar rollback e restart. Vamos trabalhar com um case pequeno: ler produtos de um CSV, reajustar os preços em 10% e gerar outro arquivo.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Pessoal, processamento batch é a execução de um conjunto de dados como um trabalho delimitado. Alguns exemplos são importar cadastros, processar uma folha de pagamento, gerar documentos, consolidar movimentações e reajustar preços. Precisamos saber quando o trabalho começou, quanto processou, como terminou e o que fazer quando algo falha. É nesse cenário que entra o Spring Batch.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O Spring Batch é um framework que organiza a execução desses trabalhos. Ele oferece uma estrutura para dividir o processamento em etapas, ler, transformar e escrever dados, controlar transações, registrar execuções e apoiar a recuperação após falhas. A regra de negócio continua sendo nossa responsabilidade. O framework fornece os mecanismos para executá-la e acompanhar seu resultado.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Antes do código, vamos conhecer os componentes. Job é o trabalho completo. Step é uma etapa desse trabalho. Reader lê os dados, Processor aplica a transformação, Writer escreve o resultado. Chunk é o agrupamento de itens de uma transação. JobRepository é onde ficam os metadados de execução. Na nossa POC, teremos um Job com um Step que processa produtos em chunks.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Um Step pode ser organizado de formas diferentes. Vamos destacar duas. Tasklet executa uma tarefa definida, como preparar um diretório ou realizar uma operação específica. Processamento por chunks lê itens, aplica uma transformação e escreve os resultados em grupos. Nesta apresentação usaremos chunks, porque queremos acompanhar vários produtos e observar suas fronteiras transacionais.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olhar para nossos dados. Entrada: id,nome,preco. Primeiro: Teclado, 100.00. Segundo: Mouse, 50.00. Terceiro: Monitor, 1000.00. A regra é novoPreço igual a preço vezes 1.10. A saída esperada é Teclado 110.00, Mouse 55.00 e Monitor 1100.00. Guardem os nomes Teclado e Mouse. Eles serão importantes quando provocarmos uma falha.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usar Java 21, Spring Boot, Spring Batch, Maven e H2 para os metadados. Trabalharemos em passos pequenos. A cada etapa, vamos compilar, executar os testes aplicáveis e conferir o resultado. Isso nos ajuda a relacionar cada mudança ao conceito que estamos aprendendo.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Começamos com três arquivos: pom.xml, BatchApplication.java e application.properties. Executamos mvn clean test. Depois, mvn spring-boot:run. Nosso primeiro resultado é uma aplicação que compila e inicializa. Ainda não temos processamento de produtos. Temos a base pronta para construí-lo.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Agora criamos o objeto que atravessará o processamento: public record Produto com Long id, String nome e BigDecimal preco. Observem duas escolhas. O record representa os dados de maneira simples e imutável. O BigDecimal permite definir explicitamente o cálculo decimal. Também adicionamos o CSV em src/main/resources/produtos.csv. O produto representa nossos dados. Ele não precisa conhecer o funcionamento do batch.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criar um FlatFileItemReader&lt;Produto&gt;. Ele terá quatro responsabilidades: localizar o arquivo, ignorar o cabeçalho, separar os campos e construir um Produto. Para ignorar a primeira linha, configuramos linesToSkip(1). Ao ler o Teclado, esperamos obter new Produto(1L, "Teclado", new BigDecimal("100.00")). Neste ponto, o preço continua sendo o original. Concluímos apenas a leitura.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Agora aplicamos a regra de negócio. Nosso Processor implementa ItemProcessor&lt;Produto, Produto&gt;. O cálculo usa produto.preco().multiply(new BigDecimal("1.10")).setScale(2, RoundingMode.HALF_UP). Retornaremos um novo Produto com o mesmo id, o mesmo nome e o novo preço. Adotamos duas casas decimais e arredondamento HALF_UP. Vamos testar essa regra separadamente: 100.00 vai para 110.00, 50.00 vai para 55.00, e 1000.00 vai para 1100.00. Assim conseguimos comprovar o cálculo antes de executar o fluxo completo.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O próximo componente é FlatFileItemWriter&lt;Produto&gt;. Ele recebe produtos reajustados e produz linhas como 1,Teclado,110.00. Vamos configurar o arquivo produtos-reajustados.csv, os campos na ordem id,nome,preco, duas casas decimais, ponto como separador decimal e saída sem cabeçalho. O Writer cuida da saída. A regra de reajuste já foi aplicada.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Agora criamos o reajusteProdutoStep. Nele conectamos Reader, Processor e Writer. E configuramos chunk(2, transactionManager). O número dois define nosso agrupamento: primeiro chunk, Teclado e Mouse; segundo chunk, Monitor. Os itens são lidos e processados. O Writer recebe o grupo para escrita, e a transação é confirmada. O último chunk pode conter menos itens que o tamanho configurado.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parar um instante no conceito de commit. Commit é a confirmação da transação. No primeiro chunk queremos concluir o trabalho correspondente ao Teclado e ao Mouse como uma unidade. Se essa unidade falhar antes da confirmação, ocorre rollback da transação. Essa fronteira será central na nossa demonstração de falha. O rollback transacional não deve ser automaticamente interpretado como desfazer qualquer efeito externo; revisitaremos isso ao falar dos arquivos.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Criamos agora o reajusteProdutoJob e associamos a ele o reajusteProdutoStep. Um Job pode conter vários Steps. Para nosso case, um é suficiente. Temos o trabalho completo montado e podemos executá-lo.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Executamos mvn spring-boot:run. Na demonstração vamos conferir três evidências: o status da execução, os contadores do Step e o conteúdo do arquivo. Esperamos encontrar STATUS = COMPLETED, READ_COUNT = 3 e WRITE_COUNT = 3. Depois abrimos o CSV e conferimos os preços. A existência do arquivo é apenas parte da validação. Precisamos verificar seu conteúdo. Esses números são os resultados esperados para o cenário da POC, não uma medição já realizada neste material.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consultar os registros do processamento. BATCH_JOB_INSTANCE representa a identidade do processamento. BATCH_JOB_EXECUTION registra tentativas de execução. BATCH_STEP_EXECUTION registra o status e os contadores do Step. Uma consulta útil seleciona STEP_NAME, STATUS, READ_COUNT, WRITE_COUNT, COMMIT_COUNT e ROLLBACK_COUNT da BATCH_STEP_EXECUTION. Esses dados nos ajudam a compreender o que aconteceu durante a execução.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Aqui está uma distinção importante. JobInstance identifica um processamento lógico. JobExecution representa uma tentativa de executá-lo. JobParameters fornecem valores para a execução. O nome do Job e seus parâmetros identificadores determinam a JobInstance. Guardem esta ideia: uma mesma instância pode ter mais de uma tentativa de execução. É isso que veremos no restart.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alterar temporariamente o Processor. Se o nome do produto for Mouse, lançaremos uma RuntimeException com a mensagem erro proposital ao processar Mouse. Executaremos esse cenário em uma nova instância. Lembrem-se: Teclado e Mouse estão no primeiro chunk. Quando o Mouse falha, o chunk não chega ao commit, a transação sofre rollback, sem tolerância a falhas configurada o Step falha, e os metadados registram o resultado. Agora vamos conferir o status, os contadores e o arquivo.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Pessoal, precisamos ser precisos aqui. Uma mensagem dizendo “Teclado processado” não comprova que houve commit. Também não podemos presumir que rollback desfaz qualquer operação em arquivo. O comportamento depende do Writer e de seus mecanismos transacionais e de recuperação. Por isso, na demonstração, vamos observar as evidências efetivas.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Removemos a falha e preservamos o banco de metadados, o nome do Job e os parâmetros identificadores da instância que falhou. Para manter o histórico entre processos, usaremos H2 persistente em arquivo. Ao executar novamente esperamos demonstrar que a JobInstance permanece a mesma, que a tentativa anterior continua registrada como FAILED e que a nova tentativa termina como COMPLETED. Se mudarmos os parâmetros identificadores, criaremos outra instância.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Nossa falha aconteceu no primeiro chunk. Portanto, nenhum chunk com dados havia sido confirmado antes dela. Demonstramos uma nova tentativa da mesma instância usando os metadados preservados. Para visualizar uma retomada após progresso já confirmado, precisaríamos de um cenário com falha em um chunk posterior. Essa observação evita atribuir à demonstração algo que ela ainda não comprovou.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Vamos registrar informações que ajudem a acompanhar o trabalho: início e fim do Job, início e fim do Step, identificadores da execução, status, quantidades lida e escrita e tempo de execução. Um resumo pode apresentar job=reajusteProdutoJob, jobInstanceId, jobExecutionId, status=COMPLETED, readCount=3, writeCount=3 e durationMs. Com isso conseguimos localizar a tentativa e entender seu resultado.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Agora automatizamos a validação do fluxo completo. O teste deve executar o Job, verificar BatchStatus.COMPLETED, confirmar a existência do arquivo, conferir os três registros e validar os preços e sua formatação. Usamos saída temporária e metadados isolados. O teste unitário comprova o cálculo. O teste de integração comprova a colaboração entre os componentes.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1. O que é Spring Batch? Framework para organizar processamento em lote com transações, metadados e recuperação.
2. O que é um Job? É o trabalho completo que queremos executar.
3. O que é um Step? É uma etapa desse trabalho.
4. O que é um Chunk? Grupo de itens associado a uma unidade transacional.
5. O Reader faz o quê? Lê a entrada e entrega os itens.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6. O Processor faz o quê? Aplica a transformação em cada item.
7. O Writer faz o quê? Escreve os itens recebidos em grupos.
8. Por que chunk de tamanho dois? Para visualizar facilmente o agrupamento dos nossos três produtos.
9. Quando acontece o commit? Quando a transação do chunk é confirmada.
10. O que ocorre quando o Mouse falha? O primeiro chunk sofre rollback e, nesta POC, o Step falha.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11. Rollback desfaz qualquer arquivo? Não. Precisamos considerar o comportamento do Writer.
12. Para que serve o JobRepository? Persistir metadados de execução e apoiar o restart.
13. JobInstance e JobExecution são iguais? Não. Uma identifica o processamento; outra representa uma tentativa.
14. Como demonstramos restart? Preservamos a instância que falhou e executamos outra tentativa com os mesmos parâmetros identificadores.
15. Como comprovamos o resultado? Conferimos status, contadores, conteúdo do arquivo e testes.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APRESENTADOR
Agora é a vez de vocês. Quero que cada participante consiga explicar a responsabilidade de cada componente, mostrar quais produtos pertencem ao primeiro chunk, localizar o status e os contadores, explicar a diferença entre nova instância e restart, e demonstrar a recuperação sem apagar os metadados. Construímos uma base para compreender o processamento batch: organizar o trabalho, controlar suas transações, acompanhar a execução e recuperar falhas. Obrigado!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8132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Text 1"/>
          <p:cNvSpPr/>
          <p:nvPr/>
        </p:nvSpPr>
        <p:spPr>
          <a:xfrm>
            <a:off x="722376" y="749808"/>
            <a:ext cx="8229600" cy="320040"/>
          </a:xfrm>
          <a:prstGeom prst="rect">
            <a:avLst/>
          </a:prstGeom>
          <a:noFill/>
          <a:ln/>
        </p:spPr>
        <p:txBody>
          <a:bodyPr wrap="square" lIns="0" tIns="0" rIns="0" bIns="0" rtlCol="0" anchor="ctr">
            <a:normAutofit/>
          </a:bodyPr>
          <a:lstStyle/>
          <a:p>
            <a:pPr marL="0" indent="0" algn="l">
              <a:buNone/>
            </a:pPr>
            <a:r>
              <a:rPr lang="en-US" sz="1400" b="1" kern="0" spc="200" dirty="0">
                <a:solidFill>
                  <a:srgbClr val="4FE0B5"/>
                </a:solidFill>
                <a:latin typeface="Aptos" pitchFamily="34" charset="0"/>
                <a:ea typeface="Aptos" pitchFamily="34" charset="-122"/>
                <a:cs typeface="Aptos" pitchFamily="34" charset="-120"/>
              </a:rPr>
              <a:t>TREINAMENTO TÉCNICO  /  PROVA DE CONCEITO</a:t>
            </a:r>
            <a:endParaRPr lang="en-US" sz="1400" dirty="0"/>
          </a:p>
        </p:txBody>
      </p:sp>
      <p:sp>
        <p:nvSpPr>
          <p:cNvPr id="4" name="Text 2"/>
          <p:cNvSpPr/>
          <p:nvPr/>
        </p:nvSpPr>
        <p:spPr>
          <a:xfrm>
            <a:off x="713232" y="1380744"/>
            <a:ext cx="10607040" cy="1828800"/>
          </a:xfrm>
          <a:prstGeom prst="rect">
            <a:avLst/>
          </a:prstGeom>
          <a:noFill/>
          <a:ln/>
        </p:spPr>
        <p:txBody>
          <a:bodyPr wrap="square" lIns="0" tIns="0" rIns="0" bIns="0" rtlCol="0" anchor="ctr">
            <a:normAutofit/>
          </a:bodyPr>
          <a:lstStyle/>
          <a:p>
            <a:pPr marL="0" indent="0" algn="l">
              <a:buNone/>
            </a:pPr>
            <a:r>
              <a:rPr lang="en-US" sz="5000" b="1" dirty="0">
                <a:solidFill>
                  <a:srgbClr val="F4F8FC"/>
                </a:solidFill>
                <a:latin typeface="Aptos" pitchFamily="34" charset="0"/>
                <a:ea typeface="Aptos" pitchFamily="34" charset="-122"/>
                <a:cs typeface="Aptos" pitchFamily="34" charset="-120"/>
              </a:rPr>
              <a:t>Spring Batch</a:t>
            </a:r>
            <a:endParaRPr lang="en-US" sz="5000" dirty="0"/>
          </a:p>
          <a:p>
            <a:pPr marL="0" indent="0" algn="l">
              <a:buNone/>
            </a:pPr>
            <a:r>
              <a:rPr lang="en-US" sz="5000" b="1" dirty="0">
                <a:solidFill>
                  <a:srgbClr val="F4F8FC"/>
                </a:solidFill>
                <a:latin typeface="Aptos" pitchFamily="34" charset="0"/>
                <a:ea typeface="Aptos" pitchFamily="34" charset="-122"/>
                <a:cs typeface="Aptos" pitchFamily="34" charset="-120"/>
              </a:rPr>
              <a:t>na prática</a:t>
            </a:r>
            <a:endParaRPr lang="en-US" sz="5000" dirty="0"/>
          </a:p>
        </p:txBody>
      </p:sp>
      <p:sp>
        <p:nvSpPr>
          <p:cNvPr id="5" name="Text 3"/>
          <p:cNvSpPr/>
          <p:nvPr/>
        </p:nvSpPr>
        <p:spPr>
          <a:xfrm>
            <a:off x="731520" y="3419856"/>
            <a:ext cx="10515600" cy="457200"/>
          </a:xfrm>
          <a:prstGeom prst="rect">
            <a:avLst/>
          </a:prstGeom>
          <a:noFill/>
          <a:ln/>
        </p:spPr>
        <p:txBody>
          <a:bodyPr wrap="square" lIns="0" tIns="0" rIns="0" bIns="0" rtlCol="0" anchor="ctr">
            <a:normAutofit/>
          </a:bodyPr>
          <a:lstStyle/>
          <a:p>
            <a:pPr marL="0" indent="0" algn="l">
              <a:buNone/>
            </a:pPr>
            <a:r>
              <a:rPr lang="en-US" sz="2200" dirty="0">
                <a:solidFill>
                  <a:srgbClr val="B8C6D5"/>
                </a:solidFill>
                <a:latin typeface="Aptos" pitchFamily="34" charset="0"/>
                <a:ea typeface="Aptos" pitchFamily="34" charset="-122"/>
                <a:cs typeface="Aptos" pitchFamily="34" charset="-120"/>
              </a:rPr>
              <a:t>V2 · Da primeira leitura ao restart de uma falha</a:t>
            </a:r>
            <a:endParaRPr lang="en-US" sz="2200" dirty="0"/>
          </a:p>
        </p:txBody>
      </p:sp>
      <p:sp>
        <p:nvSpPr>
          <p:cNvPr id="6" name="Shape 4"/>
          <p:cNvSpPr/>
          <p:nvPr/>
        </p:nvSpPr>
        <p:spPr>
          <a:xfrm>
            <a:off x="740664" y="4828032"/>
            <a:ext cx="1993392" cy="685800"/>
          </a:xfrm>
          <a:prstGeom prst="roundRect">
            <a:avLst>
              <a:gd name="adj" fmla="val 17333"/>
            </a:avLst>
          </a:prstGeom>
          <a:solidFill>
            <a:srgbClr val="142C43"/>
          </a:solidFill>
          <a:ln w="12700">
            <a:solidFill>
              <a:srgbClr val="2E4860">
                <a:alpha val="90000"/>
              </a:srgbClr>
            </a:solidFill>
            <a:prstDash val="solid"/>
          </a:ln>
        </p:spPr>
        <p:txBody>
          <a:bodyPr/>
          <a:lstStyle/>
          <a:p>
            <a:endParaRPr lang="pt-BR"/>
          </a:p>
        </p:txBody>
      </p:sp>
      <p:sp>
        <p:nvSpPr>
          <p:cNvPr id="7" name="Text 5"/>
          <p:cNvSpPr/>
          <p:nvPr/>
        </p:nvSpPr>
        <p:spPr>
          <a:xfrm>
            <a:off x="832104" y="5029200"/>
            <a:ext cx="1810512" cy="292608"/>
          </a:xfrm>
          <a:prstGeom prst="rect">
            <a:avLst/>
          </a:prstGeom>
          <a:noFill/>
          <a:ln/>
        </p:spPr>
        <p:txBody>
          <a:bodyPr wrap="square" lIns="0" tIns="0" rIns="0" bIns="0" rtlCol="0" anchor="ctr">
            <a:normAutofit/>
          </a:bodyPr>
          <a:lstStyle/>
          <a:p>
            <a:pPr marL="0" indent="0" algn="ctr">
              <a:buNone/>
            </a:pPr>
            <a:r>
              <a:rPr lang="en-US" sz="1500" b="1" dirty="0">
                <a:solidFill>
                  <a:srgbClr val="F4F8FC"/>
                </a:solidFill>
                <a:latin typeface="Aptos" pitchFamily="34" charset="0"/>
                <a:ea typeface="Aptos" pitchFamily="34" charset="-122"/>
                <a:cs typeface="Aptos" pitchFamily="34" charset="-120"/>
              </a:rPr>
              <a:t>produtos.csv</a:t>
            </a:r>
            <a:endParaRPr lang="en-US" sz="1500" dirty="0"/>
          </a:p>
        </p:txBody>
      </p:sp>
      <p:sp>
        <p:nvSpPr>
          <p:cNvPr id="8" name="Shape 6"/>
          <p:cNvSpPr/>
          <p:nvPr/>
        </p:nvSpPr>
        <p:spPr>
          <a:xfrm>
            <a:off x="2825496" y="503834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9" name="Shape 7"/>
          <p:cNvSpPr/>
          <p:nvPr/>
        </p:nvSpPr>
        <p:spPr>
          <a:xfrm>
            <a:off x="3118104" y="4828032"/>
            <a:ext cx="1527048" cy="685800"/>
          </a:xfrm>
          <a:prstGeom prst="roundRect">
            <a:avLst>
              <a:gd name="adj" fmla="val 17333"/>
            </a:avLst>
          </a:prstGeom>
          <a:solidFill>
            <a:srgbClr val="102337"/>
          </a:solidFill>
          <a:ln w="12700">
            <a:solidFill>
              <a:srgbClr val="2E4860">
                <a:alpha val="90000"/>
              </a:srgbClr>
            </a:solidFill>
            <a:prstDash val="solid"/>
          </a:ln>
        </p:spPr>
        <p:txBody>
          <a:bodyPr/>
          <a:lstStyle/>
          <a:p>
            <a:endParaRPr lang="pt-BR"/>
          </a:p>
        </p:txBody>
      </p:sp>
      <p:sp>
        <p:nvSpPr>
          <p:cNvPr id="10" name="Text 8"/>
          <p:cNvSpPr/>
          <p:nvPr/>
        </p:nvSpPr>
        <p:spPr>
          <a:xfrm>
            <a:off x="3209544" y="5029200"/>
            <a:ext cx="1344168" cy="292608"/>
          </a:xfrm>
          <a:prstGeom prst="rect">
            <a:avLst/>
          </a:prstGeom>
          <a:noFill/>
          <a:ln/>
        </p:spPr>
        <p:txBody>
          <a:bodyPr wrap="square" lIns="0" tIns="0" rIns="0" bIns="0" rtlCol="0" anchor="ctr">
            <a:normAutofit/>
          </a:bodyPr>
          <a:lstStyle/>
          <a:p>
            <a:pPr marL="0" indent="0" algn="ctr">
              <a:buNone/>
            </a:pPr>
            <a:r>
              <a:rPr lang="en-US" sz="1500" dirty="0">
                <a:solidFill>
                  <a:srgbClr val="F4F8FC"/>
                </a:solidFill>
                <a:latin typeface="Aptos" pitchFamily="34" charset="0"/>
                <a:ea typeface="Aptos" pitchFamily="34" charset="-122"/>
                <a:cs typeface="Aptos" pitchFamily="34" charset="-120"/>
              </a:rPr>
              <a:t>Reader</a:t>
            </a:r>
            <a:endParaRPr lang="en-US" sz="1500" dirty="0"/>
          </a:p>
        </p:txBody>
      </p:sp>
      <p:sp>
        <p:nvSpPr>
          <p:cNvPr id="11" name="Shape 9"/>
          <p:cNvSpPr/>
          <p:nvPr/>
        </p:nvSpPr>
        <p:spPr>
          <a:xfrm>
            <a:off x="4736592" y="503834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2" name="Shape 10"/>
          <p:cNvSpPr/>
          <p:nvPr/>
        </p:nvSpPr>
        <p:spPr>
          <a:xfrm>
            <a:off x="5029200" y="4828032"/>
            <a:ext cx="1691640" cy="685800"/>
          </a:xfrm>
          <a:prstGeom prst="roundRect">
            <a:avLst>
              <a:gd name="adj" fmla="val 17333"/>
            </a:avLst>
          </a:prstGeom>
          <a:solidFill>
            <a:srgbClr val="102337"/>
          </a:solidFill>
          <a:ln w="12700">
            <a:solidFill>
              <a:srgbClr val="2E4860">
                <a:alpha val="90000"/>
              </a:srgbClr>
            </a:solidFill>
            <a:prstDash val="solid"/>
          </a:ln>
        </p:spPr>
        <p:txBody>
          <a:bodyPr/>
          <a:lstStyle/>
          <a:p>
            <a:endParaRPr lang="pt-BR"/>
          </a:p>
        </p:txBody>
      </p:sp>
      <p:sp>
        <p:nvSpPr>
          <p:cNvPr id="13" name="Text 11"/>
          <p:cNvSpPr/>
          <p:nvPr/>
        </p:nvSpPr>
        <p:spPr>
          <a:xfrm>
            <a:off x="5120640" y="5029200"/>
            <a:ext cx="1508760" cy="292608"/>
          </a:xfrm>
          <a:prstGeom prst="rect">
            <a:avLst/>
          </a:prstGeom>
          <a:noFill/>
          <a:ln/>
        </p:spPr>
        <p:txBody>
          <a:bodyPr wrap="square" lIns="0" tIns="0" rIns="0" bIns="0" rtlCol="0" anchor="ctr">
            <a:normAutofit/>
          </a:bodyPr>
          <a:lstStyle/>
          <a:p>
            <a:pPr marL="0" indent="0" algn="ctr">
              <a:buNone/>
            </a:pPr>
            <a:r>
              <a:rPr lang="en-US" sz="1500" dirty="0">
                <a:solidFill>
                  <a:srgbClr val="F4F8FC"/>
                </a:solidFill>
                <a:latin typeface="Aptos" pitchFamily="34" charset="0"/>
                <a:ea typeface="Aptos" pitchFamily="34" charset="-122"/>
                <a:cs typeface="Aptos" pitchFamily="34" charset="-120"/>
              </a:rPr>
              <a:t>Processor</a:t>
            </a:r>
            <a:endParaRPr lang="en-US" sz="1500" dirty="0"/>
          </a:p>
        </p:txBody>
      </p:sp>
      <p:sp>
        <p:nvSpPr>
          <p:cNvPr id="14" name="Shape 12"/>
          <p:cNvSpPr/>
          <p:nvPr/>
        </p:nvSpPr>
        <p:spPr>
          <a:xfrm>
            <a:off x="6812280" y="503834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5" name="Shape 13"/>
          <p:cNvSpPr/>
          <p:nvPr/>
        </p:nvSpPr>
        <p:spPr>
          <a:xfrm>
            <a:off x="7104888" y="4828032"/>
            <a:ext cx="1508760" cy="685800"/>
          </a:xfrm>
          <a:prstGeom prst="roundRect">
            <a:avLst>
              <a:gd name="adj" fmla="val 17333"/>
            </a:avLst>
          </a:prstGeom>
          <a:solidFill>
            <a:srgbClr val="102337"/>
          </a:solidFill>
          <a:ln w="12700">
            <a:solidFill>
              <a:srgbClr val="2E4860">
                <a:alpha val="90000"/>
              </a:srgbClr>
            </a:solidFill>
            <a:prstDash val="solid"/>
          </a:ln>
        </p:spPr>
        <p:txBody>
          <a:bodyPr/>
          <a:lstStyle/>
          <a:p>
            <a:endParaRPr lang="pt-BR"/>
          </a:p>
        </p:txBody>
      </p:sp>
      <p:sp>
        <p:nvSpPr>
          <p:cNvPr id="16" name="Text 14"/>
          <p:cNvSpPr/>
          <p:nvPr/>
        </p:nvSpPr>
        <p:spPr>
          <a:xfrm>
            <a:off x="7196328" y="5029200"/>
            <a:ext cx="1325880" cy="292608"/>
          </a:xfrm>
          <a:prstGeom prst="rect">
            <a:avLst/>
          </a:prstGeom>
          <a:noFill/>
          <a:ln/>
        </p:spPr>
        <p:txBody>
          <a:bodyPr wrap="square" lIns="0" tIns="0" rIns="0" bIns="0" rtlCol="0" anchor="ctr">
            <a:normAutofit/>
          </a:bodyPr>
          <a:lstStyle/>
          <a:p>
            <a:pPr marL="0" indent="0" algn="ctr">
              <a:buNone/>
            </a:pPr>
            <a:r>
              <a:rPr lang="en-US" sz="1500" dirty="0">
                <a:solidFill>
                  <a:srgbClr val="F4F8FC"/>
                </a:solidFill>
                <a:latin typeface="Aptos" pitchFamily="34" charset="0"/>
                <a:ea typeface="Aptos" pitchFamily="34" charset="-122"/>
                <a:cs typeface="Aptos" pitchFamily="34" charset="-120"/>
              </a:rPr>
              <a:t>Writer</a:t>
            </a:r>
            <a:endParaRPr lang="en-US" sz="1500" dirty="0"/>
          </a:p>
        </p:txBody>
      </p:sp>
      <p:sp>
        <p:nvSpPr>
          <p:cNvPr id="17" name="Shape 15"/>
          <p:cNvSpPr/>
          <p:nvPr/>
        </p:nvSpPr>
        <p:spPr>
          <a:xfrm>
            <a:off x="8705088" y="503834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8" name="Shape 16"/>
          <p:cNvSpPr/>
          <p:nvPr/>
        </p:nvSpPr>
        <p:spPr>
          <a:xfrm>
            <a:off x="8997696" y="4828032"/>
            <a:ext cx="2240280" cy="685800"/>
          </a:xfrm>
          <a:prstGeom prst="roundRect">
            <a:avLst>
              <a:gd name="adj" fmla="val 17333"/>
            </a:avLst>
          </a:prstGeom>
          <a:solidFill>
            <a:srgbClr val="142C43"/>
          </a:solidFill>
          <a:ln w="12700">
            <a:solidFill>
              <a:srgbClr val="2E4860">
                <a:alpha val="90000"/>
              </a:srgbClr>
            </a:solidFill>
            <a:prstDash val="solid"/>
          </a:ln>
        </p:spPr>
        <p:txBody>
          <a:bodyPr/>
          <a:lstStyle/>
          <a:p>
            <a:endParaRPr lang="pt-BR"/>
          </a:p>
        </p:txBody>
      </p:sp>
      <p:sp>
        <p:nvSpPr>
          <p:cNvPr id="19" name="Text 17"/>
          <p:cNvSpPr/>
          <p:nvPr/>
        </p:nvSpPr>
        <p:spPr>
          <a:xfrm>
            <a:off x="9089136" y="5029200"/>
            <a:ext cx="2057400" cy="292608"/>
          </a:xfrm>
          <a:prstGeom prst="rect">
            <a:avLst/>
          </a:prstGeom>
          <a:noFill/>
          <a:ln/>
        </p:spPr>
        <p:txBody>
          <a:bodyPr wrap="square" lIns="0" tIns="0" rIns="0" bIns="0" rtlCol="0" anchor="ctr">
            <a:normAutofit/>
          </a:bodyPr>
          <a:lstStyle/>
          <a:p>
            <a:pPr marL="0" indent="0" algn="ctr">
              <a:buNone/>
            </a:pPr>
            <a:r>
              <a:rPr lang="en-US" sz="1500" b="1" dirty="0">
                <a:solidFill>
                  <a:srgbClr val="4FE0B5"/>
                </a:solidFill>
                <a:latin typeface="Aptos" pitchFamily="34" charset="0"/>
                <a:ea typeface="Aptos" pitchFamily="34" charset="-122"/>
                <a:cs typeface="Aptos" pitchFamily="34" charset="-120"/>
              </a:rPr>
              <a:t>CSV reajustado</a:t>
            </a:r>
            <a:endParaRPr lang="en-US" sz="1500" dirty="0"/>
          </a:p>
        </p:txBody>
      </p:sp>
      <p:sp>
        <p:nvSpPr>
          <p:cNvPr id="20" name="Text 18"/>
          <p:cNvSpPr/>
          <p:nvPr/>
        </p:nvSpPr>
        <p:spPr>
          <a:xfrm>
            <a:off x="740664" y="6172200"/>
            <a:ext cx="9966960" cy="228600"/>
          </a:xfrm>
          <a:prstGeom prst="rect">
            <a:avLst/>
          </a:prstGeom>
          <a:noFill/>
          <a:ln/>
        </p:spPr>
        <p:txBody>
          <a:bodyPr wrap="square" lIns="0" tIns="0" rIns="0" bIns="0" rtlCol="0" anchor="ctr">
            <a:normAutofit/>
          </a:bodyPr>
          <a:lstStyle/>
          <a:p>
            <a:pPr marL="0" indent="0" algn="l">
              <a:buNone/>
            </a:pPr>
            <a:r>
              <a:rPr lang="en-US" sz="1100" dirty="0">
                <a:solidFill>
                  <a:srgbClr val="8299B0"/>
                </a:solidFill>
                <a:latin typeface="Aptos" pitchFamily="34" charset="0"/>
                <a:ea typeface="Aptos" pitchFamily="34" charset="-122"/>
                <a:cs typeface="Aptos" pitchFamily="34" charset="-120"/>
              </a:rPr>
              <a:t>26 TÓPICOS  ·  15 PERGUNTAS FREQUENTES  ·  28 SLIDES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TEORIA</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02</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 que é processamento batch?</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Um conjunto delimitado de dados processado como um trabalho controlável.</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667512" y="1856232"/>
            <a:ext cx="5669280" cy="3611880"/>
          </a:xfrm>
          <a:prstGeom prst="roundRect">
            <a:avLst>
              <a:gd name="adj" fmla="val 3291"/>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50976" y="2221992"/>
            <a:ext cx="5074920" cy="365760"/>
          </a:xfrm>
          <a:prstGeom prst="rect">
            <a:avLst/>
          </a:prstGeom>
          <a:noFill/>
          <a:ln/>
        </p:spPr>
        <p:txBody>
          <a:bodyPr wrap="square" lIns="0" tIns="0" rIns="0" bIns="0" rtlCol="0" anchor="ctr">
            <a:normAutofit/>
          </a:bodyPr>
          <a:lstStyle/>
          <a:p>
            <a:pPr marL="0" indent="0" algn="l">
              <a:buNone/>
            </a:pPr>
            <a:r>
              <a:rPr lang="en-US" sz="2000" b="1" dirty="0">
                <a:solidFill>
                  <a:srgbClr val="F4F8FC"/>
                </a:solidFill>
                <a:latin typeface="Aptos" pitchFamily="34" charset="0"/>
                <a:ea typeface="Aptos" pitchFamily="34" charset="-122"/>
                <a:cs typeface="Aptos" pitchFamily="34" charset="-120"/>
              </a:rPr>
              <a:t>Uma execução precisa responder:</a:t>
            </a:r>
            <a:endParaRPr lang="en-US" sz="2000" dirty="0"/>
          </a:p>
        </p:txBody>
      </p:sp>
      <p:sp>
        <p:nvSpPr>
          <p:cNvPr id="13" name="Shape 11"/>
          <p:cNvSpPr/>
          <p:nvPr/>
        </p:nvSpPr>
        <p:spPr>
          <a:xfrm>
            <a:off x="1024128" y="2825496"/>
            <a:ext cx="146304" cy="146304"/>
          </a:xfrm>
          <a:prstGeom prst="ellipse">
            <a:avLst/>
          </a:prstGeom>
          <a:solidFill>
            <a:srgbClr val="37C4F3"/>
          </a:solidFill>
          <a:ln w="12700">
            <a:solidFill>
              <a:srgbClr val="37C4F3">
                <a:alpha val="0"/>
              </a:srgbClr>
            </a:solidFill>
            <a:prstDash val="solid"/>
          </a:ln>
        </p:spPr>
        <p:txBody>
          <a:bodyPr/>
          <a:lstStyle/>
          <a:p>
            <a:endParaRPr lang="pt-BR"/>
          </a:p>
        </p:txBody>
      </p:sp>
      <p:sp>
        <p:nvSpPr>
          <p:cNvPr id="14" name="Text 12"/>
          <p:cNvSpPr/>
          <p:nvPr/>
        </p:nvSpPr>
        <p:spPr>
          <a:xfrm>
            <a:off x="1335024" y="2761488"/>
            <a:ext cx="4572000" cy="310896"/>
          </a:xfrm>
          <a:prstGeom prst="rect">
            <a:avLst/>
          </a:prstGeom>
          <a:noFill/>
          <a:ln/>
        </p:spPr>
        <p:txBody>
          <a:bodyPr wrap="square" lIns="0" tIns="0" rIns="0" bIns="0" rtlCol="0" anchor="ctr">
            <a:normAutofit/>
          </a:bodyPr>
          <a:lstStyle/>
          <a:p>
            <a:pPr marL="0" indent="0" algn="l">
              <a:buNone/>
            </a:pPr>
            <a:r>
              <a:rPr lang="en-US" sz="1900" dirty="0">
                <a:solidFill>
                  <a:srgbClr val="F4F8FC"/>
                </a:solidFill>
                <a:latin typeface="Aptos" pitchFamily="34" charset="0"/>
                <a:ea typeface="Aptos" pitchFamily="34" charset="-122"/>
                <a:cs typeface="Aptos" pitchFamily="34" charset="-120"/>
              </a:rPr>
              <a:t>Quando começou?</a:t>
            </a:r>
            <a:endParaRPr lang="en-US" sz="1900" dirty="0"/>
          </a:p>
        </p:txBody>
      </p:sp>
      <p:sp>
        <p:nvSpPr>
          <p:cNvPr id="15" name="Shape 13"/>
          <p:cNvSpPr/>
          <p:nvPr/>
        </p:nvSpPr>
        <p:spPr>
          <a:xfrm>
            <a:off x="1024128" y="3392424"/>
            <a:ext cx="146304" cy="146304"/>
          </a:xfrm>
          <a:prstGeom prst="ellipse">
            <a:avLst/>
          </a:prstGeom>
          <a:solidFill>
            <a:srgbClr val="37C4F3"/>
          </a:solidFill>
          <a:ln w="12700">
            <a:solidFill>
              <a:srgbClr val="37C4F3">
                <a:alpha val="0"/>
              </a:srgbClr>
            </a:solidFill>
            <a:prstDash val="solid"/>
          </a:ln>
        </p:spPr>
        <p:txBody>
          <a:bodyPr/>
          <a:lstStyle/>
          <a:p>
            <a:endParaRPr lang="pt-BR"/>
          </a:p>
        </p:txBody>
      </p:sp>
      <p:sp>
        <p:nvSpPr>
          <p:cNvPr id="16" name="Text 14"/>
          <p:cNvSpPr/>
          <p:nvPr/>
        </p:nvSpPr>
        <p:spPr>
          <a:xfrm>
            <a:off x="1335024" y="3328416"/>
            <a:ext cx="4572000" cy="310896"/>
          </a:xfrm>
          <a:prstGeom prst="rect">
            <a:avLst/>
          </a:prstGeom>
          <a:noFill/>
          <a:ln/>
        </p:spPr>
        <p:txBody>
          <a:bodyPr wrap="square" lIns="0" tIns="0" rIns="0" bIns="0" rtlCol="0" anchor="ctr">
            <a:normAutofit/>
          </a:bodyPr>
          <a:lstStyle/>
          <a:p>
            <a:pPr marL="0" indent="0" algn="l">
              <a:buNone/>
            </a:pPr>
            <a:r>
              <a:rPr lang="en-US" sz="1900" dirty="0">
                <a:solidFill>
                  <a:srgbClr val="F4F8FC"/>
                </a:solidFill>
                <a:latin typeface="Aptos" pitchFamily="34" charset="0"/>
                <a:ea typeface="Aptos" pitchFamily="34" charset="-122"/>
                <a:cs typeface="Aptos" pitchFamily="34" charset="-120"/>
              </a:rPr>
              <a:t>Quanto foi processado?</a:t>
            </a:r>
            <a:endParaRPr lang="en-US" sz="1900" dirty="0"/>
          </a:p>
        </p:txBody>
      </p:sp>
      <p:sp>
        <p:nvSpPr>
          <p:cNvPr id="17" name="Shape 15"/>
          <p:cNvSpPr/>
          <p:nvPr/>
        </p:nvSpPr>
        <p:spPr>
          <a:xfrm>
            <a:off x="1024128" y="3959352"/>
            <a:ext cx="146304" cy="146304"/>
          </a:xfrm>
          <a:prstGeom prst="ellipse">
            <a:avLst/>
          </a:prstGeom>
          <a:solidFill>
            <a:srgbClr val="37C4F3"/>
          </a:solidFill>
          <a:ln w="12700">
            <a:solidFill>
              <a:srgbClr val="37C4F3">
                <a:alpha val="0"/>
              </a:srgbClr>
            </a:solidFill>
            <a:prstDash val="solid"/>
          </a:ln>
        </p:spPr>
        <p:txBody>
          <a:bodyPr/>
          <a:lstStyle/>
          <a:p>
            <a:endParaRPr lang="pt-BR"/>
          </a:p>
        </p:txBody>
      </p:sp>
      <p:sp>
        <p:nvSpPr>
          <p:cNvPr id="18" name="Text 16"/>
          <p:cNvSpPr/>
          <p:nvPr/>
        </p:nvSpPr>
        <p:spPr>
          <a:xfrm>
            <a:off x="1335024" y="3895344"/>
            <a:ext cx="4572000" cy="310896"/>
          </a:xfrm>
          <a:prstGeom prst="rect">
            <a:avLst/>
          </a:prstGeom>
          <a:noFill/>
          <a:ln/>
        </p:spPr>
        <p:txBody>
          <a:bodyPr wrap="square" lIns="0" tIns="0" rIns="0" bIns="0" rtlCol="0" anchor="ctr">
            <a:normAutofit/>
          </a:bodyPr>
          <a:lstStyle/>
          <a:p>
            <a:pPr marL="0" indent="0" algn="l">
              <a:buNone/>
            </a:pPr>
            <a:r>
              <a:rPr lang="en-US" sz="1900" dirty="0">
                <a:solidFill>
                  <a:srgbClr val="F4F8FC"/>
                </a:solidFill>
                <a:latin typeface="Aptos" pitchFamily="34" charset="0"/>
                <a:ea typeface="Aptos" pitchFamily="34" charset="-122"/>
                <a:cs typeface="Aptos" pitchFamily="34" charset="-120"/>
              </a:rPr>
              <a:t>Como terminou?</a:t>
            </a:r>
            <a:endParaRPr lang="en-US" sz="1900" dirty="0"/>
          </a:p>
        </p:txBody>
      </p:sp>
      <p:sp>
        <p:nvSpPr>
          <p:cNvPr id="19" name="Shape 17"/>
          <p:cNvSpPr/>
          <p:nvPr/>
        </p:nvSpPr>
        <p:spPr>
          <a:xfrm>
            <a:off x="1024128" y="4526280"/>
            <a:ext cx="146304" cy="146304"/>
          </a:xfrm>
          <a:prstGeom prst="ellipse">
            <a:avLst/>
          </a:prstGeom>
          <a:solidFill>
            <a:srgbClr val="FFBE68"/>
          </a:solidFill>
          <a:ln w="12700">
            <a:solidFill>
              <a:srgbClr val="FFBE68">
                <a:alpha val="0"/>
              </a:srgbClr>
            </a:solidFill>
            <a:prstDash val="solid"/>
          </a:ln>
        </p:spPr>
        <p:txBody>
          <a:bodyPr/>
          <a:lstStyle/>
          <a:p>
            <a:endParaRPr lang="pt-BR"/>
          </a:p>
        </p:txBody>
      </p:sp>
      <p:sp>
        <p:nvSpPr>
          <p:cNvPr id="20" name="Text 18"/>
          <p:cNvSpPr/>
          <p:nvPr/>
        </p:nvSpPr>
        <p:spPr>
          <a:xfrm>
            <a:off x="1335024" y="4462272"/>
            <a:ext cx="4572000" cy="310896"/>
          </a:xfrm>
          <a:prstGeom prst="rect">
            <a:avLst/>
          </a:prstGeom>
          <a:noFill/>
          <a:ln/>
        </p:spPr>
        <p:txBody>
          <a:bodyPr wrap="square" lIns="0" tIns="0" rIns="0" bIns="0" rtlCol="0" anchor="ctr">
            <a:normAutofit/>
          </a:bodyPr>
          <a:lstStyle/>
          <a:p>
            <a:pPr marL="0" indent="0" algn="l">
              <a:buNone/>
            </a:pPr>
            <a:r>
              <a:rPr lang="en-US" sz="1900" dirty="0">
                <a:solidFill>
                  <a:srgbClr val="F4F8FC"/>
                </a:solidFill>
                <a:latin typeface="Aptos" pitchFamily="34" charset="0"/>
                <a:ea typeface="Aptos" pitchFamily="34" charset="-122"/>
                <a:cs typeface="Aptos" pitchFamily="34" charset="-120"/>
              </a:rPr>
              <a:t>O que fazer se falhar?</a:t>
            </a:r>
            <a:endParaRPr lang="en-US" sz="1900" dirty="0"/>
          </a:p>
        </p:txBody>
      </p:sp>
      <p:sp>
        <p:nvSpPr>
          <p:cNvPr id="21" name="Text 19"/>
          <p:cNvSpPr/>
          <p:nvPr/>
        </p:nvSpPr>
        <p:spPr>
          <a:xfrm>
            <a:off x="6720840" y="1965960"/>
            <a:ext cx="4572000" cy="292608"/>
          </a:xfrm>
          <a:prstGeom prst="rect">
            <a:avLst/>
          </a:prstGeom>
          <a:noFill/>
          <a:ln/>
        </p:spPr>
        <p:txBody>
          <a:bodyPr wrap="square" lIns="0" tIns="0" rIns="0" bIns="0" rtlCol="0" anchor="ctr">
            <a:normAutofit/>
          </a:bodyPr>
          <a:lstStyle/>
          <a:p>
            <a:pPr marL="0" indent="0" algn="l">
              <a:buNone/>
            </a:pPr>
            <a:r>
              <a:rPr lang="en-US" sz="1250" b="1" kern="0" spc="150" dirty="0">
                <a:solidFill>
                  <a:srgbClr val="4FE0B5"/>
                </a:solidFill>
                <a:latin typeface="Aptos" pitchFamily="34" charset="0"/>
                <a:ea typeface="Aptos" pitchFamily="34" charset="-122"/>
                <a:cs typeface="Aptos" pitchFamily="34" charset="-120"/>
              </a:rPr>
              <a:t>EXEMPLOS</a:t>
            </a:r>
            <a:endParaRPr lang="en-US" sz="1250" dirty="0"/>
          </a:p>
        </p:txBody>
      </p:sp>
      <p:sp>
        <p:nvSpPr>
          <p:cNvPr id="22" name="Shape 20"/>
          <p:cNvSpPr/>
          <p:nvPr/>
        </p:nvSpPr>
        <p:spPr>
          <a:xfrm>
            <a:off x="6729984" y="2432304"/>
            <a:ext cx="4754880" cy="475488"/>
          </a:xfrm>
          <a:prstGeom prst="roundRect">
            <a:avLst>
              <a:gd name="adj" fmla="val 25000"/>
            </a:avLst>
          </a:prstGeom>
          <a:solidFill>
            <a:srgbClr val="142C43"/>
          </a:solidFill>
          <a:ln w="12700">
            <a:solidFill>
              <a:srgbClr val="142C43">
                <a:alpha val="0"/>
              </a:srgbClr>
            </a:solidFill>
            <a:prstDash val="solid"/>
          </a:ln>
        </p:spPr>
        <p:txBody>
          <a:bodyPr/>
          <a:lstStyle/>
          <a:p>
            <a:endParaRPr lang="pt-BR"/>
          </a:p>
        </p:txBody>
      </p:sp>
      <p:sp>
        <p:nvSpPr>
          <p:cNvPr id="23" name="Text 21"/>
          <p:cNvSpPr/>
          <p:nvPr/>
        </p:nvSpPr>
        <p:spPr>
          <a:xfrm>
            <a:off x="6958584" y="2523744"/>
            <a:ext cx="4279392" cy="256032"/>
          </a:xfrm>
          <a:prstGeom prst="rect">
            <a:avLst/>
          </a:prstGeom>
          <a:noFill/>
          <a:ln/>
        </p:spPr>
        <p:txBody>
          <a:bodyPr wrap="square" lIns="0" tIns="0" rIns="0" bIns="0" rtlCol="0" anchor="ctr">
            <a:normAutofit/>
          </a:bodyPr>
          <a:lstStyle/>
          <a:p>
            <a:pPr marL="0" indent="0" algn="l">
              <a:buNone/>
            </a:pPr>
            <a:r>
              <a:rPr lang="en-US" sz="1600" dirty="0">
                <a:solidFill>
                  <a:srgbClr val="F4F8FC"/>
                </a:solidFill>
                <a:latin typeface="Aptos" pitchFamily="34" charset="0"/>
                <a:ea typeface="Aptos" pitchFamily="34" charset="-122"/>
                <a:cs typeface="Aptos" pitchFamily="34" charset="-120"/>
              </a:rPr>
              <a:t>Importar cadastros</a:t>
            </a:r>
            <a:endParaRPr lang="en-US" sz="1600" dirty="0"/>
          </a:p>
        </p:txBody>
      </p:sp>
      <p:sp>
        <p:nvSpPr>
          <p:cNvPr id="24" name="Shape 22"/>
          <p:cNvSpPr/>
          <p:nvPr/>
        </p:nvSpPr>
        <p:spPr>
          <a:xfrm>
            <a:off x="6729984" y="3035808"/>
            <a:ext cx="4754880" cy="475488"/>
          </a:xfrm>
          <a:prstGeom prst="roundRect">
            <a:avLst>
              <a:gd name="adj" fmla="val 25000"/>
            </a:avLst>
          </a:prstGeom>
          <a:solidFill>
            <a:srgbClr val="142C43"/>
          </a:solidFill>
          <a:ln w="12700">
            <a:solidFill>
              <a:srgbClr val="142C43">
                <a:alpha val="0"/>
              </a:srgbClr>
            </a:solidFill>
            <a:prstDash val="solid"/>
          </a:ln>
        </p:spPr>
        <p:txBody>
          <a:bodyPr/>
          <a:lstStyle/>
          <a:p>
            <a:endParaRPr lang="pt-BR"/>
          </a:p>
        </p:txBody>
      </p:sp>
      <p:sp>
        <p:nvSpPr>
          <p:cNvPr id="25" name="Text 23"/>
          <p:cNvSpPr/>
          <p:nvPr/>
        </p:nvSpPr>
        <p:spPr>
          <a:xfrm>
            <a:off x="6958584" y="3127248"/>
            <a:ext cx="4279392" cy="256032"/>
          </a:xfrm>
          <a:prstGeom prst="rect">
            <a:avLst/>
          </a:prstGeom>
          <a:noFill/>
          <a:ln/>
        </p:spPr>
        <p:txBody>
          <a:bodyPr wrap="square" lIns="0" tIns="0" rIns="0" bIns="0" rtlCol="0" anchor="ctr">
            <a:normAutofit/>
          </a:bodyPr>
          <a:lstStyle/>
          <a:p>
            <a:pPr marL="0" indent="0" algn="l">
              <a:buNone/>
            </a:pPr>
            <a:r>
              <a:rPr lang="en-US" sz="1600" dirty="0">
                <a:solidFill>
                  <a:srgbClr val="F4F8FC"/>
                </a:solidFill>
                <a:latin typeface="Aptos" pitchFamily="34" charset="0"/>
                <a:ea typeface="Aptos" pitchFamily="34" charset="-122"/>
                <a:cs typeface="Aptos" pitchFamily="34" charset="-120"/>
              </a:rPr>
              <a:t>Processar folha de pagamento</a:t>
            </a:r>
            <a:endParaRPr lang="en-US" sz="1600" dirty="0"/>
          </a:p>
        </p:txBody>
      </p:sp>
      <p:sp>
        <p:nvSpPr>
          <p:cNvPr id="26" name="Shape 24"/>
          <p:cNvSpPr/>
          <p:nvPr/>
        </p:nvSpPr>
        <p:spPr>
          <a:xfrm>
            <a:off x="6729984" y="3639312"/>
            <a:ext cx="4754880" cy="475488"/>
          </a:xfrm>
          <a:prstGeom prst="roundRect">
            <a:avLst>
              <a:gd name="adj" fmla="val 25000"/>
            </a:avLst>
          </a:prstGeom>
          <a:solidFill>
            <a:srgbClr val="142C43"/>
          </a:solidFill>
          <a:ln w="12700">
            <a:solidFill>
              <a:srgbClr val="142C43">
                <a:alpha val="0"/>
              </a:srgbClr>
            </a:solidFill>
            <a:prstDash val="solid"/>
          </a:ln>
        </p:spPr>
        <p:txBody>
          <a:bodyPr/>
          <a:lstStyle/>
          <a:p>
            <a:endParaRPr lang="pt-BR"/>
          </a:p>
        </p:txBody>
      </p:sp>
      <p:sp>
        <p:nvSpPr>
          <p:cNvPr id="27" name="Text 25"/>
          <p:cNvSpPr/>
          <p:nvPr/>
        </p:nvSpPr>
        <p:spPr>
          <a:xfrm>
            <a:off x="6958584" y="3730752"/>
            <a:ext cx="4279392" cy="256032"/>
          </a:xfrm>
          <a:prstGeom prst="rect">
            <a:avLst/>
          </a:prstGeom>
          <a:noFill/>
          <a:ln/>
        </p:spPr>
        <p:txBody>
          <a:bodyPr wrap="square" lIns="0" tIns="0" rIns="0" bIns="0" rtlCol="0" anchor="ctr">
            <a:normAutofit/>
          </a:bodyPr>
          <a:lstStyle/>
          <a:p>
            <a:pPr marL="0" indent="0" algn="l">
              <a:buNone/>
            </a:pPr>
            <a:r>
              <a:rPr lang="en-US" sz="1600" dirty="0">
                <a:solidFill>
                  <a:srgbClr val="F4F8FC"/>
                </a:solidFill>
                <a:latin typeface="Aptos" pitchFamily="34" charset="0"/>
                <a:ea typeface="Aptos" pitchFamily="34" charset="-122"/>
                <a:cs typeface="Aptos" pitchFamily="34" charset="-120"/>
              </a:rPr>
              <a:t>Gerar documentos</a:t>
            </a:r>
            <a:endParaRPr lang="en-US" sz="1600" dirty="0"/>
          </a:p>
        </p:txBody>
      </p:sp>
      <p:sp>
        <p:nvSpPr>
          <p:cNvPr id="28" name="Shape 26"/>
          <p:cNvSpPr/>
          <p:nvPr/>
        </p:nvSpPr>
        <p:spPr>
          <a:xfrm>
            <a:off x="6729984" y="4242816"/>
            <a:ext cx="4754880" cy="475488"/>
          </a:xfrm>
          <a:prstGeom prst="roundRect">
            <a:avLst>
              <a:gd name="adj" fmla="val 25000"/>
            </a:avLst>
          </a:prstGeom>
          <a:solidFill>
            <a:srgbClr val="142C43"/>
          </a:solidFill>
          <a:ln w="12700">
            <a:solidFill>
              <a:srgbClr val="142C43">
                <a:alpha val="0"/>
              </a:srgbClr>
            </a:solidFill>
            <a:prstDash val="solid"/>
          </a:ln>
        </p:spPr>
        <p:txBody>
          <a:bodyPr/>
          <a:lstStyle/>
          <a:p>
            <a:endParaRPr lang="pt-BR"/>
          </a:p>
        </p:txBody>
      </p:sp>
      <p:sp>
        <p:nvSpPr>
          <p:cNvPr id="29" name="Text 27"/>
          <p:cNvSpPr/>
          <p:nvPr/>
        </p:nvSpPr>
        <p:spPr>
          <a:xfrm>
            <a:off x="6958584" y="4334256"/>
            <a:ext cx="4279392" cy="256032"/>
          </a:xfrm>
          <a:prstGeom prst="rect">
            <a:avLst/>
          </a:prstGeom>
          <a:noFill/>
          <a:ln/>
        </p:spPr>
        <p:txBody>
          <a:bodyPr wrap="square" lIns="0" tIns="0" rIns="0" bIns="0" rtlCol="0" anchor="ctr">
            <a:normAutofit/>
          </a:bodyPr>
          <a:lstStyle/>
          <a:p>
            <a:pPr marL="0" indent="0" algn="l">
              <a:buNone/>
            </a:pPr>
            <a:r>
              <a:rPr lang="en-US" sz="1600" dirty="0">
                <a:solidFill>
                  <a:srgbClr val="F4F8FC"/>
                </a:solidFill>
                <a:latin typeface="Aptos" pitchFamily="34" charset="0"/>
                <a:ea typeface="Aptos" pitchFamily="34" charset="-122"/>
                <a:cs typeface="Aptos" pitchFamily="34" charset="-120"/>
              </a:rPr>
              <a:t>Consolidar movimentações</a:t>
            </a:r>
            <a:endParaRPr lang="en-US" sz="1600" dirty="0"/>
          </a:p>
        </p:txBody>
      </p:sp>
      <p:sp>
        <p:nvSpPr>
          <p:cNvPr id="30" name="Shape 28"/>
          <p:cNvSpPr/>
          <p:nvPr/>
        </p:nvSpPr>
        <p:spPr>
          <a:xfrm>
            <a:off x="6729984" y="4846320"/>
            <a:ext cx="4754880" cy="475488"/>
          </a:xfrm>
          <a:prstGeom prst="roundRect">
            <a:avLst>
              <a:gd name="adj" fmla="val 25000"/>
            </a:avLst>
          </a:prstGeom>
          <a:solidFill>
            <a:srgbClr val="142C43"/>
          </a:solidFill>
          <a:ln w="12700">
            <a:solidFill>
              <a:srgbClr val="142C43">
                <a:alpha val="0"/>
              </a:srgbClr>
            </a:solidFill>
            <a:prstDash val="solid"/>
          </a:ln>
        </p:spPr>
        <p:txBody>
          <a:bodyPr/>
          <a:lstStyle/>
          <a:p>
            <a:endParaRPr lang="pt-BR"/>
          </a:p>
        </p:txBody>
      </p:sp>
      <p:sp>
        <p:nvSpPr>
          <p:cNvPr id="31" name="Text 29"/>
          <p:cNvSpPr/>
          <p:nvPr/>
        </p:nvSpPr>
        <p:spPr>
          <a:xfrm>
            <a:off x="6958584" y="4937760"/>
            <a:ext cx="4279392" cy="256032"/>
          </a:xfrm>
          <a:prstGeom prst="rect">
            <a:avLst/>
          </a:prstGeom>
          <a:noFill/>
          <a:ln/>
        </p:spPr>
        <p:txBody>
          <a:bodyPr wrap="square" lIns="0" tIns="0" rIns="0" bIns="0" rtlCol="0" anchor="ctr">
            <a:normAutofit/>
          </a:bodyPr>
          <a:lstStyle/>
          <a:p>
            <a:pPr marL="0" indent="0" algn="l">
              <a:buNone/>
            </a:pPr>
            <a:r>
              <a:rPr lang="en-US" sz="1600" dirty="0">
                <a:solidFill>
                  <a:srgbClr val="F4F8FC"/>
                </a:solidFill>
                <a:latin typeface="Aptos" pitchFamily="34" charset="0"/>
                <a:ea typeface="Aptos" pitchFamily="34" charset="-122"/>
                <a:cs typeface="Aptos" pitchFamily="34" charset="-120"/>
              </a:rPr>
              <a:t>Reajustar preços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TEORIA</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03</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 que o Spring Batch oferece?</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O framework organiza a execução; a regra de negócio continua sendo nossa.</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04088" y="1901952"/>
            <a:ext cx="3447288" cy="1682496"/>
          </a:xfrm>
          <a:prstGeom prst="roundRect">
            <a:avLst>
              <a:gd name="adj" fmla="val 7065"/>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23544" y="2057400"/>
            <a:ext cx="576072" cy="429768"/>
          </a:xfrm>
          <a:prstGeom prst="rect">
            <a:avLst/>
          </a:prstGeom>
          <a:noFill/>
          <a:ln/>
        </p:spPr>
        <p:txBody>
          <a:bodyPr wrap="square" lIns="0" tIns="0" rIns="0" bIns="0" rtlCol="0" anchor="ctr">
            <a:normAutofit/>
          </a:bodyPr>
          <a:lstStyle/>
          <a:p>
            <a:pPr marL="0" indent="0" algn="l">
              <a:buNone/>
            </a:pPr>
            <a:r>
              <a:rPr lang="en-US" sz="2400" b="1" dirty="0">
                <a:solidFill>
                  <a:srgbClr val="4FE0B5"/>
                </a:solidFill>
                <a:latin typeface="Aptos" pitchFamily="34" charset="0"/>
                <a:ea typeface="Aptos" pitchFamily="34" charset="-122"/>
                <a:cs typeface="Aptos" pitchFamily="34" charset="-120"/>
              </a:rPr>
              <a:t>01</a:t>
            </a:r>
            <a:endParaRPr lang="en-US" sz="2400" dirty="0"/>
          </a:p>
        </p:txBody>
      </p:sp>
      <p:sp>
        <p:nvSpPr>
          <p:cNvPr id="13" name="Text 11"/>
          <p:cNvSpPr/>
          <p:nvPr/>
        </p:nvSpPr>
        <p:spPr>
          <a:xfrm>
            <a:off x="1618488" y="2103120"/>
            <a:ext cx="2258568" cy="310896"/>
          </a:xfrm>
          <a:prstGeom prst="rect">
            <a:avLst/>
          </a:prstGeom>
          <a:noFill/>
          <a:ln/>
        </p:spPr>
        <p:txBody>
          <a:bodyPr wrap="square" lIns="0" tIns="0" rIns="0" bIns="0" rtlCol="0" anchor="ctr">
            <a:normAutofit/>
          </a:bodyPr>
          <a:lstStyle/>
          <a:p>
            <a:pPr marL="0" indent="0" algn="l">
              <a:buNone/>
            </a:pPr>
            <a:r>
              <a:rPr lang="en-US" sz="1700" b="1" dirty="0">
                <a:solidFill>
                  <a:srgbClr val="F4F8FC"/>
                </a:solidFill>
                <a:latin typeface="Aptos" pitchFamily="34" charset="0"/>
                <a:ea typeface="Aptos" pitchFamily="34" charset="-122"/>
                <a:cs typeface="Aptos" pitchFamily="34" charset="-120"/>
              </a:rPr>
              <a:t>ETAPAS</a:t>
            </a:r>
            <a:endParaRPr lang="en-US" sz="1700" dirty="0"/>
          </a:p>
        </p:txBody>
      </p:sp>
      <p:sp>
        <p:nvSpPr>
          <p:cNvPr id="14" name="Text 12"/>
          <p:cNvSpPr/>
          <p:nvPr/>
        </p:nvSpPr>
        <p:spPr>
          <a:xfrm>
            <a:off x="932688" y="2688336"/>
            <a:ext cx="2990088" cy="530352"/>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Divisão do trabalho em Steps</a:t>
            </a:r>
            <a:endParaRPr lang="en-US" sz="1600" dirty="0"/>
          </a:p>
        </p:txBody>
      </p:sp>
      <p:sp>
        <p:nvSpPr>
          <p:cNvPr id="15" name="Shape 13"/>
          <p:cNvSpPr/>
          <p:nvPr/>
        </p:nvSpPr>
        <p:spPr>
          <a:xfrm>
            <a:off x="4517136" y="1901952"/>
            <a:ext cx="3447288" cy="1682496"/>
          </a:xfrm>
          <a:prstGeom prst="roundRect">
            <a:avLst>
              <a:gd name="adj" fmla="val 7065"/>
            </a:avLst>
          </a:prstGeom>
          <a:solidFill>
            <a:srgbClr val="102337"/>
          </a:solidFill>
          <a:ln w="12700">
            <a:solidFill>
              <a:srgbClr val="2E4860">
                <a:alpha val="90000"/>
              </a:srgbClr>
            </a:solidFill>
            <a:prstDash val="solid"/>
          </a:ln>
        </p:spPr>
        <p:txBody>
          <a:bodyPr/>
          <a:lstStyle/>
          <a:p>
            <a:endParaRPr lang="pt-BR"/>
          </a:p>
        </p:txBody>
      </p:sp>
      <p:sp>
        <p:nvSpPr>
          <p:cNvPr id="16" name="Text 14"/>
          <p:cNvSpPr/>
          <p:nvPr/>
        </p:nvSpPr>
        <p:spPr>
          <a:xfrm>
            <a:off x="4736592" y="2057400"/>
            <a:ext cx="576072" cy="429768"/>
          </a:xfrm>
          <a:prstGeom prst="rect">
            <a:avLst/>
          </a:prstGeom>
          <a:noFill/>
          <a:ln/>
        </p:spPr>
        <p:txBody>
          <a:bodyPr wrap="square" lIns="0" tIns="0" rIns="0" bIns="0" rtlCol="0" anchor="ctr">
            <a:normAutofit/>
          </a:bodyPr>
          <a:lstStyle/>
          <a:p>
            <a:pPr marL="0" indent="0" algn="l">
              <a:buNone/>
            </a:pPr>
            <a:r>
              <a:rPr lang="en-US" sz="2400" b="1" dirty="0">
                <a:solidFill>
                  <a:srgbClr val="4FE0B5"/>
                </a:solidFill>
                <a:latin typeface="Aptos" pitchFamily="34" charset="0"/>
                <a:ea typeface="Aptos" pitchFamily="34" charset="-122"/>
                <a:cs typeface="Aptos" pitchFamily="34" charset="-120"/>
              </a:rPr>
              <a:t>02</a:t>
            </a:r>
            <a:endParaRPr lang="en-US" sz="2400" dirty="0"/>
          </a:p>
        </p:txBody>
      </p:sp>
      <p:sp>
        <p:nvSpPr>
          <p:cNvPr id="17" name="Text 15"/>
          <p:cNvSpPr/>
          <p:nvPr/>
        </p:nvSpPr>
        <p:spPr>
          <a:xfrm>
            <a:off x="5431536" y="2103120"/>
            <a:ext cx="2258568" cy="310896"/>
          </a:xfrm>
          <a:prstGeom prst="rect">
            <a:avLst/>
          </a:prstGeom>
          <a:noFill/>
          <a:ln/>
        </p:spPr>
        <p:txBody>
          <a:bodyPr wrap="square" lIns="0" tIns="0" rIns="0" bIns="0" rtlCol="0" anchor="ctr">
            <a:normAutofit/>
          </a:bodyPr>
          <a:lstStyle/>
          <a:p>
            <a:pPr marL="0" indent="0" algn="l">
              <a:buNone/>
            </a:pPr>
            <a:r>
              <a:rPr lang="en-US" sz="1700" b="1" dirty="0">
                <a:solidFill>
                  <a:srgbClr val="F4F8FC"/>
                </a:solidFill>
                <a:latin typeface="Aptos" pitchFamily="34" charset="0"/>
                <a:ea typeface="Aptos" pitchFamily="34" charset="-122"/>
                <a:cs typeface="Aptos" pitchFamily="34" charset="-120"/>
              </a:rPr>
              <a:t>PIPELINE</a:t>
            </a:r>
            <a:endParaRPr lang="en-US" sz="1700" dirty="0"/>
          </a:p>
        </p:txBody>
      </p:sp>
      <p:sp>
        <p:nvSpPr>
          <p:cNvPr id="18" name="Text 16"/>
          <p:cNvSpPr/>
          <p:nvPr/>
        </p:nvSpPr>
        <p:spPr>
          <a:xfrm>
            <a:off x="4745736" y="2688336"/>
            <a:ext cx="2990088" cy="530352"/>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Ler, transformar e escrever</a:t>
            </a:r>
            <a:endParaRPr lang="en-US" sz="1600" dirty="0"/>
          </a:p>
        </p:txBody>
      </p:sp>
      <p:sp>
        <p:nvSpPr>
          <p:cNvPr id="19" name="Shape 17"/>
          <p:cNvSpPr/>
          <p:nvPr/>
        </p:nvSpPr>
        <p:spPr>
          <a:xfrm>
            <a:off x="8330184" y="1901952"/>
            <a:ext cx="3447288" cy="1682496"/>
          </a:xfrm>
          <a:prstGeom prst="roundRect">
            <a:avLst>
              <a:gd name="adj" fmla="val 7065"/>
            </a:avLst>
          </a:prstGeom>
          <a:solidFill>
            <a:srgbClr val="102337"/>
          </a:solidFill>
          <a:ln w="12700">
            <a:solidFill>
              <a:srgbClr val="2E4860">
                <a:alpha val="90000"/>
              </a:srgbClr>
            </a:solidFill>
            <a:prstDash val="solid"/>
          </a:ln>
        </p:spPr>
        <p:txBody>
          <a:bodyPr/>
          <a:lstStyle/>
          <a:p>
            <a:endParaRPr lang="pt-BR"/>
          </a:p>
        </p:txBody>
      </p:sp>
      <p:sp>
        <p:nvSpPr>
          <p:cNvPr id="20" name="Text 18"/>
          <p:cNvSpPr/>
          <p:nvPr/>
        </p:nvSpPr>
        <p:spPr>
          <a:xfrm>
            <a:off x="8549640" y="2057400"/>
            <a:ext cx="576072" cy="429768"/>
          </a:xfrm>
          <a:prstGeom prst="rect">
            <a:avLst/>
          </a:prstGeom>
          <a:noFill/>
          <a:ln/>
        </p:spPr>
        <p:txBody>
          <a:bodyPr wrap="square" lIns="0" tIns="0" rIns="0" bIns="0" rtlCol="0" anchor="ctr">
            <a:normAutofit/>
          </a:bodyPr>
          <a:lstStyle/>
          <a:p>
            <a:pPr marL="0" indent="0" algn="l">
              <a:buNone/>
            </a:pPr>
            <a:r>
              <a:rPr lang="en-US" sz="2400" b="1" dirty="0">
                <a:solidFill>
                  <a:srgbClr val="4FE0B5"/>
                </a:solidFill>
                <a:latin typeface="Aptos" pitchFamily="34" charset="0"/>
                <a:ea typeface="Aptos" pitchFamily="34" charset="-122"/>
                <a:cs typeface="Aptos" pitchFamily="34" charset="-120"/>
              </a:rPr>
              <a:t>03</a:t>
            </a:r>
            <a:endParaRPr lang="en-US" sz="2400" dirty="0"/>
          </a:p>
        </p:txBody>
      </p:sp>
      <p:sp>
        <p:nvSpPr>
          <p:cNvPr id="21" name="Text 19"/>
          <p:cNvSpPr/>
          <p:nvPr/>
        </p:nvSpPr>
        <p:spPr>
          <a:xfrm>
            <a:off x="9244584" y="2103120"/>
            <a:ext cx="2258568" cy="310896"/>
          </a:xfrm>
          <a:prstGeom prst="rect">
            <a:avLst/>
          </a:prstGeom>
          <a:noFill/>
          <a:ln/>
        </p:spPr>
        <p:txBody>
          <a:bodyPr wrap="square" lIns="0" tIns="0" rIns="0" bIns="0" rtlCol="0" anchor="ctr">
            <a:normAutofit/>
          </a:bodyPr>
          <a:lstStyle/>
          <a:p>
            <a:pPr marL="0" indent="0" algn="l">
              <a:buNone/>
            </a:pPr>
            <a:r>
              <a:rPr lang="en-US" sz="1700" b="1" dirty="0">
                <a:solidFill>
                  <a:srgbClr val="F4F8FC"/>
                </a:solidFill>
                <a:latin typeface="Aptos" pitchFamily="34" charset="0"/>
                <a:ea typeface="Aptos" pitchFamily="34" charset="-122"/>
                <a:cs typeface="Aptos" pitchFamily="34" charset="-120"/>
              </a:rPr>
              <a:t>TRANSAÇÕES</a:t>
            </a:r>
            <a:endParaRPr lang="en-US" sz="1700" dirty="0"/>
          </a:p>
        </p:txBody>
      </p:sp>
      <p:sp>
        <p:nvSpPr>
          <p:cNvPr id="22" name="Text 20"/>
          <p:cNvSpPr/>
          <p:nvPr/>
        </p:nvSpPr>
        <p:spPr>
          <a:xfrm>
            <a:off x="8558784" y="2688336"/>
            <a:ext cx="2990088" cy="530352"/>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Controle de commit e rollback</a:t>
            </a:r>
            <a:endParaRPr lang="en-US" sz="1600" dirty="0"/>
          </a:p>
        </p:txBody>
      </p:sp>
      <p:sp>
        <p:nvSpPr>
          <p:cNvPr id="23" name="Shape 21"/>
          <p:cNvSpPr/>
          <p:nvPr/>
        </p:nvSpPr>
        <p:spPr>
          <a:xfrm>
            <a:off x="2624328" y="4005072"/>
            <a:ext cx="3447288" cy="1682496"/>
          </a:xfrm>
          <a:prstGeom prst="roundRect">
            <a:avLst>
              <a:gd name="adj" fmla="val 7065"/>
            </a:avLst>
          </a:prstGeom>
          <a:solidFill>
            <a:srgbClr val="102337"/>
          </a:solidFill>
          <a:ln w="12700">
            <a:solidFill>
              <a:srgbClr val="2E4860">
                <a:alpha val="90000"/>
              </a:srgbClr>
            </a:solidFill>
            <a:prstDash val="solid"/>
          </a:ln>
        </p:spPr>
        <p:txBody>
          <a:bodyPr/>
          <a:lstStyle/>
          <a:p>
            <a:endParaRPr lang="pt-BR"/>
          </a:p>
        </p:txBody>
      </p:sp>
      <p:sp>
        <p:nvSpPr>
          <p:cNvPr id="24" name="Text 22"/>
          <p:cNvSpPr/>
          <p:nvPr/>
        </p:nvSpPr>
        <p:spPr>
          <a:xfrm>
            <a:off x="2843784" y="4160520"/>
            <a:ext cx="576072" cy="429768"/>
          </a:xfrm>
          <a:prstGeom prst="rect">
            <a:avLst/>
          </a:prstGeom>
          <a:noFill/>
          <a:ln/>
        </p:spPr>
        <p:txBody>
          <a:bodyPr wrap="square" lIns="0" tIns="0" rIns="0" bIns="0" rtlCol="0" anchor="ctr">
            <a:normAutofit/>
          </a:bodyPr>
          <a:lstStyle/>
          <a:p>
            <a:pPr marL="0" indent="0" algn="l">
              <a:buNone/>
            </a:pPr>
            <a:r>
              <a:rPr lang="en-US" sz="2400" b="1" dirty="0">
                <a:solidFill>
                  <a:srgbClr val="4FE0B5"/>
                </a:solidFill>
                <a:latin typeface="Aptos" pitchFamily="34" charset="0"/>
                <a:ea typeface="Aptos" pitchFamily="34" charset="-122"/>
                <a:cs typeface="Aptos" pitchFamily="34" charset="-120"/>
              </a:rPr>
              <a:t>04</a:t>
            </a:r>
            <a:endParaRPr lang="en-US" sz="2400" dirty="0"/>
          </a:p>
        </p:txBody>
      </p:sp>
      <p:sp>
        <p:nvSpPr>
          <p:cNvPr id="25" name="Text 23"/>
          <p:cNvSpPr/>
          <p:nvPr/>
        </p:nvSpPr>
        <p:spPr>
          <a:xfrm>
            <a:off x="3538728" y="4206240"/>
            <a:ext cx="2258568" cy="310896"/>
          </a:xfrm>
          <a:prstGeom prst="rect">
            <a:avLst/>
          </a:prstGeom>
          <a:noFill/>
          <a:ln/>
        </p:spPr>
        <p:txBody>
          <a:bodyPr wrap="square" lIns="0" tIns="0" rIns="0" bIns="0" rtlCol="0" anchor="ctr">
            <a:normAutofit/>
          </a:bodyPr>
          <a:lstStyle/>
          <a:p>
            <a:pPr marL="0" indent="0" algn="l">
              <a:buNone/>
            </a:pPr>
            <a:r>
              <a:rPr lang="en-US" sz="1700" b="1" dirty="0">
                <a:solidFill>
                  <a:srgbClr val="F4F8FC"/>
                </a:solidFill>
                <a:latin typeface="Aptos" pitchFamily="34" charset="0"/>
                <a:ea typeface="Aptos" pitchFamily="34" charset="-122"/>
                <a:cs typeface="Aptos" pitchFamily="34" charset="-120"/>
              </a:rPr>
              <a:t>METADADOS</a:t>
            </a:r>
            <a:endParaRPr lang="en-US" sz="1700" dirty="0"/>
          </a:p>
        </p:txBody>
      </p:sp>
      <p:sp>
        <p:nvSpPr>
          <p:cNvPr id="26" name="Text 24"/>
          <p:cNvSpPr/>
          <p:nvPr/>
        </p:nvSpPr>
        <p:spPr>
          <a:xfrm>
            <a:off x="2852928" y="4791456"/>
            <a:ext cx="2990088" cy="530352"/>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Histórico de tentativas e contadores</a:t>
            </a:r>
            <a:endParaRPr lang="en-US" sz="1600" dirty="0"/>
          </a:p>
        </p:txBody>
      </p:sp>
      <p:sp>
        <p:nvSpPr>
          <p:cNvPr id="27" name="Shape 25"/>
          <p:cNvSpPr/>
          <p:nvPr/>
        </p:nvSpPr>
        <p:spPr>
          <a:xfrm>
            <a:off x="6437376" y="4005072"/>
            <a:ext cx="3447288" cy="1682496"/>
          </a:xfrm>
          <a:prstGeom prst="roundRect">
            <a:avLst>
              <a:gd name="adj" fmla="val 7065"/>
            </a:avLst>
          </a:prstGeom>
          <a:solidFill>
            <a:srgbClr val="102337"/>
          </a:solidFill>
          <a:ln w="12700">
            <a:solidFill>
              <a:srgbClr val="2E4860">
                <a:alpha val="90000"/>
              </a:srgbClr>
            </a:solidFill>
            <a:prstDash val="solid"/>
          </a:ln>
        </p:spPr>
        <p:txBody>
          <a:bodyPr/>
          <a:lstStyle/>
          <a:p>
            <a:endParaRPr lang="pt-BR"/>
          </a:p>
        </p:txBody>
      </p:sp>
      <p:sp>
        <p:nvSpPr>
          <p:cNvPr id="28" name="Text 26"/>
          <p:cNvSpPr/>
          <p:nvPr/>
        </p:nvSpPr>
        <p:spPr>
          <a:xfrm>
            <a:off x="6656832" y="4160520"/>
            <a:ext cx="576072" cy="429768"/>
          </a:xfrm>
          <a:prstGeom prst="rect">
            <a:avLst/>
          </a:prstGeom>
          <a:noFill/>
          <a:ln/>
        </p:spPr>
        <p:txBody>
          <a:bodyPr wrap="square" lIns="0" tIns="0" rIns="0" bIns="0" rtlCol="0" anchor="ctr">
            <a:normAutofit/>
          </a:bodyPr>
          <a:lstStyle/>
          <a:p>
            <a:pPr marL="0" indent="0" algn="l">
              <a:buNone/>
            </a:pPr>
            <a:r>
              <a:rPr lang="en-US" sz="2400" b="1" dirty="0">
                <a:solidFill>
                  <a:srgbClr val="4FE0B5"/>
                </a:solidFill>
                <a:latin typeface="Aptos" pitchFamily="34" charset="0"/>
                <a:ea typeface="Aptos" pitchFamily="34" charset="-122"/>
                <a:cs typeface="Aptos" pitchFamily="34" charset="-120"/>
              </a:rPr>
              <a:t>05</a:t>
            </a:r>
            <a:endParaRPr lang="en-US" sz="2400" dirty="0"/>
          </a:p>
        </p:txBody>
      </p:sp>
      <p:sp>
        <p:nvSpPr>
          <p:cNvPr id="29" name="Text 27"/>
          <p:cNvSpPr/>
          <p:nvPr/>
        </p:nvSpPr>
        <p:spPr>
          <a:xfrm>
            <a:off x="7351776" y="4206240"/>
            <a:ext cx="2258568" cy="310896"/>
          </a:xfrm>
          <a:prstGeom prst="rect">
            <a:avLst/>
          </a:prstGeom>
          <a:noFill/>
          <a:ln/>
        </p:spPr>
        <p:txBody>
          <a:bodyPr wrap="square" lIns="0" tIns="0" rIns="0" bIns="0" rtlCol="0" anchor="ctr">
            <a:normAutofit/>
          </a:bodyPr>
          <a:lstStyle/>
          <a:p>
            <a:pPr marL="0" indent="0" algn="l">
              <a:buNone/>
            </a:pPr>
            <a:r>
              <a:rPr lang="en-US" sz="1700" b="1" dirty="0">
                <a:solidFill>
                  <a:srgbClr val="F4F8FC"/>
                </a:solidFill>
                <a:latin typeface="Aptos" pitchFamily="34" charset="0"/>
                <a:ea typeface="Aptos" pitchFamily="34" charset="-122"/>
                <a:cs typeface="Aptos" pitchFamily="34" charset="-120"/>
              </a:rPr>
              <a:t>RECUPERAÇÃO</a:t>
            </a:r>
            <a:endParaRPr lang="en-US" sz="1700" dirty="0"/>
          </a:p>
        </p:txBody>
      </p:sp>
      <p:sp>
        <p:nvSpPr>
          <p:cNvPr id="30" name="Text 28"/>
          <p:cNvSpPr/>
          <p:nvPr/>
        </p:nvSpPr>
        <p:spPr>
          <a:xfrm>
            <a:off x="6665976" y="4791456"/>
            <a:ext cx="2990088" cy="530352"/>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Apoio ao restart após falha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TEORIA</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04</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Os componentes principais</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Um Job contém Steps; um Step por chunks conecta leitura, transformação e escrita.</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667512" y="1847088"/>
            <a:ext cx="10844784" cy="630936"/>
          </a:xfrm>
          <a:prstGeom prst="roundRect">
            <a:avLst>
              <a:gd name="adj" fmla="val 18841"/>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960120" y="1984248"/>
            <a:ext cx="10268712" cy="338328"/>
          </a:xfrm>
          <a:prstGeom prst="rect">
            <a:avLst/>
          </a:prstGeom>
          <a:noFill/>
          <a:ln/>
        </p:spPr>
        <p:txBody>
          <a:bodyPr wrap="square" lIns="0" tIns="0" rIns="0" bIns="0" rtlCol="0" anchor="ctr">
            <a:normAutofit/>
          </a:bodyPr>
          <a:lstStyle/>
          <a:p>
            <a:pPr marL="0" indent="0" algn="ctr">
              <a:buNone/>
            </a:pPr>
            <a:r>
              <a:rPr lang="en-US" sz="2000" b="1" dirty="0">
                <a:solidFill>
                  <a:srgbClr val="37C4F3"/>
                </a:solidFill>
                <a:latin typeface="Aptos" pitchFamily="34" charset="0"/>
                <a:ea typeface="Aptos" pitchFamily="34" charset="-122"/>
                <a:cs typeface="Aptos" pitchFamily="34" charset="-120"/>
              </a:rPr>
              <a:t>JOB · trabalho completo</a:t>
            </a:r>
            <a:endParaRPr lang="en-US" sz="2000" dirty="0"/>
          </a:p>
        </p:txBody>
      </p:sp>
      <p:sp>
        <p:nvSpPr>
          <p:cNvPr id="13" name="Shape 11"/>
          <p:cNvSpPr/>
          <p:nvPr/>
        </p:nvSpPr>
        <p:spPr>
          <a:xfrm>
            <a:off x="6080760" y="2478024"/>
            <a:ext cx="0" cy="237744"/>
          </a:xfrm>
          <a:prstGeom prst="line">
            <a:avLst/>
          </a:prstGeom>
          <a:noFill/>
          <a:ln w="25400">
            <a:solidFill>
              <a:srgbClr val="4FE0B5"/>
            </a:solidFill>
            <a:prstDash val="solid"/>
          </a:ln>
        </p:spPr>
        <p:txBody>
          <a:bodyPr/>
          <a:lstStyle/>
          <a:p>
            <a:endParaRPr lang="pt-BR"/>
          </a:p>
        </p:txBody>
      </p:sp>
      <p:sp>
        <p:nvSpPr>
          <p:cNvPr id="14" name="Shape 12"/>
          <p:cNvSpPr/>
          <p:nvPr/>
        </p:nvSpPr>
        <p:spPr>
          <a:xfrm>
            <a:off x="1234440" y="2715768"/>
            <a:ext cx="9738360" cy="603504"/>
          </a:xfrm>
          <a:prstGeom prst="roundRect">
            <a:avLst>
              <a:gd name="adj" fmla="val 19697"/>
            </a:avLst>
          </a:prstGeom>
          <a:solidFill>
            <a:srgbClr val="102337"/>
          </a:solidFill>
          <a:ln w="12700">
            <a:solidFill>
              <a:srgbClr val="2E4860">
                <a:alpha val="90000"/>
              </a:srgbClr>
            </a:solidFill>
            <a:prstDash val="solid"/>
          </a:ln>
        </p:spPr>
        <p:txBody>
          <a:bodyPr/>
          <a:lstStyle/>
          <a:p>
            <a:endParaRPr lang="pt-BR"/>
          </a:p>
        </p:txBody>
      </p:sp>
      <p:sp>
        <p:nvSpPr>
          <p:cNvPr id="15" name="Text 13"/>
          <p:cNvSpPr/>
          <p:nvPr/>
        </p:nvSpPr>
        <p:spPr>
          <a:xfrm>
            <a:off x="1508760" y="2843784"/>
            <a:ext cx="9226296" cy="356616"/>
          </a:xfrm>
          <a:prstGeom prst="rect">
            <a:avLst/>
          </a:prstGeom>
          <a:noFill/>
          <a:ln/>
        </p:spPr>
        <p:txBody>
          <a:bodyPr wrap="square" lIns="0" tIns="0" rIns="0" bIns="0" rtlCol="0" anchor="ctr">
            <a:normAutofit/>
          </a:bodyPr>
          <a:lstStyle/>
          <a:p>
            <a:pPr marL="0" indent="0" algn="ctr">
              <a:buNone/>
            </a:pPr>
            <a:r>
              <a:rPr lang="en-US" sz="1900" b="1" dirty="0">
                <a:solidFill>
                  <a:srgbClr val="F4F8FC"/>
                </a:solidFill>
                <a:latin typeface="Aptos" pitchFamily="34" charset="0"/>
                <a:ea typeface="Aptos" pitchFamily="34" charset="-122"/>
                <a:cs typeface="Aptos" pitchFamily="34" charset="-120"/>
              </a:rPr>
              <a:t>STEP · etapa do trabalho</a:t>
            </a:r>
            <a:endParaRPr lang="en-US" sz="1900" dirty="0"/>
          </a:p>
        </p:txBody>
      </p:sp>
      <p:sp>
        <p:nvSpPr>
          <p:cNvPr id="16" name="Shape 14"/>
          <p:cNvSpPr/>
          <p:nvPr/>
        </p:nvSpPr>
        <p:spPr>
          <a:xfrm>
            <a:off x="6080760" y="3319272"/>
            <a:ext cx="0" cy="283464"/>
          </a:xfrm>
          <a:prstGeom prst="line">
            <a:avLst/>
          </a:prstGeom>
          <a:noFill/>
          <a:ln w="25400">
            <a:solidFill>
              <a:srgbClr val="4FE0B5"/>
            </a:solidFill>
            <a:prstDash val="solid"/>
          </a:ln>
        </p:spPr>
        <p:txBody>
          <a:bodyPr/>
          <a:lstStyle/>
          <a:p>
            <a:endParaRPr lang="pt-BR"/>
          </a:p>
        </p:txBody>
      </p:sp>
      <p:sp>
        <p:nvSpPr>
          <p:cNvPr id="17" name="Shape 15"/>
          <p:cNvSpPr/>
          <p:nvPr/>
        </p:nvSpPr>
        <p:spPr>
          <a:xfrm>
            <a:off x="1618488" y="3621024"/>
            <a:ext cx="8970264" cy="1133856"/>
          </a:xfrm>
          <a:prstGeom prst="roundRect">
            <a:avLst>
              <a:gd name="adj" fmla="val 10484"/>
            </a:avLst>
          </a:prstGeom>
          <a:solidFill>
            <a:srgbClr val="142C43"/>
          </a:solidFill>
          <a:ln w="12700">
            <a:solidFill>
              <a:srgbClr val="2E4860">
                <a:alpha val="90000"/>
              </a:srgbClr>
            </a:solidFill>
            <a:prstDash val="solid"/>
          </a:ln>
        </p:spPr>
        <p:txBody>
          <a:bodyPr/>
          <a:lstStyle/>
          <a:p>
            <a:endParaRPr lang="pt-BR"/>
          </a:p>
        </p:txBody>
      </p:sp>
      <p:sp>
        <p:nvSpPr>
          <p:cNvPr id="18" name="Text 16"/>
          <p:cNvSpPr/>
          <p:nvPr/>
        </p:nvSpPr>
        <p:spPr>
          <a:xfrm>
            <a:off x="1874520" y="3730752"/>
            <a:ext cx="8467344" cy="265176"/>
          </a:xfrm>
          <a:prstGeom prst="rect">
            <a:avLst/>
          </a:prstGeom>
          <a:noFill/>
          <a:ln/>
        </p:spPr>
        <p:txBody>
          <a:bodyPr wrap="square" lIns="0" tIns="0" rIns="0" bIns="0" rtlCol="0" anchor="ctr">
            <a:normAutofit/>
          </a:bodyPr>
          <a:lstStyle/>
          <a:p>
            <a:pPr marL="0" indent="0" algn="ctr">
              <a:buNone/>
            </a:pPr>
            <a:r>
              <a:rPr lang="en-US" sz="1400" b="1" dirty="0">
                <a:solidFill>
                  <a:srgbClr val="4FE0B5"/>
                </a:solidFill>
                <a:latin typeface="Aptos" pitchFamily="34" charset="0"/>
                <a:ea typeface="Aptos" pitchFamily="34" charset="-122"/>
                <a:cs typeface="Aptos" pitchFamily="34" charset="-120"/>
              </a:rPr>
              <a:t>CHUNK · unidade transacional</a:t>
            </a:r>
            <a:endParaRPr lang="en-US" sz="1400" dirty="0"/>
          </a:p>
        </p:txBody>
      </p:sp>
      <p:sp>
        <p:nvSpPr>
          <p:cNvPr id="19" name="Shape 17"/>
          <p:cNvSpPr/>
          <p:nvPr/>
        </p:nvSpPr>
        <p:spPr>
          <a:xfrm>
            <a:off x="2029968" y="4133088"/>
            <a:ext cx="2176272" cy="420624"/>
          </a:xfrm>
          <a:prstGeom prst="roundRect">
            <a:avLst>
              <a:gd name="adj" fmla="val 28261"/>
            </a:avLst>
          </a:prstGeom>
          <a:solidFill>
            <a:srgbClr val="0B1C2E"/>
          </a:solidFill>
          <a:ln w="12700">
            <a:solidFill>
              <a:srgbClr val="2E4860">
                <a:alpha val="90000"/>
              </a:srgbClr>
            </a:solidFill>
            <a:prstDash val="solid"/>
          </a:ln>
        </p:spPr>
        <p:txBody>
          <a:bodyPr/>
          <a:lstStyle/>
          <a:p>
            <a:endParaRPr lang="pt-BR"/>
          </a:p>
        </p:txBody>
      </p:sp>
      <p:sp>
        <p:nvSpPr>
          <p:cNvPr id="20" name="Text 18"/>
          <p:cNvSpPr/>
          <p:nvPr/>
        </p:nvSpPr>
        <p:spPr>
          <a:xfrm>
            <a:off x="2103120" y="4215384"/>
            <a:ext cx="2011680" cy="237744"/>
          </a:xfrm>
          <a:prstGeom prst="rect">
            <a:avLst/>
          </a:prstGeom>
          <a:noFill/>
          <a:ln/>
        </p:spPr>
        <p:txBody>
          <a:bodyPr wrap="square" lIns="0" tIns="0" rIns="0" bIns="0" rtlCol="0" anchor="ctr">
            <a:normAutofit/>
          </a:bodyPr>
          <a:lstStyle/>
          <a:p>
            <a:pPr marL="0" indent="0" algn="ctr">
              <a:buNone/>
            </a:pPr>
            <a:r>
              <a:rPr lang="en-US" sz="1550" b="1" dirty="0">
                <a:solidFill>
                  <a:srgbClr val="F4F8FC"/>
                </a:solidFill>
                <a:latin typeface="Aptos" pitchFamily="34" charset="0"/>
                <a:ea typeface="Aptos" pitchFamily="34" charset="-122"/>
                <a:cs typeface="Aptos" pitchFamily="34" charset="-120"/>
              </a:rPr>
              <a:t>Reader</a:t>
            </a:r>
            <a:endParaRPr lang="en-US" sz="1550" dirty="0"/>
          </a:p>
        </p:txBody>
      </p:sp>
      <p:sp>
        <p:nvSpPr>
          <p:cNvPr id="21" name="Shape 19"/>
          <p:cNvSpPr/>
          <p:nvPr/>
        </p:nvSpPr>
        <p:spPr>
          <a:xfrm>
            <a:off x="4370832" y="421538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22" name="Shape 20"/>
          <p:cNvSpPr/>
          <p:nvPr/>
        </p:nvSpPr>
        <p:spPr>
          <a:xfrm>
            <a:off x="4663440" y="4133088"/>
            <a:ext cx="2176272" cy="420624"/>
          </a:xfrm>
          <a:prstGeom prst="roundRect">
            <a:avLst>
              <a:gd name="adj" fmla="val 28261"/>
            </a:avLst>
          </a:prstGeom>
          <a:solidFill>
            <a:srgbClr val="0B1C2E"/>
          </a:solidFill>
          <a:ln w="12700">
            <a:solidFill>
              <a:srgbClr val="2E4860">
                <a:alpha val="90000"/>
              </a:srgbClr>
            </a:solidFill>
            <a:prstDash val="solid"/>
          </a:ln>
        </p:spPr>
        <p:txBody>
          <a:bodyPr/>
          <a:lstStyle/>
          <a:p>
            <a:endParaRPr lang="pt-BR"/>
          </a:p>
        </p:txBody>
      </p:sp>
      <p:sp>
        <p:nvSpPr>
          <p:cNvPr id="23" name="Text 21"/>
          <p:cNvSpPr/>
          <p:nvPr/>
        </p:nvSpPr>
        <p:spPr>
          <a:xfrm>
            <a:off x="4736592" y="4215384"/>
            <a:ext cx="2011680" cy="237744"/>
          </a:xfrm>
          <a:prstGeom prst="rect">
            <a:avLst/>
          </a:prstGeom>
          <a:noFill/>
          <a:ln/>
        </p:spPr>
        <p:txBody>
          <a:bodyPr wrap="square" lIns="0" tIns="0" rIns="0" bIns="0" rtlCol="0" anchor="ctr">
            <a:normAutofit/>
          </a:bodyPr>
          <a:lstStyle/>
          <a:p>
            <a:pPr marL="0" indent="0" algn="ctr">
              <a:buNone/>
            </a:pPr>
            <a:r>
              <a:rPr lang="en-US" sz="1550" b="1" dirty="0">
                <a:solidFill>
                  <a:srgbClr val="F4F8FC"/>
                </a:solidFill>
                <a:latin typeface="Aptos" pitchFamily="34" charset="0"/>
                <a:ea typeface="Aptos" pitchFamily="34" charset="-122"/>
                <a:cs typeface="Aptos" pitchFamily="34" charset="-120"/>
              </a:rPr>
              <a:t>Processor</a:t>
            </a:r>
            <a:endParaRPr lang="en-US" sz="1550" dirty="0"/>
          </a:p>
        </p:txBody>
      </p:sp>
      <p:sp>
        <p:nvSpPr>
          <p:cNvPr id="24" name="Shape 22"/>
          <p:cNvSpPr/>
          <p:nvPr/>
        </p:nvSpPr>
        <p:spPr>
          <a:xfrm>
            <a:off x="7004304" y="421538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25" name="Shape 23"/>
          <p:cNvSpPr/>
          <p:nvPr/>
        </p:nvSpPr>
        <p:spPr>
          <a:xfrm>
            <a:off x="7306056" y="4133088"/>
            <a:ext cx="2176272" cy="420624"/>
          </a:xfrm>
          <a:prstGeom prst="roundRect">
            <a:avLst>
              <a:gd name="adj" fmla="val 28261"/>
            </a:avLst>
          </a:prstGeom>
          <a:solidFill>
            <a:srgbClr val="0B1C2E"/>
          </a:solidFill>
          <a:ln w="12700">
            <a:solidFill>
              <a:srgbClr val="2E4860">
                <a:alpha val="90000"/>
              </a:srgbClr>
            </a:solidFill>
            <a:prstDash val="solid"/>
          </a:ln>
        </p:spPr>
        <p:txBody>
          <a:bodyPr/>
          <a:lstStyle/>
          <a:p>
            <a:endParaRPr lang="pt-BR"/>
          </a:p>
        </p:txBody>
      </p:sp>
      <p:sp>
        <p:nvSpPr>
          <p:cNvPr id="26" name="Text 24"/>
          <p:cNvSpPr/>
          <p:nvPr/>
        </p:nvSpPr>
        <p:spPr>
          <a:xfrm>
            <a:off x="7379208" y="4215384"/>
            <a:ext cx="2011680" cy="237744"/>
          </a:xfrm>
          <a:prstGeom prst="rect">
            <a:avLst/>
          </a:prstGeom>
          <a:noFill/>
          <a:ln/>
        </p:spPr>
        <p:txBody>
          <a:bodyPr wrap="square" lIns="0" tIns="0" rIns="0" bIns="0" rtlCol="0" anchor="ctr">
            <a:normAutofit/>
          </a:bodyPr>
          <a:lstStyle/>
          <a:p>
            <a:pPr marL="0" indent="0" algn="ctr">
              <a:buNone/>
            </a:pPr>
            <a:r>
              <a:rPr lang="en-US" sz="1550" b="1" dirty="0">
                <a:solidFill>
                  <a:srgbClr val="F4F8FC"/>
                </a:solidFill>
                <a:latin typeface="Aptos" pitchFamily="34" charset="0"/>
                <a:ea typeface="Aptos" pitchFamily="34" charset="-122"/>
                <a:cs typeface="Aptos" pitchFamily="34" charset="-120"/>
              </a:rPr>
              <a:t>Writer</a:t>
            </a:r>
            <a:endParaRPr lang="en-US" sz="1550" dirty="0"/>
          </a:p>
        </p:txBody>
      </p:sp>
      <p:sp>
        <p:nvSpPr>
          <p:cNvPr id="27" name="Shape 25"/>
          <p:cNvSpPr/>
          <p:nvPr/>
        </p:nvSpPr>
        <p:spPr>
          <a:xfrm>
            <a:off x="2660904" y="5166360"/>
            <a:ext cx="6812280" cy="621792"/>
          </a:xfrm>
          <a:prstGeom prst="roundRect">
            <a:avLst>
              <a:gd name="adj" fmla="val 19118"/>
            </a:avLst>
          </a:prstGeom>
          <a:solidFill>
            <a:srgbClr val="0B1C2E"/>
          </a:solidFill>
          <a:ln w="12700">
            <a:solidFill>
              <a:srgbClr val="2E4860">
                <a:alpha val="90000"/>
              </a:srgbClr>
            </a:solidFill>
            <a:prstDash val="solid"/>
          </a:ln>
        </p:spPr>
        <p:txBody>
          <a:bodyPr/>
          <a:lstStyle/>
          <a:p>
            <a:endParaRPr lang="pt-BR"/>
          </a:p>
        </p:txBody>
      </p:sp>
      <p:sp>
        <p:nvSpPr>
          <p:cNvPr id="28" name="Text 26"/>
          <p:cNvSpPr/>
          <p:nvPr/>
        </p:nvSpPr>
        <p:spPr>
          <a:xfrm>
            <a:off x="2907792" y="5321808"/>
            <a:ext cx="6345936" cy="274320"/>
          </a:xfrm>
          <a:prstGeom prst="rect">
            <a:avLst/>
          </a:prstGeom>
          <a:noFill/>
          <a:ln/>
        </p:spPr>
        <p:txBody>
          <a:bodyPr wrap="square" lIns="0" tIns="0" rIns="0" bIns="0" rtlCol="0" anchor="ctr">
            <a:normAutofit/>
          </a:bodyPr>
          <a:lstStyle/>
          <a:p>
            <a:pPr marL="0" indent="0" algn="ctr">
              <a:buNone/>
            </a:pPr>
            <a:r>
              <a:rPr lang="en-US" sz="1700" dirty="0">
                <a:solidFill>
                  <a:srgbClr val="FFBE68"/>
                </a:solidFill>
                <a:latin typeface="Aptos" pitchFamily="34" charset="0"/>
                <a:ea typeface="Aptos" pitchFamily="34" charset="-122"/>
                <a:cs typeface="Aptos" pitchFamily="34" charset="-120"/>
              </a:rPr>
              <a:t>JobRepository · metadados e histórico de execução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TEORIA</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05</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Duas formas de organizar um Step</a:t>
            </a:r>
            <a:endParaRPr lang="en-US" sz="3050" dirty="0"/>
          </a:p>
        </p:txBody>
      </p:sp>
      <p:sp>
        <p:nvSpPr>
          <p:cNvPr id="7" name="Shape 5"/>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8" name="Text 6"/>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9" name="Text 7"/>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0" name="Shape 8"/>
          <p:cNvSpPr/>
          <p:nvPr/>
        </p:nvSpPr>
        <p:spPr>
          <a:xfrm>
            <a:off x="704088" y="1965960"/>
            <a:ext cx="5221224" cy="3017520"/>
          </a:xfrm>
          <a:prstGeom prst="roundRect">
            <a:avLst>
              <a:gd name="adj" fmla="val 3939"/>
            </a:avLst>
          </a:prstGeom>
          <a:solidFill>
            <a:srgbClr val="102337"/>
          </a:solidFill>
          <a:ln w="12700">
            <a:solidFill>
              <a:srgbClr val="2E4860">
                <a:alpha val="90000"/>
              </a:srgbClr>
            </a:solidFill>
            <a:prstDash val="solid"/>
          </a:ln>
        </p:spPr>
        <p:txBody>
          <a:bodyPr/>
          <a:lstStyle/>
          <a:p>
            <a:endParaRPr lang="pt-BR"/>
          </a:p>
        </p:txBody>
      </p:sp>
      <p:sp>
        <p:nvSpPr>
          <p:cNvPr id="11" name="Shape 9"/>
          <p:cNvSpPr/>
          <p:nvPr/>
        </p:nvSpPr>
        <p:spPr>
          <a:xfrm>
            <a:off x="704088" y="1965960"/>
            <a:ext cx="50292" cy="3017520"/>
          </a:xfrm>
          <a:prstGeom prst="rect">
            <a:avLst/>
          </a:prstGeom>
          <a:solidFill>
            <a:srgbClr val="37C4F3"/>
          </a:solidFill>
          <a:ln w="12700">
            <a:solidFill>
              <a:srgbClr val="37C4F3">
                <a:alpha val="0"/>
              </a:srgbClr>
            </a:solidFill>
            <a:prstDash val="solid"/>
          </a:ln>
        </p:spPr>
        <p:txBody>
          <a:bodyPr/>
          <a:lstStyle/>
          <a:p>
            <a:endParaRPr lang="pt-BR"/>
          </a:p>
        </p:txBody>
      </p:sp>
      <p:sp>
        <p:nvSpPr>
          <p:cNvPr id="12" name="Text 10"/>
          <p:cNvSpPr/>
          <p:nvPr/>
        </p:nvSpPr>
        <p:spPr>
          <a:xfrm>
            <a:off x="923544" y="2139696"/>
            <a:ext cx="4809744" cy="338328"/>
          </a:xfrm>
          <a:prstGeom prst="rect">
            <a:avLst/>
          </a:prstGeom>
          <a:noFill/>
          <a:ln/>
        </p:spPr>
        <p:txBody>
          <a:bodyPr wrap="square" lIns="0" tIns="0" rIns="0" bIns="0" rtlCol="0" anchor="ctr">
            <a:normAutofit/>
          </a:bodyPr>
          <a:lstStyle/>
          <a:p>
            <a:pPr marL="0" indent="0" algn="l">
              <a:buNone/>
            </a:pPr>
            <a:r>
              <a:rPr lang="en-US" sz="2500" b="1" dirty="0">
                <a:solidFill>
                  <a:srgbClr val="37C4F3"/>
                </a:solidFill>
                <a:latin typeface="Aptos" pitchFamily="34" charset="0"/>
                <a:ea typeface="Aptos" pitchFamily="34" charset="-122"/>
                <a:cs typeface="Aptos" pitchFamily="34" charset="-120"/>
              </a:rPr>
              <a:t>TASKLET</a:t>
            </a:r>
            <a:endParaRPr lang="en-US" sz="2500" dirty="0"/>
          </a:p>
        </p:txBody>
      </p:sp>
      <p:sp>
        <p:nvSpPr>
          <p:cNvPr id="13" name="Text 11"/>
          <p:cNvSpPr/>
          <p:nvPr/>
        </p:nvSpPr>
        <p:spPr>
          <a:xfrm>
            <a:off x="923544" y="2990088"/>
            <a:ext cx="4782312" cy="1883664"/>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Executa uma tarefa definida: preparar diretório, limpar recursos ou realizar uma operação pontual.</a:t>
            </a:r>
            <a:endParaRPr lang="en-US" sz="1800" dirty="0"/>
          </a:p>
        </p:txBody>
      </p:sp>
      <p:sp>
        <p:nvSpPr>
          <p:cNvPr id="14" name="Shape 12"/>
          <p:cNvSpPr/>
          <p:nvPr/>
        </p:nvSpPr>
        <p:spPr>
          <a:xfrm>
            <a:off x="6254496" y="1965960"/>
            <a:ext cx="5221224" cy="3017520"/>
          </a:xfrm>
          <a:prstGeom prst="roundRect">
            <a:avLst>
              <a:gd name="adj" fmla="val 3939"/>
            </a:avLst>
          </a:prstGeom>
          <a:solidFill>
            <a:srgbClr val="102337"/>
          </a:solidFill>
          <a:ln w="12700">
            <a:solidFill>
              <a:srgbClr val="2E4860">
                <a:alpha val="90000"/>
              </a:srgbClr>
            </a:solidFill>
            <a:prstDash val="solid"/>
          </a:ln>
        </p:spPr>
        <p:txBody>
          <a:bodyPr/>
          <a:lstStyle/>
          <a:p>
            <a:endParaRPr lang="pt-BR"/>
          </a:p>
        </p:txBody>
      </p:sp>
      <p:sp>
        <p:nvSpPr>
          <p:cNvPr id="15" name="Shape 13"/>
          <p:cNvSpPr/>
          <p:nvPr/>
        </p:nvSpPr>
        <p:spPr>
          <a:xfrm>
            <a:off x="6254496" y="1965960"/>
            <a:ext cx="50292" cy="3017520"/>
          </a:xfrm>
          <a:prstGeom prst="rect">
            <a:avLst/>
          </a:prstGeom>
          <a:solidFill>
            <a:srgbClr val="4FE0B5"/>
          </a:solidFill>
          <a:ln w="12700">
            <a:solidFill>
              <a:srgbClr val="4FE0B5">
                <a:alpha val="0"/>
              </a:srgbClr>
            </a:solidFill>
            <a:prstDash val="solid"/>
          </a:ln>
        </p:spPr>
        <p:txBody>
          <a:bodyPr/>
          <a:lstStyle/>
          <a:p>
            <a:endParaRPr lang="pt-BR"/>
          </a:p>
        </p:txBody>
      </p:sp>
      <p:sp>
        <p:nvSpPr>
          <p:cNvPr id="16" name="Text 14"/>
          <p:cNvSpPr/>
          <p:nvPr/>
        </p:nvSpPr>
        <p:spPr>
          <a:xfrm>
            <a:off x="6473952" y="2139696"/>
            <a:ext cx="4809744" cy="338328"/>
          </a:xfrm>
          <a:prstGeom prst="rect">
            <a:avLst/>
          </a:prstGeom>
          <a:noFill/>
          <a:ln/>
        </p:spPr>
        <p:txBody>
          <a:bodyPr wrap="square" lIns="0" tIns="0" rIns="0" bIns="0" rtlCol="0" anchor="ctr">
            <a:normAutofit/>
          </a:bodyPr>
          <a:lstStyle/>
          <a:p>
            <a:pPr marL="0" indent="0" algn="l">
              <a:buNone/>
            </a:pPr>
            <a:r>
              <a:rPr lang="en-US" sz="2500" b="1" dirty="0">
                <a:solidFill>
                  <a:srgbClr val="4FE0B5"/>
                </a:solidFill>
                <a:latin typeface="Aptos" pitchFamily="34" charset="0"/>
                <a:ea typeface="Aptos" pitchFamily="34" charset="-122"/>
                <a:cs typeface="Aptos" pitchFamily="34" charset="-120"/>
              </a:rPr>
              <a:t>CHUNK</a:t>
            </a:r>
            <a:endParaRPr lang="en-US" sz="2500" dirty="0"/>
          </a:p>
        </p:txBody>
      </p:sp>
      <p:sp>
        <p:nvSpPr>
          <p:cNvPr id="17" name="Text 15"/>
          <p:cNvSpPr/>
          <p:nvPr/>
        </p:nvSpPr>
        <p:spPr>
          <a:xfrm>
            <a:off x="6473952" y="2990088"/>
            <a:ext cx="4782312" cy="1883664"/>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Lê vários itens, transforma individualmente e escreve grupos sob controle transacional.</a:t>
            </a:r>
            <a:endParaRPr lang="en-US" sz="1800" dirty="0"/>
          </a:p>
        </p:txBody>
      </p:sp>
      <p:sp>
        <p:nvSpPr>
          <p:cNvPr id="18" name="Shape 16"/>
          <p:cNvSpPr/>
          <p:nvPr/>
        </p:nvSpPr>
        <p:spPr>
          <a:xfrm>
            <a:off x="2807208" y="5422392"/>
            <a:ext cx="6647688" cy="512064"/>
          </a:xfrm>
          <a:prstGeom prst="roundRect">
            <a:avLst>
              <a:gd name="adj" fmla="val 23214"/>
            </a:avLst>
          </a:prstGeom>
          <a:solidFill>
            <a:srgbClr val="142C43"/>
          </a:solidFill>
          <a:ln w="12700">
            <a:solidFill>
              <a:srgbClr val="142C43">
                <a:alpha val="0"/>
              </a:srgbClr>
            </a:solidFill>
            <a:prstDash val="solid"/>
          </a:ln>
        </p:spPr>
        <p:txBody>
          <a:bodyPr/>
          <a:lstStyle/>
          <a:p>
            <a:endParaRPr lang="pt-BR"/>
          </a:p>
        </p:txBody>
      </p:sp>
      <p:sp>
        <p:nvSpPr>
          <p:cNvPr id="19" name="Text 17"/>
          <p:cNvSpPr/>
          <p:nvPr/>
        </p:nvSpPr>
        <p:spPr>
          <a:xfrm>
            <a:off x="3017520" y="5550408"/>
            <a:ext cx="6245352" cy="256032"/>
          </a:xfrm>
          <a:prstGeom prst="rect">
            <a:avLst/>
          </a:prstGeom>
          <a:noFill/>
          <a:ln/>
        </p:spPr>
        <p:txBody>
          <a:bodyPr wrap="square" lIns="0" tIns="0" rIns="0" bIns="0" rtlCol="0" anchor="ctr">
            <a:normAutofit/>
          </a:bodyPr>
          <a:lstStyle/>
          <a:p>
            <a:pPr marL="0" indent="0" algn="ctr">
              <a:buNone/>
            </a:pPr>
            <a:r>
              <a:rPr lang="en-US" sz="1500" b="1" dirty="0">
                <a:solidFill>
                  <a:srgbClr val="4FE0B5"/>
                </a:solidFill>
                <a:latin typeface="Aptos" pitchFamily="34" charset="0"/>
                <a:ea typeface="Aptos" pitchFamily="34" charset="-122"/>
                <a:cs typeface="Aptos" pitchFamily="34" charset="-120"/>
              </a:rPr>
              <a:t>NOSSA POC → PROCESSAMENTO POR CHUNKS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CASE</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06</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 case: entrada, regra e saída</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Produtos de um CSV → reajuste de 10% → novo CSV.</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Text 9"/>
          <p:cNvSpPr/>
          <p:nvPr/>
        </p:nvSpPr>
        <p:spPr>
          <a:xfrm>
            <a:off x="713232" y="1856232"/>
            <a:ext cx="4800600" cy="320040"/>
          </a:xfrm>
          <a:prstGeom prst="rect">
            <a:avLst/>
          </a:prstGeom>
          <a:noFill/>
          <a:ln/>
        </p:spPr>
        <p:txBody>
          <a:bodyPr wrap="square" lIns="0" tIns="0" rIns="0" bIns="0" rtlCol="0" anchor="ctr">
            <a:normAutofit/>
          </a:bodyPr>
          <a:lstStyle/>
          <a:p>
            <a:pPr marL="0" indent="0" algn="l">
              <a:buNone/>
            </a:pPr>
            <a:r>
              <a:rPr lang="en-US" sz="1700" b="1" dirty="0">
                <a:solidFill>
                  <a:srgbClr val="37C4F3"/>
                </a:solidFill>
                <a:latin typeface="Aptos" pitchFamily="34" charset="0"/>
                <a:ea typeface="Aptos" pitchFamily="34" charset="-122"/>
                <a:cs typeface="Aptos" pitchFamily="34" charset="-120"/>
              </a:rPr>
              <a:t>ENTRADA · produtos.csv</a:t>
            </a:r>
            <a:endParaRPr lang="en-US" sz="1700" dirty="0"/>
          </a:p>
        </p:txBody>
      </p:sp>
      <p:sp>
        <p:nvSpPr>
          <p:cNvPr id="12" name="Shape 10"/>
          <p:cNvSpPr/>
          <p:nvPr/>
        </p:nvSpPr>
        <p:spPr>
          <a:xfrm>
            <a:off x="694944" y="2304288"/>
            <a:ext cx="4791456" cy="2157984"/>
          </a:xfrm>
          <a:prstGeom prst="roundRect">
            <a:avLst>
              <a:gd name="adj" fmla="val 5508"/>
            </a:avLst>
          </a:prstGeom>
          <a:solidFill>
            <a:srgbClr val="142C43"/>
          </a:solidFill>
          <a:ln w="12700">
            <a:solidFill>
              <a:srgbClr val="2E4860">
                <a:alpha val="90000"/>
              </a:srgbClr>
            </a:solidFill>
            <a:prstDash val="solid"/>
          </a:ln>
        </p:spPr>
        <p:txBody>
          <a:bodyPr/>
          <a:lstStyle/>
          <a:p>
            <a:endParaRPr lang="pt-BR"/>
          </a:p>
        </p:txBody>
      </p:sp>
      <p:sp>
        <p:nvSpPr>
          <p:cNvPr id="13" name="Text 11"/>
          <p:cNvSpPr/>
          <p:nvPr/>
        </p:nvSpPr>
        <p:spPr>
          <a:xfrm>
            <a:off x="813816" y="2386584"/>
            <a:ext cx="493776"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ID</a:t>
            </a:r>
            <a:endParaRPr lang="en-US" sz="1220" dirty="0"/>
          </a:p>
        </p:txBody>
      </p:sp>
      <p:sp>
        <p:nvSpPr>
          <p:cNvPr id="14" name="Text 12"/>
          <p:cNvSpPr/>
          <p:nvPr/>
        </p:nvSpPr>
        <p:spPr>
          <a:xfrm>
            <a:off x="1472184" y="2386584"/>
            <a:ext cx="2203704"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NOME</a:t>
            </a:r>
            <a:endParaRPr lang="en-US" sz="1220" dirty="0"/>
          </a:p>
        </p:txBody>
      </p:sp>
      <p:sp>
        <p:nvSpPr>
          <p:cNvPr id="15" name="Text 13"/>
          <p:cNvSpPr/>
          <p:nvPr/>
        </p:nvSpPr>
        <p:spPr>
          <a:xfrm>
            <a:off x="3840480" y="2386584"/>
            <a:ext cx="1600200"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PREÇO</a:t>
            </a:r>
            <a:endParaRPr lang="en-US" sz="1220" dirty="0"/>
          </a:p>
        </p:txBody>
      </p:sp>
      <p:sp>
        <p:nvSpPr>
          <p:cNvPr id="16" name="Shape 14"/>
          <p:cNvSpPr/>
          <p:nvPr/>
        </p:nvSpPr>
        <p:spPr>
          <a:xfrm>
            <a:off x="694944" y="2734056"/>
            <a:ext cx="4791456" cy="0"/>
          </a:xfrm>
          <a:prstGeom prst="line">
            <a:avLst/>
          </a:prstGeom>
          <a:noFill/>
          <a:ln w="19050">
            <a:solidFill>
              <a:srgbClr val="2E4860"/>
            </a:solidFill>
            <a:prstDash val="solid"/>
          </a:ln>
        </p:spPr>
        <p:txBody>
          <a:bodyPr/>
          <a:lstStyle/>
          <a:p>
            <a:endParaRPr lang="pt-BR"/>
          </a:p>
        </p:txBody>
      </p:sp>
      <p:sp>
        <p:nvSpPr>
          <p:cNvPr id="17" name="Text 15"/>
          <p:cNvSpPr/>
          <p:nvPr/>
        </p:nvSpPr>
        <p:spPr>
          <a:xfrm>
            <a:off x="813816" y="2802636"/>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a:t>
            </a:r>
            <a:endParaRPr lang="en-US" sz="1700" dirty="0"/>
          </a:p>
        </p:txBody>
      </p:sp>
      <p:sp>
        <p:nvSpPr>
          <p:cNvPr id="18" name="Text 16"/>
          <p:cNvSpPr/>
          <p:nvPr/>
        </p:nvSpPr>
        <p:spPr>
          <a:xfrm>
            <a:off x="1472184" y="2802636"/>
            <a:ext cx="2194560"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Teclado</a:t>
            </a:r>
            <a:endParaRPr lang="en-US" sz="1700" dirty="0"/>
          </a:p>
        </p:txBody>
      </p:sp>
      <p:sp>
        <p:nvSpPr>
          <p:cNvPr id="19" name="Text 17"/>
          <p:cNvSpPr/>
          <p:nvPr/>
        </p:nvSpPr>
        <p:spPr>
          <a:xfrm>
            <a:off x="3840480" y="2802636"/>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100.00</a:t>
            </a:r>
            <a:endParaRPr lang="en-US" sz="1700" dirty="0"/>
          </a:p>
        </p:txBody>
      </p:sp>
      <p:sp>
        <p:nvSpPr>
          <p:cNvPr id="20" name="Shape 18"/>
          <p:cNvSpPr/>
          <p:nvPr/>
        </p:nvSpPr>
        <p:spPr>
          <a:xfrm>
            <a:off x="694944" y="3310128"/>
            <a:ext cx="4791456" cy="0"/>
          </a:xfrm>
          <a:prstGeom prst="line">
            <a:avLst/>
          </a:prstGeom>
          <a:noFill/>
          <a:ln w="5715">
            <a:solidFill>
              <a:srgbClr val="2E4860"/>
            </a:solidFill>
            <a:prstDash val="solid"/>
          </a:ln>
        </p:spPr>
        <p:txBody>
          <a:bodyPr/>
          <a:lstStyle/>
          <a:p>
            <a:endParaRPr lang="pt-BR"/>
          </a:p>
        </p:txBody>
      </p:sp>
      <p:sp>
        <p:nvSpPr>
          <p:cNvPr id="21" name="Shape 19"/>
          <p:cNvSpPr/>
          <p:nvPr/>
        </p:nvSpPr>
        <p:spPr>
          <a:xfrm>
            <a:off x="702259" y="3310128"/>
            <a:ext cx="4775911" cy="576072"/>
          </a:xfrm>
          <a:prstGeom prst="rect">
            <a:avLst/>
          </a:prstGeom>
          <a:solidFill>
            <a:srgbClr val="102337"/>
          </a:solidFill>
          <a:ln w="12700">
            <a:solidFill>
              <a:srgbClr val="102337">
                <a:alpha val="0"/>
              </a:srgbClr>
            </a:solidFill>
            <a:prstDash val="solid"/>
          </a:ln>
        </p:spPr>
        <p:txBody>
          <a:bodyPr/>
          <a:lstStyle/>
          <a:p>
            <a:endParaRPr lang="pt-BR"/>
          </a:p>
        </p:txBody>
      </p:sp>
      <p:sp>
        <p:nvSpPr>
          <p:cNvPr id="22" name="Text 20"/>
          <p:cNvSpPr/>
          <p:nvPr/>
        </p:nvSpPr>
        <p:spPr>
          <a:xfrm>
            <a:off x="813816" y="3378708"/>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2</a:t>
            </a:r>
            <a:endParaRPr lang="en-US" sz="1700" dirty="0"/>
          </a:p>
        </p:txBody>
      </p:sp>
      <p:sp>
        <p:nvSpPr>
          <p:cNvPr id="23" name="Text 21"/>
          <p:cNvSpPr/>
          <p:nvPr/>
        </p:nvSpPr>
        <p:spPr>
          <a:xfrm>
            <a:off x="1472184" y="3378708"/>
            <a:ext cx="2194560"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Mouse</a:t>
            </a:r>
            <a:endParaRPr lang="en-US" sz="1700" dirty="0"/>
          </a:p>
        </p:txBody>
      </p:sp>
      <p:sp>
        <p:nvSpPr>
          <p:cNvPr id="24" name="Text 22"/>
          <p:cNvSpPr/>
          <p:nvPr/>
        </p:nvSpPr>
        <p:spPr>
          <a:xfrm>
            <a:off x="3840480" y="3378708"/>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50.00</a:t>
            </a:r>
            <a:endParaRPr lang="en-US" sz="1700" dirty="0"/>
          </a:p>
        </p:txBody>
      </p:sp>
      <p:sp>
        <p:nvSpPr>
          <p:cNvPr id="25" name="Shape 23"/>
          <p:cNvSpPr/>
          <p:nvPr/>
        </p:nvSpPr>
        <p:spPr>
          <a:xfrm>
            <a:off x="694944" y="3886200"/>
            <a:ext cx="4791456" cy="0"/>
          </a:xfrm>
          <a:prstGeom prst="line">
            <a:avLst/>
          </a:prstGeom>
          <a:noFill/>
          <a:ln w="5715">
            <a:solidFill>
              <a:srgbClr val="2E4860"/>
            </a:solidFill>
            <a:prstDash val="solid"/>
          </a:ln>
        </p:spPr>
        <p:txBody>
          <a:bodyPr/>
          <a:lstStyle/>
          <a:p>
            <a:endParaRPr lang="pt-BR"/>
          </a:p>
        </p:txBody>
      </p:sp>
      <p:sp>
        <p:nvSpPr>
          <p:cNvPr id="26" name="Text 24"/>
          <p:cNvSpPr/>
          <p:nvPr/>
        </p:nvSpPr>
        <p:spPr>
          <a:xfrm>
            <a:off x="813816" y="3954780"/>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3</a:t>
            </a:r>
            <a:endParaRPr lang="en-US" sz="1700" dirty="0"/>
          </a:p>
        </p:txBody>
      </p:sp>
      <p:sp>
        <p:nvSpPr>
          <p:cNvPr id="27" name="Text 25"/>
          <p:cNvSpPr/>
          <p:nvPr/>
        </p:nvSpPr>
        <p:spPr>
          <a:xfrm>
            <a:off x="1472184" y="3954780"/>
            <a:ext cx="2194560"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Monitor</a:t>
            </a:r>
            <a:endParaRPr lang="en-US" sz="1700" dirty="0"/>
          </a:p>
        </p:txBody>
      </p:sp>
      <p:sp>
        <p:nvSpPr>
          <p:cNvPr id="28" name="Text 26"/>
          <p:cNvSpPr/>
          <p:nvPr/>
        </p:nvSpPr>
        <p:spPr>
          <a:xfrm>
            <a:off x="3840480" y="3954780"/>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1000.00</a:t>
            </a:r>
            <a:endParaRPr lang="en-US" sz="1700" dirty="0"/>
          </a:p>
        </p:txBody>
      </p:sp>
      <p:sp>
        <p:nvSpPr>
          <p:cNvPr id="29" name="Text 27"/>
          <p:cNvSpPr/>
          <p:nvPr/>
        </p:nvSpPr>
        <p:spPr>
          <a:xfrm>
            <a:off x="6693408" y="1856232"/>
            <a:ext cx="4681728" cy="320040"/>
          </a:xfrm>
          <a:prstGeom prst="rect">
            <a:avLst/>
          </a:prstGeom>
          <a:noFill/>
          <a:ln/>
        </p:spPr>
        <p:txBody>
          <a:bodyPr wrap="square" lIns="0" tIns="0" rIns="0" bIns="0" rtlCol="0" anchor="ctr">
            <a:normAutofit/>
          </a:bodyPr>
          <a:lstStyle/>
          <a:p>
            <a:pPr marL="0" indent="0" algn="l">
              <a:buNone/>
            </a:pPr>
            <a:r>
              <a:rPr lang="en-US" sz="1700" b="1" dirty="0">
                <a:solidFill>
                  <a:srgbClr val="4FE0B5"/>
                </a:solidFill>
                <a:latin typeface="Aptos" pitchFamily="34" charset="0"/>
                <a:ea typeface="Aptos" pitchFamily="34" charset="-122"/>
                <a:cs typeface="Aptos" pitchFamily="34" charset="-120"/>
              </a:rPr>
              <a:t>SAÍDA · produtos-reajustados.csv</a:t>
            </a:r>
            <a:endParaRPr lang="en-US" sz="1700" dirty="0"/>
          </a:p>
        </p:txBody>
      </p:sp>
      <p:sp>
        <p:nvSpPr>
          <p:cNvPr id="30" name="Shape 28"/>
          <p:cNvSpPr/>
          <p:nvPr/>
        </p:nvSpPr>
        <p:spPr>
          <a:xfrm>
            <a:off x="6684264" y="2304288"/>
            <a:ext cx="4764024" cy="2157984"/>
          </a:xfrm>
          <a:prstGeom prst="roundRect">
            <a:avLst>
              <a:gd name="adj" fmla="val 5508"/>
            </a:avLst>
          </a:prstGeom>
          <a:solidFill>
            <a:srgbClr val="142C43"/>
          </a:solidFill>
          <a:ln w="12700">
            <a:solidFill>
              <a:srgbClr val="2E4860">
                <a:alpha val="90000"/>
              </a:srgbClr>
            </a:solidFill>
            <a:prstDash val="solid"/>
          </a:ln>
        </p:spPr>
        <p:txBody>
          <a:bodyPr/>
          <a:lstStyle/>
          <a:p>
            <a:endParaRPr lang="pt-BR"/>
          </a:p>
        </p:txBody>
      </p:sp>
      <p:sp>
        <p:nvSpPr>
          <p:cNvPr id="31" name="Text 29"/>
          <p:cNvSpPr/>
          <p:nvPr/>
        </p:nvSpPr>
        <p:spPr>
          <a:xfrm>
            <a:off x="6803136" y="2386584"/>
            <a:ext cx="493776"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ID</a:t>
            </a:r>
            <a:endParaRPr lang="en-US" sz="1220" dirty="0"/>
          </a:p>
        </p:txBody>
      </p:sp>
      <p:sp>
        <p:nvSpPr>
          <p:cNvPr id="32" name="Text 30"/>
          <p:cNvSpPr/>
          <p:nvPr/>
        </p:nvSpPr>
        <p:spPr>
          <a:xfrm>
            <a:off x="7461504" y="2386584"/>
            <a:ext cx="2176272"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NOME</a:t>
            </a:r>
            <a:endParaRPr lang="en-US" sz="1220" dirty="0"/>
          </a:p>
        </p:txBody>
      </p:sp>
      <p:sp>
        <p:nvSpPr>
          <p:cNvPr id="33" name="Text 31"/>
          <p:cNvSpPr/>
          <p:nvPr/>
        </p:nvSpPr>
        <p:spPr>
          <a:xfrm>
            <a:off x="9802368" y="2386584"/>
            <a:ext cx="1600200"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PREÇO</a:t>
            </a:r>
            <a:endParaRPr lang="en-US" sz="1220" dirty="0"/>
          </a:p>
        </p:txBody>
      </p:sp>
      <p:sp>
        <p:nvSpPr>
          <p:cNvPr id="34" name="Shape 32"/>
          <p:cNvSpPr/>
          <p:nvPr/>
        </p:nvSpPr>
        <p:spPr>
          <a:xfrm>
            <a:off x="6684264" y="2734056"/>
            <a:ext cx="4764024" cy="0"/>
          </a:xfrm>
          <a:prstGeom prst="line">
            <a:avLst/>
          </a:prstGeom>
          <a:noFill/>
          <a:ln w="19050">
            <a:solidFill>
              <a:srgbClr val="2E4860"/>
            </a:solidFill>
            <a:prstDash val="solid"/>
          </a:ln>
        </p:spPr>
        <p:txBody>
          <a:bodyPr/>
          <a:lstStyle/>
          <a:p>
            <a:endParaRPr lang="pt-BR"/>
          </a:p>
        </p:txBody>
      </p:sp>
      <p:sp>
        <p:nvSpPr>
          <p:cNvPr id="35" name="Text 33"/>
          <p:cNvSpPr/>
          <p:nvPr/>
        </p:nvSpPr>
        <p:spPr>
          <a:xfrm>
            <a:off x="6803136" y="2802636"/>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a:t>
            </a:r>
            <a:endParaRPr lang="en-US" sz="1700" dirty="0"/>
          </a:p>
        </p:txBody>
      </p:sp>
      <p:sp>
        <p:nvSpPr>
          <p:cNvPr id="36" name="Text 34"/>
          <p:cNvSpPr/>
          <p:nvPr/>
        </p:nvSpPr>
        <p:spPr>
          <a:xfrm>
            <a:off x="7461504" y="2802636"/>
            <a:ext cx="2167128"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Teclado</a:t>
            </a:r>
            <a:endParaRPr lang="en-US" sz="1700" dirty="0"/>
          </a:p>
        </p:txBody>
      </p:sp>
      <p:sp>
        <p:nvSpPr>
          <p:cNvPr id="37" name="Text 35"/>
          <p:cNvSpPr/>
          <p:nvPr/>
        </p:nvSpPr>
        <p:spPr>
          <a:xfrm>
            <a:off x="9802368" y="2802636"/>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110.00</a:t>
            </a:r>
            <a:endParaRPr lang="en-US" sz="1700" dirty="0"/>
          </a:p>
        </p:txBody>
      </p:sp>
      <p:sp>
        <p:nvSpPr>
          <p:cNvPr id="38" name="Shape 36"/>
          <p:cNvSpPr/>
          <p:nvPr/>
        </p:nvSpPr>
        <p:spPr>
          <a:xfrm>
            <a:off x="6684264" y="3310128"/>
            <a:ext cx="4764024" cy="0"/>
          </a:xfrm>
          <a:prstGeom prst="line">
            <a:avLst/>
          </a:prstGeom>
          <a:noFill/>
          <a:ln w="5715">
            <a:solidFill>
              <a:srgbClr val="2E4860"/>
            </a:solidFill>
            <a:prstDash val="solid"/>
          </a:ln>
        </p:spPr>
        <p:txBody>
          <a:bodyPr/>
          <a:lstStyle/>
          <a:p>
            <a:endParaRPr lang="pt-BR"/>
          </a:p>
        </p:txBody>
      </p:sp>
      <p:sp>
        <p:nvSpPr>
          <p:cNvPr id="39" name="Shape 37"/>
          <p:cNvSpPr/>
          <p:nvPr/>
        </p:nvSpPr>
        <p:spPr>
          <a:xfrm>
            <a:off x="6691579" y="3310128"/>
            <a:ext cx="4748479" cy="576072"/>
          </a:xfrm>
          <a:prstGeom prst="rect">
            <a:avLst/>
          </a:prstGeom>
          <a:solidFill>
            <a:srgbClr val="102337"/>
          </a:solidFill>
          <a:ln w="12700">
            <a:solidFill>
              <a:srgbClr val="102337">
                <a:alpha val="0"/>
              </a:srgbClr>
            </a:solidFill>
            <a:prstDash val="solid"/>
          </a:ln>
        </p:spPr>
        <p:txBody>
          <a:bodyPr/>
          <a:lstStyle/>
          <a:p>
            <a:endParaRPr lang="pt-BR"/>
          </a:p>
        </p:txBody>
      </p:sp>
      <p:sp>
        <p:nvSpPr>
          <p:cNvPr id="40" name="Text 38"/>
          <p:cNvSpPr/>
          <p:nvPr/>
        </p:nvSpPr>
        <p:spPr>
          <a:xfrm>
            <a:off x="6803136" y="3378708"/>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2</a:t>
            </a:r>
            <a:endParaRPr lang="en-US" sz="1700" dirty="0"/>
          </a:p>
        </p:txBody>
      </p:sp>
      <p:sp>
        <p:nvSpPr>
          <p:cNvPr id="41" name="Text 39"/>
          <p:cNvSpPr/>
          <p:nvPr/>
        </p:nvSpPr>
        <p:spPr>
          <a:xfrm>
            <a:off x="7461504" y="3378708"/>
            <a:ext cx="2167128"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Mouse</a:t>
            </a:r>
            <a:endParaRPr lang="en-US" sz="1700" dirty="0"/>
          </a:p>
        </p:txBody>
      </p:sp>
      <p:sp>
        <p:nvSpPr>
          <p:cNvPr id="42" name="Text 40"/>
          <p:cNvSpPr/>
          <p:nvPr/>
        </p:nvSpPr>
        <p:spPr>
          <a:xfrm>
            <a:off x="9802368" y="3378708"/>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55.00</a:t>
            </a:r>
            <a:endParaRPr lang="en-US" sz="1700" dirty="0"/>
          </a:p>
        </p:txBody>
      </p:sp>
      <p:sp>
        <p:nvSpPr>
          <p:cNvPr id="43" name="Shape 41"/>
          <p:cNvSpPr/>
          <p:nvPr/>
        </p:nvSpPr>
        <p:spPr>
          <a:xfrm>
            <a:off x="6684264" y="3886200"/>
            <a:ext cx="4764024" cy="0"/>
          </a:xfrm>
          <a:prstGeom prst="line">
            <a:avLst/>
          </a:prstGeom>
          <a:noFill/>
          <a:ln w="5715">
            <a:solidFill>
              <a:srgbClr val="2E4860"/>
            </a:solidFill>
            <a:prstDash val="solid"/>
          </a:ln>
        </p:spPr>
        <p:txBody>
          <a:bodyPr/>
          <a:lstStyle/>
          <a:p>
            <a:endParaRPr lang="pt-BR"/>
          </a:p>
        </p:txBody>
      </p:sp>
      <p:sp>
        <p:nvSpPr>
          <p:cNvPr id="44" name="Text 42"/>
          <p:cNvSpPr/>
          <p:nvPr/>
        </p:nvSpPr>
        <p:spPr>
          <a:xfrm>
            <a:off x="6803136" y="3954780"/>
            <a:ext cx="484632"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3</a:t>
            </a:r>
            <a:endParaRPr lang="en-US" sz="1700" dirty="0"/>
          </a:p>
        </p:txBody>
      </p:sp>
      <p:sp>
        <p:nvSpPr>
          <p:cNvPr id="45" name="Text 43"/>
          <p:cNvSpPr/>
          <p:nvPr/>
        </p:nvSpPr>
        <p:spPr>
          <a:xfrm>
            <a:off x="7461504" y="3954780"/>
            <a:ext cx="2167128" cy="448056"/>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Monitor</a:t>
            </a:r>
            <a:endParaRPr lang="en-US" sz="1700" dirty="0"/>
          </a:p>
        </p:txBody>
      </p:sp>
      <p:sp>
        <p:nvSpPr>
          <p:cNvPr id="46" name="Text 44"/>
          <p:cNvSpPr/>
          <p:nvPr/>
        </p:nvSpPr>
        <p:spPr>
          <a:xfrm>
            <a:off x="9802368" y="3954780"/>
            <a:ext cx="1591056" cy="448056"/>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1100.00</a:t>
            </a:r>
            <a:endParaRPr lang="en-US" sz="1700" dirty="0"/>
          </a:p>
        </p:txBody>
      </p:sp>
      <p:sp>
        <p:nvSpPr>
          <p:cNvPr id="47" name="Shape 45"/>
          <p:cNvSpPr/>
          <p:nvPr/>
        </p:nvSpPr>
        <p:spPr>
          <a:xfrm>
            <a:off x="3721608" y="4837176"/>
            <a:ext cx="4846320" cy="704088"/>
          </a:xfrm>
          <a:prstGeom prst="roundRect">
            <a:avLst>
              <a:gd name="adj" fmla="val 16883"/>
            </a:avLst>
          </a:prstGeom>
          <a:solidFill>
            <a:srgbClr val="142C43"/>
          </a:solidFill>
          <a:ln w="12700">
            <a:solidFill>
              <a:srgbClr val="142C43">
                <a:alpha val="0"/>
              </a:srgbClr>
            </a:solidFill>
            <a:prstDash val="solid"/>
          </a:ln>
        </p:spPr>
        <p:txBody>
          <a:bodyPr/>
          <a:lstStyle/>
          <a:p>
            <a:endParaRPr lang="pt-BR"/>
          </a:p>
        </p:txBody>
      </p:sp>
      <p:sp>
        <p:nvSpPr>
          <p:cNvPr id="48" name="Text 46"/>
          <p:cNvSpPr/>
          <p:nvPr/>
        </p:nvSpPr>
        <p:spPr>
          <a:xfrm>
            <a:off x="3977640" y="5001768"/>
            <a:ext cx="4389120" cy="356616"/>
          </a:xfrm>
          <a:prstGeom prst="rect">
            <a:avLst/>
          </a:prstGeom>
          <a:noFill/>
          <a:ln/>
        </p:spPr>
        <p:txBody>
          <a:bodyPr wrap="square" lIns="0" tIns="0" rIns="0" bIns="0" rtlCol="0" anchor="ctr">
            <a:normAutofit/>
          </a:bodyPr>
          <a:lstStyle/>
          <a:p>
            <a:pPr marL="0" indent="0" algn="ctr">
              <a:buNone/>
            </a:pPr>
            <a:r>
              <a:rPr lang="en-US" sz="2400" b="1" dirty="0">
                <a:solidFill>
                  <a:srgbClr val="4FE0B5"/>
                </a:solidFill>
                <a:latin typeface="Aptos" pitchFamily="34" charset="0"/>
                <a:ea typeface="Aptos" pitchFamily="34" charset="-122"/>
                <a:cs typeface="Aptos" pitchFamily="34" charset="-120"/>
              </a:rPr>
              <a:t>novoPreço = preço × 1.10</a:t>
            </a:r>
            <a:endParaRPr lang="en-US" sz="2400" dirty="0"/>
          </a:p>
        </p:txBody>
      </p:sp>
      <p:sp>
        <p:nvSpPr>
          <p:cNvPr id="49" name="Text 47"/>
          <p:cNvSpPr/>
          <p:nvPr/>
        </p:nvSpPr>
        <p:spPr>
          <a:xfrm>
            <a:off x="960120" y="5815584"/>
            <a:ext cx="10287000" cy="256032"/>
          </a:xfrm>
          <a:prstGeom prst="rect">
            <a:avLst/>
          </a:prstGeom>
          <a:noFill/>
          <a:ln/>
        </p:spPr>
        <p:txBody>
          <a:bodyPr wrap="square" lIns="0" tIns="0" rIns="0" bIns="0" rtlCol="0" anchor="ctr">
            <a:normAutofit/>
          </a:bodyPr>
          <a:lstStyle/>
          <a:p>
            <a:pPr marL="0" indent="0" algn="ctr">
              <a:buNone/>
            </a:pPr>
            <a:r>
              <a:rPr lang="en-US" sz="1450" dirty="0">
                <a:solidFill>
                  <a:srgbClr val="FFBE68"/>
                </a:solidFill>
                <a:latin typeface="Aptos" pitchFamily="34" charset="0"/>
                <a:ea typeface="Aptos" pitchFamily="34" charset="-122"/>
                <a:cs typeface="Aptos" pitchFamily="34" charset="-120"/>
              </a:rPr>
              <a:t>Atenção: Teclado e Mouse serão usados no cenário de falha.</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07</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Preparação: nosso ambiente</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Componentes mínimos para uma POC reproduzível.</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13232" y="1947672"/>
            <a:ext cx="3447288" cy="1124712"/>
          </a:xfrm>
          <a:prstGeom prst="roundRect">
            <a:avLst>
              <a:gd name="adj" fmla="val 10569"/>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05256" y="2075688"/>
            <a:ext cx="3026664" cy="292608"/>
          </a:xfrm>
          <a:prstGeom prst="rect">
            <a:avLst/>
          </a:prstGeom>
          <a:noFill/>
          <a:ln/>
        </p:spPr>
        <p:txBody>
          <a:bodyPr wrap="square" lIns="0" tIns="0" rIns="0" bIns="0" rtlCol="0" anchor="ctr">
            <a:normAutofit/>
          </a:bodyPr>
          <a:lstStyle/>
          <a:p>
            <a:pPr marL="0" indent="0" algn="l">
              <a:buNone/>
            </a:pPr>
            <a:r>
              <a:rPr lang="en-US" sz="1500" dirty="0">
                <a:solidFill>
                  <a:srgbClr val="B8C6D5"/>
                </a:solidFill>
                <a:latin typeface="Aptos" pitchFamily="34" charset="0"/>
                <a:ea typeface="Aptos" pitchFamily="34" charset="-122"/>
                <a:cs typeface="Aptos" pitchFamily="34" charset="-120"/>
              </a:rPr>
              <a:t>Java</a:t>
            </a:r>
            <a:endParaRPr lang="en-US" sz="1500" dirty="0"/>
          </a:p>
        </p:txBody>
      </p:sp>
      <p:sp>
        <p:nvSpPr>
          <p:cNvPr id="13" name="Text 11"/>
          <p:cNvSpPr/>
          <p:nvPr/>
        </p:nvSpPr>
        <p:spPr>
          <a:xfrm>
            <a:off x="905256" y="2432304"/>
            <a:ext cx="3026664" cy="411480"/>
          </a:xfrm>
          <a:prstGeom prst="rect">
            <a:avLst/>
          </a:prstGeom>
          <a:noFill/>
          <a:ln/>
        </p:spPr>
        <p:txBody>
          <a:bodyPr wrap="square" lIns="0" tIns="0" rIns="0" bIns="0" rtlCol="0" anchor="ctr">
            <a:normAutofit/>
          </a:bodyPr>
          <a:lstStyle/>
          <a:p>
            <a:pPr marL="0" indent="0" algn="l">
              <a:buNone/>
            </a:pPr>
            <a:r>
              <a:rPr lang="en-US" sz="2300" b="1" dirty="0">
                <a:solidFill>
                  <a:srgbClr val="4FE0B5"/>
                </a:solidFill>
                <a:latin typeface="Aptos" pitchFamily="34" charset="0"/>
                <a:ea typeface="Aptos" pitchFamily="34" charset="-122"/>
                <a:cs typeface="Aptos" pitchFamily="34" charset="-120"/>
              </a:rPr>
              <a:t>21</a:t>
            </a:r>
            <a:endParaRPr lang="en-US" sz="2300" dirty="0"/>
          </a:p>
        </p:txBody>
      </p:sp>
      <p:sp>
        <p:nvSpPr>
          <p:cNvPr id="14" name="Shape 12"/>
          <p:cNvSpPr/>
          <p:nvPr/>
        </p:nvSpPr>
        <p:spPr>
          <a:xfrm>
            <a:off x="4517136" y="1947672"/>
            <a:ext cx="3447288" cy="1124712"/>
          </a:xfrm>
          <a:prstGeom prst="roundRect">
            <a:avLst>
              <a:gd name="adj" fmla="val 10569"/>
            </a:avLst>
          </a:prstGeom>
          <a:solidFill>
            <a:srgbClr val="102337"/>
          </a:solidFill>
          <a:ln w="12700">
            <a:solidFill>
              <a:srgbClr val="2E4860">
                <a:alpha val="90000"/>
              </a:srgbClr>
            </a:solidFill>
            <a:prstDash val="solid"/>
          </a:ln>
        </p:spPr>
        <p:txBody>
          <a:bodyPr/>
          <a:lstStyle/>
          <a:p>
            <a:endParaRPr lang="pt-BR"/>
          </a:p>
        </p:txBody>
      </p:sp>
      <p:sp>
        <p:nvSpPr>
          <p:cNvPr id="15" name="Text 13"/>
          <p:cNvSpPr/>
          <p:nvPr/>
        </p:nvSpPr>
        <p:spPr>
          <a:xfrm>
            <a:off x="4709160" y="2075688"/>
            <a:ext cx="3026664" cy="292608"/>
          </a:xfrm>
          <a:prstGeom prst="rect">
            <a:avLst/>
          </a:prstGeom>
          <a:noFill/>
          <a:ln/>
        </p:spPr>
        <p:txBody>
          <a:bodyPr wrap="square" lIns="0" tIns="0" rIns="0" bIns="0" rtlCol="0" anchor="ctr">
            <a:normAutofit/>
          </a:bodyPr>
          <a:lstStyle/>
          <a:p>
            <a:pPr marL="0" indent="0" algn="l">
              <a:buNone/>
            </a:pPr>
            <a:r>
              <a:rPr lang="en-US" sz="1500" dirty="0">
                <a:solidFill>
                  <a:srgbClr val="B8C6D5"/>
                </a:solidFill>
                <a:latin typeface="Aptos" pitchFamily="34" charset="0"/>
                <a:ea typeface="Aptos" pitchFamily="34" charset="-122"/>
                <a:cs typeface="Aptos" pitchFamily="34" charset="-120"/>
              </a:rPr>
              <a:t>Spring Boot</a:t>
            </a:r>
            <a:endParaRPr lang="en-US" sz="1500" dirty="0"/>
          </a:p>
        </p:txBody>
      </p:sp>
      <p:sp>
        <p:nvSpPr>
          <p:cNvPr id="16" name="Text 14"/>
          <p:cNvSpPr/>
          <p:nvPr/>
        </p:nvSpPr>
        <p:spPr>
          <a:xfrm>
            <a:off x="4709160" y="2432304"/>
            <a:ext cx="3026664" cy="411480"/>
          </a:xfrm>
          <a:prstGeom prst="rect">
            <a:avLst/>
          </a:prstGeom>
          <a:noFill/>
          <a:ln/>
        </p:spPr>
        <p:txBody>
          <a:bodyPr wrap="square" lIns="0" tIns="0" rIns="0" bIns="0" rtlCol="0" anchor="ctr">
            <a:normAutofit/>
          </a:bodyPr>
          <a:lstStyle/>
          <a:p>
            <a:pPr marL="0" indent="0" algn="l">
              <a:buNone/>
            </a:pPr>
            <a:r>
              <a:rPr lang="en-US" sz="2300" b="1" dirty="0">
                <a:solidFill>
                  <a:srgbClr val="4FE0B5"/>
                </a:solidFill>
                <a:latin typeface="Aptos" pitchFamily="34" charset="0"/>
                <a:ea typeface="Aptos" pitchFamily="34" charset="-122"/>
                <a:cs typeface="Aptos" pitchFamily="34" charset="-120"/>
              </a:rPr>
              <a:t>Aplicação</a:t>
            </a:r>
            <a:endParaRPr lang="en-US" sz="2300" dirty="0"/>
          </a:p>
        </p:txBody>
      </p:sp>
      <p:sp>
        <p:nvSpPr>
          <p:cNvPr id="17" name="Shape 15"/>
          <p:cNvSpPr/>
          <p:nvPr/>
        </p:nvSpPr>
        <p:spPr>
          <a:xfrm>
            <a:off x="8321040" y="1947672"/>
            <a:ext cx="3447288" cy="1124712"/>
          </a:xfrm>
          <a:prstGeom prst="roundRect">
            <a:avLst>
              <a:gd name="adj" fmla="val 10569"/>
            </a:avLst>
          </a:prstGeom>
          <a:solidFill>
            <a:srgbClr val="102337"/>
          </a:solidFill>
          <a:ln w="12700">
            <a:solidFill>
              <a:srgbClr val="2E4860">
                <a:alpha val="90000"/>
              </a:srgbClr>
            </a:solidFill>
            <a:prstDash val="solid"/>
          </a:ln>
        </p:spPr>
        <p:txBody>
          <a:bodyPr/>
          <a:lstStyle/>
          <a:p>
            <a:endParaRPr lang="pt-BR"/>
          </a:p>
        </p:txBody>
      </p:sp>
      <p:sp>
        <p:nvSpPr>
          <p:cNvPr id="18" name="Text 16"/>
          <p:cNvSpPr/>
          <p:nvPr/>
        </p:nvSpPr>
        <p:spPr>
          <a:xfrm>
            <a:off x="8513064" y="2075688"/>
            <a:ext cx="3026664" cy="292608"/>
          </a:xfrm>
          <a:prstGeom prst="rect">
            <a:avLst/>
          </a:prstGeom>
          <a:noFill/>
          <a:ln/>
        </p:spPr>
        <p:txBody>
          <a:bodyPr wrap="square" lIns="0" tIns="0" rIns="0" bIns="0" rtlCol="0" anchor="ctr">
            <a:normAutofit/>
          </a:bodyPr>
          <a:lstStyle/>
          <a:p>
            <a:pPr marL="0" indent="0" algn="l">
              <a:buNone/>
            </a:pPr>
            <a:r>
              <a:rPr lang="en-US" sz="1500" dirty="0">
                <a:solidFill>
                  <a:srgbClr val="B8C6D5"/>
                </a:solidFill>
                <a:latin typeface="Aptos" pitchFamily="34" charset="0"/>
                <a:ea typeface="Aptos" pitchFamily="34" charset="-122"/>
                <a:cs typeface="Aptos" pitchFamily="34" charset="-120"/>
              </a:rPr>
              <a:t>Spring Batch</a:t>
            </a:r>
            <a:endParaRPr lang="en-US" sz="1500" dirty="0"/>
          </a:p>
        </p:txBody>
      </p:sp>
      <p:sp>
        <p:nvSpPr>
          <p:cNvPr id="19" name="Text 17"/>
          <p:cNvSpPr/>
          <p:nvPr/>
        </p:nvSpPr>
        <p:spPr>
          <a:xfrm>
            <a:off x="8513064" y="2432304"/>
            <a:ext cx="3026664" cy="411480"/>
          </a:xfrm>
          <a:prstGeom prst="rect">
            <a:avLst/>
          </a:prstGeom>
          <a:noFill/>
          <a:ln/>
        </p:spPr>
        <p:txBody>
          <a:bodyPr wrap="square" lIns="0" tIns="0" rIns="0" bIns="0" rtlCol="0" anchor="ctr">
            <a:normAutofit/>
          </a:bodyPr>
          <a:lstStyle/>
          <a:p>
            <a:pPr marL="0" indent="0" algn="l">
              <a:buNone/>
            </a:pPr>
            <a:r>
              <a:rPr lang="en-US" sz="2300" b="1" dirty="0">
                <a:solidFill>
                  <a:srgbClr val="4FE0B5"/>
                </a:solidFill>
                <a:latin typeface="Aptos" pitchFamily="34" charset="0"/>
                <a:ea typeface="Aptos" pitchFamily="34" charset="-122"/>
                <a:cs typeface="Aptos" pitchFamily="34" charset="-120"/>
              </a:rPr>
              <a:t>Processamento</a:t>
            </a:r>
            <a:endParaRPr lang="en-US" sz="2300" dirty="0"/>
          </a:p>
        </p:txBody>
      </p:sp>
      <p:sp>
        <p:nvSpPr>
          <p:cNvPr id="20" name="Shape 18"/>
          <p:cNvSpPr/>
          <p:nvPr/>
        </p:nvSpPr>
        <p:spPr>
          <a:xfrm>
            <a:off x="713232" y="3410712"/>
            <a:ext cx="3447288" cy="1124712"/>
          </a:xfrm>
          <a:prstGeom prst="roundRect">
            <a:avLst>
              <a:gd name="adj" fmla="val 10569"/>
            </a:avLst>
          </a:prstGeom>
          <a:solidFill>
            <a:srgbClr val="102337"/>
          </a:solidFill>
          <a:ln w="12700">
            <a:solidFill>
              <a:srgbClr val="2E4860">
                <a:alpha val="90000"/>
              </a:srgbClr>
            </a:solidFill>
            <a:prstDash val="solid"/>
          </a:ln>
        </p:spPr>
        <p:txBody>
          <a:bodyPr/>
          <a:lstStyle/>
          <a:p>
            <a:endParaRPr lang="pt-BR"/>
          </a:p>
        </p:txBody>
      </p:sp>
      <p:sp>
        <p:nvSpPr>
          <p:cNvPr id="21" name="Text 19"/>
          <p:cNvSpPr/>
          <p:nvPr/>
        </p:nvSpPr>
        <p:spPr>
          <a:xfrm>
            <a:off x="905256" y="3538728"/>
            <a:ext cx="3026664" cy="292608"/>
          </a:xfrm>
          <a:prstGeom prst="rect">
            <a:avLst/>
          </a:prstGeom>
          <a:noFill/>
          <a:ln/>
        </p:spPr>
        <p:txBody>
          <a:bodyPr wrap="square" lIns="0" tIns="0" rIns="0" bIns="0" rtlCol="0" anchor="ctr">
            <a:normAutofit/>
          </a:bodyPr>
          <a:lstStyle/>
          <a:p>
            <a:pPr marL="0" indent="0" algn="l">
              <a:buNone/>
            </a:pPr>
            <a:r>
              <a:rPr lang="en-US" sz="1500" dirty="0">
                <a:solidFill>
                  <a:srgbClr val="B8C6D5"/>
                </a:solidFill>
                <a:latin typeface="Aptos" pitchFamily="34" charset="0"/>
                <a:ea typeface="Aptos" pitchFamily="34" charset="-122"/>
                <a:cs typeface="Aptos" pitchFamily="34" charset="-120"/>
              </a:rPr>
              <a:t>Maven</a:t>
            </a:r>
            <a:endParaRPr lang="en-US" sz="1500" dirty="0"/>
          </a:p>
        </p:txBody>
      </p:sp>
      <p:sp>
        <p:nvSpPr>
          <p:cNvPr id="22" name="Text 20"/>
          <p:cNvSpPr/>
          <p:nvPr/>
        </p:nvSpPr>
        <p:spPr>
          <a:xfrm>
            <a:off x="905256" y="3895344"/>
            <a:ext cx="3026664" cy="411480"/>
          </a:xfrm>
          <a:prstGeom prst="rect">
            <a:avLst/>
          </a:prstGeom>
          <a:noFill/>
          <a:ln/>
        </p:spPr>
        <p:txBody>
          <a:bodyPr wrap="square" lIns="0" tIns="0" rIns="0" bIns="0" rtlCol="0" anchor="ctr">
            <a:normAutofit/>
          </a:bodyPr>
          <a:lstStyle/>
          <a:p>
            <a:pPr marL="0" indent="0" algn="l">
              <a:buNone/>
            </a:pPr>
            <a:r>
              <a:rPr lang="en-US" sz="2300" b="1" dirty="0">
                <a:solidFill>
                  <a:srgbClr val="4FE0B5"/>
                </a:solidFill>
                <a:latin typeface="Aptos" pitchFamily="34" charset="0"/>
                <a:ea typeface="Aptos" pitchFamily="34" charset="-122"/>
                <a:cs typeface="Aptos" pitchFamily="34" charset="-120"/>
              </a:rPr>
              <a:t>Build</a:t>
            </a:r>
            <a:endParaRPr lang="en-US" sz="2300" dirty="0"/>
          </a:p>
        </p:txBody>
      </p:sp>
      <p:sp>
        <p:nvSpPr>
          <p:cNvPr id="23" name="Shape 21"/>
          <p:cNvSpPr/>
          <p:nvPr/>
        </p:nvSpPr>
        <p:spPr>
          <a:xfrm>
            <a:off x="4517136" y="3410712"/>
            <a:ext cx="3447288" cy="1124712"/>
          </a:xfrm>
          <a:prstGeom prst="roundRect">
            <a:avLst>
              <a:gd name="adj" fmla="val 10569"/>
            </a:avLst>
          </a:prstGeom>
          <a:solidFill>
            <a:srgbClr val="102337"/>
          </a:solidFill>
          <a:ln w="12700">
            <a:solidFill>
              <a:srgbClr val="2E4860">
                <a:alpha val="90000"/>
              </a:srgbClr>
            </a:solidFill>
            <a:prstDash val="solid"/>
          </a:ln>
        </p:spPr>
        <p:txBody>
          <a:bodyPr/>
          <a:lstStyle/>
          <a:p>
            <a:endParaRPr lang="pt-BR"/>
          </a:p>
        </p:txBody>
      </p:sp>
      <p:sp>
        <p:nvSpPr>
          <p:cNvPr id="24" name="Text 22"/>
          <p:cNvSpPr/>
          <p:nvPr/>
        </p:nvSpPr>
        <p:spPr>
          <a:xfrm>
            <a:off x="4709160" y="3538728"/>
            <a:ext cx="3026664" cy="292608"/>
          </a:xfrm>
          <a:prstGeom prst="rect">
            <a:avLst/>
          </a:prstGeom>
          <a:noFill/>
          <a:ln/>
        </p:spPr>
        <p:txBody>
          <a:bodyPr wrap="square" lIns="0" tIns="0" rIns="0" bIns="0" rtlCol="0" anchor="ctr">
            <a:normAutofit/>
          </a:bodyPr>
          <a:lstStyle/>
          <a:p>
            <a:pPr marL="0" indent="0" algn="l">
              <a:buNone/>
            </a:pPr>
            <a:r>
              <a:rPr lang="en-US" sz="1500" dirty="0">
                <a:solidFill>
                  <a:srgbClr val="B8C6D5"/>
                </a:solidFill>
                <a:latin typeface="Aptos" pitchFamily="34" charset="0"/>
                <a:ea typeface="Aptos" pitchFamily="34" charset="-122"/>
                <a:cs typeface="Aptos" pitchFamily="34" charset="-120"/>
              </a:rPr>
              <a:t>H2</a:t>
            </a:r>
            <a:endParaRPr lang="en-US" sz="1500" dirty="0"/>
          </a:p>
        </p:txBody>
      </p:sp>
      <p:sp>
        <p:nvSpPr>
          <p:cNvPr id="25" name="Text 23"/>
          <p:cNvSpPr/>
          <p:nvPr/>
        </p:nvSpPr>
        <p:spPr>
          <a:xfrm>
            <a:off x="4709160" y="3895344"/>
            <a:ext cx="3026664" cy="411480"/>
          </a:xfrm>
          <a:prstGeom prst="rect">
            <a:avLst/>
          </a:prstGeom>
          <a:noFill/>
          <a:ln/>
        </p:spPr>
        <p:txBody>
          <a:bodyPr wrap="square" lIns="0" tIns="0" rIns="0" bIns="0" rtlCol="0" anchor="ctr">
            <a:normAutofit/>
          </a:bodyPr>
          <a:lstStyle/>
          <a:p>
            <a:pPr marL="0" indent="0" algn="l">
              <a:buNone/>
            </a:pPr>
            <a:r>
              <a:rPr lang="en-US" sz="2300" b="1" dirty="0">
                <a:solidFill>
                  <a:srgbClr val="4FE0B5"/>
                </a:solidFill>
                <a:latin typeface="Aptos" pitchFamily="34" charset="0"/>
                <a:ea typeface="Aptos" pitchFamily="34" charset="-122"/>
                <a:cs typeface="Aptos" pitchFamily="34" charset="-120"/>
              </a:rPr>
              <a:t>Metadados</a:t>
            </a:r>
            <a:endParaRPr lang="en-US" sz="2300" dirty="0"/>
          </a:p>
        </p:txBody>
      </p:sp>
      <p:sp>
        <p:nvSpPr>
          <p:cNvPr id="26" name="Shape 24"/>
          <p:cNvSpPr/>
          <p:nvPr/>
        </p:nvSpPr>
        <p:spPr>
          <a:xfrm>
            <a:off x="8321040" y="3401568"/>
            <a:ext cx="3447288" cy="1124712"/>
          </a:xfrm>
          <a:prstGeom prst="roundRect">
            <a:avLst>
              <a:gd name="adj" fmla="val 10569"/>
            </a:avLst>
          </a:prstGeom>
          <a:solidFill>
            <a:srgbClr val="0B1C2E"/>
          </a:solidFill>
          <a:ln w="12700">
            <a:solidFill>
              <a:srgbClr val="2E4860">
                <a:alpha val="90000"/>
              </a:srgbClr>
            </a:solidFill>
            <a:prstDash val="solid"/>
          </a:ln>
        </p:spPr>
        <p:txBody>
          <a:bodyPr/>
          <a:lstStyle/>
          <a:p>
            <a:endParaRPr lang="pt-BR"/>
          </a:p>
        </p:txBody>
      </p:sp>
      <p:sp>
        <p:nvSpPr>
          <p:cNvPr id="27" name="Text 25"/>
          <p:cNvSpPr/>
          <p:nvPr/>
        </p:nvSpPr>
        <p:spPr>
          <a:xfrm>
            <a:off x="8513064" y="3557016"/>
            <a:ext cx="2514600" cy="210312"/>
          </a:xfrm>
          <a:prstGeom prst="rect">
            <a:avLst/>
          </a:prstGeom>
          <a:noFill/>
          <a:ln/>
        </p:spPr>
        <p:txBody>
          <a:bodyPr wrap="square" lIns="0" tIns="0" rIns="0" bIns="0" rtlCol="0" anchor="ctr">
            <a:normAutofit lnSpcReduction="10000"/>
          </a:bodyPr>
          <a:lstStyle/>
          <a:p>
            <a:pPr marL="0" indent="0" algn="l">
              <a:buNone/>
            </a:pPr>
            <a:r>
              <a:rPr lang="en-US" sz="1400" b="1" dirty="0">
                <a:solidFill>
                  <a:srgbClr val="37C4F3"/>
                </a:solidFill>
                <a:latin typeface="Aptos" pitchFamily="34" charset="0"/>
                <a:ea typeface="Aptos" pitchFamily="34" charset="-122"/>
                <a:cs typeface="Aptos" pitchFamily="34" charset="-120"/>
              </a:rPr>
              <a:t>BABY STEPS</a:t>
            </a:r>
            <a:endParaRPr lang="en-US" sz="1400" dirty="0"/>
          </a:p>
        </p:txBody>
      </p:sp>
      <p:sp>
        <p:nvSpPr>
          <p:cNvPr id="28" name="Text 26"/>
          <p:cNvSpPr/>
          <p:nvPr/>
        </p:nvSpPr>
        <p:spPr>
          <a:xfrm>
            <a:off x="8513064" y="3877056"/>
            <a:ext cx="2551176" cy="329184"/>
          </a:xfrm>
          <a:prstGeom prst="rect">
            <a:avLst/>
          </a:prstGeom>
          <a:noFill/>
          <a:ln/>
        </p:spPr>
        <p:txBody>
          <a:bodyPr wrap="square" lIns="0" tIns="0" rIns="0" bIns="0" rtlCol="0" anchor="ctr">
            <a:normAutofit/>
          </a:bodyPr>
          <a:lstStyle/>
          <a:p>
            <a:pPr marL="0" indent="0" algn="l">
              <a:buNone/>
            </a:pPr>
            <a:r>
              <a:rPr lang="en-US" sz="1400" dirty="0">
                <a:solidFill>
                  <a:srgbClr val="B8C6D5"/>
                </a:solidFill>
                <a:latin typeface="Aptos" pitchFamily="34" charset="0"/>
                <a:ea typeface="Aptos" pitchFamily="34" charset="-122"/>
                <a:cs typeface="Aptos" pitchFamily="34" charset="-120"/>
              </a:rPr>
              <a:t>Alterar → compilar → testar</a:t>
            </a:r>
            <a:endParaRPr lang="en-US" sz="1400" dirty="0"/>
          </a:p>
        </p:txBody>
      </p:sp>
      <p:sp>
        <p:nvSpPr>
          <p:cNvPr id="29" name="Text 27"/>
          <p:cNvSpPr/>
          <p:nvPr/>
        </p:nvSpPr>
        <p:spPr>
          <a:xfrm>
            <a:off x="731520" y="5358384"/>
            <a:ext cx="10698480" cy="438912"/>
          </a:xfrm>
          <a:prstGeom prst="rect">
            <a:avLst/>
          </a:prstGeom>
          <a:noFill/>
          <a:ln/>
        </p:spPr>
        <p:txBody>
          <a:bodyPr wrap="square" lIns="0" tIns="0" rIns="0" bIns="0" rtlCol="0" anchor="ctr">
            <a:normAutofit/>
          </a:bodyPr>
          <a:lstStyle/>
          <a:p>
            <a:pPr marL="0" indent="0" algn="ctr">
              <a:buNone/>
            </a:pPr>
            <a:r>
              <a:rPr lang="en-US" sz="2100" b="1" dirty="0">
                <a:solidFill>
                  <a:srgbClr val="F4F8FC"/>
                </a:solidFill>
                <a:latin typeface="Aptos" pitchFamily="34" charset="0"/>
                <a:ea typeface="Aptos" pitchFamily="34" charset="-122"/>
                <a:cs typeface="Aptos" pitchFamily="34" charset="-120"/>
              </a:rPr>
              <a:t>Cada passo deve produzir uma evidência verificável.</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08</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1 — Inicializar o projeto</a:t>
            </a:r>
            <a:endParaRPr lang="en-US" sz="3050" dirty="0"/>
          </a:p>
        </p:txBody>
      </p:sp>
      <p:sp>
        <p:nvSpPr>
          <p:cNvPr id="7" name="Shape 5"/>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8" name="Text 6"/>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9" name="Text 7"/>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0" name="Shape 8"/>
          <p:cNvSpPr/>
          <p:nvPr/>
        </p:nvSpPr>
        <p:spPr>
          <a:xfrm>
            <a:off x="713232" y="1847088"/>
            <a:ext cx="5047488" cy="3182112"/>
          </a:xfrm>
          <a:prstGeom prst="roundRect">
            <a:avLst>
              <a:gd name="adj" fmla="val 3736"/>
            </a:avLst>
          </a:prstGeom>
          <a:solidFill>
            <a:srgbClr val="102337"/>
          </a:solidFill>
          <a:ln w="12700">
            <a:solidFill>
              <a:srgbClr val="2E4860">
                <a:alpha val="90000"/>
              </a:srgbClr>
            </a:solidFill>
            <a:prstDash val="solid"/>
          </a:ln>
        </p:spPr>
        <p:txBody>
          <a:bodyPr/>
          <a:lstStyle/>
          <a:p>
            <a:endParaRPr lang="pt-BR"/>
          </a:p>
        </p:txBody>
      </p:sp>
      <p:sp>
        <p:nvSpPr>
          <p:cNvPr id="11" name="Shape 9"/>
          <p:cNvSpPr/>
          <p:nvPr/>
        </p:nvSpPr>
        <p:spPr>
          <a:xfrm>
            <a:off x="713232" y="1847088"/>
            <a:ext cx="50292" cy="3182112"/>
          </a:xfrm>
          <a:prstGeom prst="rect">
            <a:avLst/>
          </a:prstGeom>
          <a:solidFill>
            <a:srgbClr val="37C4F3"/>
          </a:solidFill>
          <a:ln w="12700">
            <a:solidFill>
              <a:srgbClr val="37C4F3">
                <a:alpha val="0"/>
              </a:srgbClr>
            </a:solidFill>
            <a:prstDash val="solid"/>
          </a:ln>
        </p:spPr>
        <p:txBody>
          <a:bodyPr/>
          <a:lstStyle/>
          <a:p>
            <a:endParaRPr lang="pt-BR"/>
          </a:p>
        </p:txBody>
      </p:sp>
      <p:sp>
        <p:nvSpPr>
          <p:cNvPr id="12" name="Text 10"/>
          <p:cNvSpPr/>
          <p:nvPr/>
        </p:nvSpPr>
        <p:spPr>
          <a:xfrm>
            <a:off x="932688" y="2020824"/>
            <a:ext cx="4636008" cy="338328"/>
          </a:xfrm>
          <a:prstGeom prst="rect">
            <a:avLst/>
          </a:prstGeom>
          <a:noFill/>
          <a:ln/>
        </p:spPr>
        <p:txBody>
          <a:bodyPr wrap="square" lIns="0" tIns="0" rIns="0" bIns="0" rtlCol="0" anchor="ctr">
            <a:normAutofit/>
          </a:bodyPr>
          <a:lstStyle/>
          <a:p>
            <a:pPr marL="0" indent="0" algn="l">
              <a:buNone/>
            </a:pPr>
            <a:r>
              <a:rPr lang="en-US" sz="2000" b="1" dirty="0">
                <a:solidFill>
                  <a:srgbClr val="37C4F3"/>
                </a:solidFill>
                <a:latin typeface="Aptos" pitchFamily="34" charset="0"/>
                <a:ea typeface="Aptos" pitchFamily="34" charset="-122"/>
                <a:cs typeface="Aptos" pitchFamily="34" charset="-120"/>
              </a:rPr>
              <a:t>ARQUIVOS INICIAIS</a:t>
            </a:r>
            <a:endParaRPr lang="en-US" sz="2000" dirty="0"/>
          </a:p>
        </p:txBody>
      </p:sp>
      <p:sp>
        <p:nvSpPr>
          <p:cNvPr id="13" name="Text 11"/>
          <p:cNvSpPr/>
          <p:nvPr/>
        </p:nvSpPr>
        <p:spPr>
          <a:xfrm>
            <a:off x="932688" y="2624328"/>
            <a:ext cx="4608576" cy="2295144"/>
          </a:xfrm>
          <a:prstGeom prst="rect">
            <a:avLst/>
          </a:prstGeom>
          <a:noFill/>
          <a:ln/>
        </p:spPr>
        <p:txBody>
          <a:bodyPr wrap="square" lIns="0" tIns="0" rIns="0" bIns="0" rtlCol="0" anchor="t">
            <a:normAutofit/>
          </a:bodyPr>
          <a:lstStyle/>
          <a:p>
            <a:pPr marL="0" indent="0" algn="l">
              <a:buNone/>
            </a:pPr>
            <a:r>
              <a:rPr lang="en-US" sz="2100" dirty="0">
                <a:solidFill>
                  <a:srgbClr val="B8C6D5"/>
                </a:solidFill>
                <a:latin typeface="Aptos" pitchFamily="34" charset="0"/>
                <a:ea typeface="Aptos" pitchFamily="34" charset="-122"/>
                <a:cs typeface="Aptos" pitchFamily="34" charset="-120"/>
              </a:rPr>
              <a:t>pom.xml</a:t>
            </a:r>
            <a:endParaRPr lang="en-US" sz="2100" dirty="0"/>
          </a:p>
          <a:p>
            <a:pPr marL="0" indent="0" algn="l">
              <a:buNone/>
            </a:pPr>
            <a:r>
              <a:rPr lang="en-US" sz="2100" dirty="0">
                <a:solidFill>
                  <a:srgbClr val="B8C6D5"/>
                </a:solidFill>
                <a:latin typeface="Aptos" pitchFamily="34" charset="0"/>
                <a:ea typeface="Aptos" pitchFamily="34" charset="-122"/>
                <a:cs typeface="Aptos" pitchFamily="34" charset="-120"/>
              </a:rPr>
              <a:t>BatchApplication.java</a:t>
            </a:r>
            <a:endParaRPr lang="en-US" sz="2100" dirty="0"/>
          </a:p>
          <a:p>
            <a:pPr marL="0" indent="0" algn="l">
              <a:buNone/>
            </a:pPr>
            <a:r>
              <a:rPr lang="en-US" sz="2100" dirty="0">
                <a:solidFill>
                  <a:srgbClr val="B8C6D5"/>
                </a:solidFill>
                <a:latin typeface="Aptos" pitchFamily="34" charset="0"/>
                <a:ea typeface="Aptos" pitchFamily="34" charset="-122"/>
                <a:cs typeface="Aptos" pitchFamily="34" charset="-120"/>
              </a:rPr>
              <a:t>application.properties</a:t>
            </a:r>
            <a:endParaRPr lang="en-US" sz="2100" dirty="0"/>
          </a:p>
        </p:txBody>
      </p:sp>
      <p:sp>
        <p:nvSpPr>
          <p:cNvPr id="14" name="Shape 12"/>
          <p:cNvSpPr/>
          <p:nvPr/>
        </p:nvSpPr>
        <p:spPr>
          <a:xfrm>
            <a:off x="6117336" y="1847088"/>
            <a:ext cx="5349240" cy="3182112"/>
          </a:xfrm>
          <a:prstGeom prst="roundRect">
            <a:avLst>
              <a:gd name="adj" fmla="val 3736"/>
            </a:avLst>
          </a:prstGeom>
          <a:solidFill>
            <a:srgbClr val="0B1C2E"/>
          </a:solidFill>
          <a:ln w="12700">
            <a:solidFill>
              <a:srgbClr val="35526C">
                <a:alpha val="90000"/>
              </a:srgbClr>
            </a:solidFill>
            <a:prstDash val="solid"/>
          </a:ln>
        </p:spPr>
        <p:txBody>
          <a:bodyPr/>
          <a:lstStyle/>
          <a:p>
            <a:endParaRPr lang="pt-BR"/>
          </a:p>
        </p:txBody>
      </p:sp>
      <p:sp>
        <p:nvSpPr>
          <p:cNvPr id="15" name="Text 13"/>
          <p:cNvSpPr/>
          <p:nvPr/>
        </p:nvSpPr>
        <p:spPr>
          <a:xfrm>
            <a:off x="6318504" y="2002536"/>
            <a:ext cx="4434840"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TERMINAL</a:t>
            </a:r>
            <a:endParaRPr lang="en-US" sz="1050" dirty="0"/>
          </a:p>
        </p:txBody>
      </p:sp>
      <p:sp>
        <p:nvSpPr>
          <p:cNvPr id="16" name="Text 14"/>
          <p:cNvSpPr/>
          <p:nvPr/>
        </p:nvSpPr>
        <p:spPr>
          <a:xfrm>
            <a:off x="6327648" y="2331720"/>
            <a:ext cx="4910328" cy="2505456"/>
          </a:xfrm>
          <a:prstGeom prst="rect">
            <a:avLst/>
          </a:prstGeom>
          <a:noFill/>
          <a:ln/>
        </p:spPr>
        <p:txBody>
          <a:bodyPr wrap="square" lIns="0" tIns="0" rIns="0" bIns="0" rtlCol="0" anchor="t">
            <a:normAutofit/>
          </a:bodyPr>
          <a:lstStyle/>
          <a:p>
            <a:pPr marL="0" indent="0" algn="l">
              <a:buNone/>
            </a:pPr>
            <a:r>
              <a:rPr lang="en-US" sz="2200" dirty="0">
                <a:solidFill>
                  <a:srgbClr val="F4F8FC"/>
                </a:solidFill>
                <a:latin typeface="Aptos Mono" pitchFamily="34" charset="0"/>
                <a:ea typeface="Aptos Mono" pitchFamily="34" charset="-122"/>
                <a:cs typeface="Aptos Mono" pitchFamily="34" charset="-120"/>
              </a:rPr>
              <a:t>mvn clean test</a:t>
            </a:r>
            <a:endParaRPr lang="en-US" sz="2200" dirty="0"/>
          </a:p>
          <a:p>
            <a:pPr marL="0" indent="0" algn="l">
              <a:buNone/>
            </a:pPr>
            <a:endParaRPr lang="en-US" sz="2200" dirty="0"/>
          </a:p>
          <a:p>
            <a:pPr marL="0" indent="0" algn="l">
              <a:buNone/>
            </a:pPr>
            <a:r>
              <a:rPr lang="en-US" sz="2200" dirty="0">
                <a:solidFill>
                  <a:srgbClr val="F4F8FC"/>
                </a:solidFill>
                <a:latin typeface="Aptos Mono" pitchFamily="34" charset="0"/>
                <a:ea typeface="Aptos Mono" pitchFamily="34" charset="-122"/>
                <a:cs typeface="Aptos Mono" pitchFamily="34" charset="-120"/>
              </a:rPr>
              <a:t>mvn spring-boot:run</a:t>
            </a:r>
            <a:endParaRPr lang="en-US" sz="2200" dirty="0"/>
          </a:p>
        </p:txBody>
      </p:sp>
      <p:sp>
        <p:nvSpPr>
          <p:cNvPr id="17" name="Shape 15"/>
          <p:cNvSpPr/>
          <p:nvPr/>
        </p:nvSpPr>
        <p:spPr>
          <a:xfrm>
            <a:off x="1280160" y="5404104"/>
            <a:ext cx="9601200" cy="512064"/>
          </a:xfrm>
          <a:prstGeom prst="roundRect">
            <a:avLst>
              <a:gd name="adj" fmla="val 23214"/>
            </a:avLst>
          </a:prstGeom>
          <a:solidFill>
            <a:srgbClr val="142C43"/>
          </a:solidFill>
          <a:ln w="12700">
            <a:solidFill>
              <a:srgbClr val="142C43">
                <a:alpha val="0"/>
              </a:srgbClr>
            </a:solidFill>
            <a:prstDash val="solid"/>
          </a:ln>
        </p:spPr>
        <p:txBody>
          <a:bodyPr/>
          <a:lstStyle/>
          <a:p>
            <a:endParaRPr lang="pt-BR"/>
          </a:p>
        </p:txBody>
      </p:sp>
      <p:sp>
        <p:nvSpPr>
          <p:cNvPr id="18" name="Text 16"/>
          <p:cNvSpPr/>
          <p:nvPr/>
        </p:nvSpPr>
        <p:spPr>
          <a:xfrm>
            <a:off x="1527048" y="5522976"/>
            <a:ext cx="9098280" cy="256032"/>
          </a:xfrm>
          <a:prstGeom prst="rect">
            <a:avLst/>
          </a:prstGeom>
          <a:noFill/>
          <a:ln/>
        </p:spPr>
        <p:txBody>
          <a:bodyPr wrap="square" lIns="0" tIns="0" rIns="0" bIns="0" rtlCol="0" anchor="ctr">
            <a:normAutofit/>
          </a:bodyPr>
          <a:lstStyle/>
          <a:p>
            <a:pPr marL="0" indent="0" algn="ctr">
              <a:buNone/>
            </a:pPr>
            <a:r>
              <a:rPr lang="en-US" sz="1700" b="1" dirty="0">
                <a:solidFill>
                  <a:srgbClr val="4FE0B5"/>
                </a:solidFill>
                <a:latin typeface="Aptos" pitchFamily="34" charset="0"/>
                <a:ea typeface="Aptos" pitchFamily="34" charset="-122"/>
                <a:cs typeface="Aptos" pitchFamily="34" charset="-120"/>
              </a:rPr>
              <a:t>RESULTADO  ·  A aplicação compila e inicializa.</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09</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2 — Representar o produto</a:t>
            </a:r>
            <a:endParaRPr lang="en-US" sz="3050" dirty="0"/>
          </a:p>
        </p:txBody>
      </p:sp>
      <p:sp>
        <p:nvSpPr>
          <p:cNvPr id="7" name="Shape 5"/>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8" name="Text 6"/>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9" name="Text 7"/>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0" name="Shape 8"/>
          <p:cNvSpPr/>
          <p:nvPr/>
        </p:nvSpPr>
        <p:spPr>
          <a:xfrm>
            <a:off x="722376" y="1892808"/>
            <a:ext cx="6089904" cy="3374136"/>
          </a:xfrm>
          <a:prstGeom prst="roundRect">
            <a:avLst>
              <a:gd name="adj" fmla="val 3523"/>
            </a:avLst>
          </a:prstGeom>
          <a:solidFill>
            <a:srgbClr val="0B1C2E"/>
          </a:solidFill>
          <a:ln w="12700">
            <a:solidFill>
              <a:srgbClr val="35526C">
                <a:alpha val="90000"/>
              </a:srgbClr>
            </a:solidFill>
            <a:prstDash val="solid"/>
          </a:ln>
        </p:spPr>
        <p:txBody>
          <a:bodyPr/>
          <a:lstStyle/>
          <a:p>
            <a:endParaRPr lang="pt-BR"/>
          </a:p>
        </p:txBody>
      </p:sp>
      <p:sp>
        <p:nvSpPr>
          <p:cNvPr id="11" name="Text 9"/>
          <p:cNvSpPr/>
          <p:nvPr/>
        </p:nvSpPr>
        <p:spPr>
          <a:xfrm>
            <a:off x="923544" y="2048256"/>
            <a:ext cx="5175504"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PRODUTO.JAVA</a:t>
            </a:r>
            <a:endParaRPr lang="en-US" sz="1050" dirty="0"/>
          </a:p>
        </p:txBody>
      </p:sp>
      <p:sp>
        <p:nvSpPr>
          <p:cNvPr id="12" name="Text 10"/>
          <p:cNvSpPr/>
          <p:nvPr/>
        </p:nvSpPr>
        <p:spPr>
          <a:xfrm>
            <a:off x="932688" y="2377440"/>
            <a:ext cx="5650992" cy="2697480"/>
          </a:xfrm>
          <a:prstGeom prst="rect">
            <a:avLst/>
          </a:prstGeom>
          <a:noFill/>
          <a:ln/>
        </p:spPr>
        <p:txBody>
          <a:bodyPr wrap="square" lIns="0" tIns="0" rIns="0" bIns="0" rtlCol="0" anchor="t">
            <a:normAutofit/>
          </a:bodyPr>
          <a:lstStyle/>
          <a:p>
            <a:pPr marL="0" indent="0" algn="l">
              <a:buNone/>
            </a:pPr>
            <a:r>
              <a:rPr lang="en-US" sz="2000" dirty="0">
                <a:solidFill>
                  <a:srgbClr val="F4F8FC"/>
                </a:solidFill>
                <a:latin typeface="Aptos Mono" pitchFamily="34" charset="0"/>
                <a:ea typeface="Aptos Mono" pitchFamily="34" charset="-122"/>
                <a:cs typeface="Aptos Mono" pitchFamily="34" charset="-120"/>
              </a:rPr>
              <a:t>public record Produto(</a:t>
            </a:r>
            <a:endParaRPr lang="en-US" sz="2000" dirty="0"/>
          </a:p>
          <a:p>
            <a:pPr marL="0" indent="0" algn="l">
              <a:buNone/>
            </a:pPr>
            <a:r>
              <a:rPr lang="en-US" sz="2000" dirty="0">
                <a:solidFill>
                  <a:srgbClr val="F4F8FC"/>
                </a:solidFill>
                <a:latin typeface="Aptos Mono" pitchFamily="34" charset="0"/>
                <a:ea typeface="Aptos Mono" pitchFamily="34" charset="-122"/>
                <a:cs typeface="Aptos Mono" pitchFamily="34" charset="-120"/>
              </a:rPr>
              <a:t>    Long id,</a:t>
            </a:r>
            <a:endParaRPr lang="en-US" sz="2000" dirty="0"/>
          </a:p>
          <a:p>
            <a:pPr marL="0" indent="0" algn="l">
              <a:buNone/>
            </a:pPr>
            <a:r>
              <a:rPr lang="en-US" sz="2000" dirty="0">
                <a:solidFill>
                  <a:srgbClr val="F4F8FC"/>
                </a:solidFill>
                <a:latin typeface="Aptos Mono" pitchFamily="34" charset="0"/>
                <a:ea typeface="Aptos Mono" pitchFamily="34" charset="-122"/>
                <a:cs typeface="Aptos Mono" pitchFamily="34" charset="-120"/>
              </a:rPr>
              <a:t>    String nome,</a:t>
            </a:r>
            <a:endParaRPr lang="en-US" sz="2000" dirty="0"/>
          </a:p>
          <a:p>
            <a:pPr marL="0" indent="0" algn="l">
              <a:buNone/>
            </a:pPr>
            <a:r>
              <a:rPr lang="en-US" sz="2000" dirty="0">
                <a:solidFill>
                  <a:srgbClr val="F4F8FC"/>
                </a:solidFill>
                <a:latin typeface="Aptos Mono" pitchFamily="34" charset="0"/>
                <a:ea typeface="Aptos Mono" pitchFamily="34" charset="-122"/>
                <a:cs typeface="Aptos Mono" pitchFamily="34" charset="-120"/>
              </a:rPr>
              <a:t>    BigDecimal preco</a:t>
            </a:r>
            <a:endParaRPr lang="en-US" sz="2000" dirty="0"/>
          </a:p>
          <a:p>
            <a:pPr marL="0" indent="0" algn="l">
              <a:buNone/>
            </a:pPr>
            <a:r>
              <a:rPr lang="en-US" sz="2000" dirty="0">
                <a:solidFill>
                  <a:srgbClr val="F4F8FC"/>
                </a:solidFill>
                <a:latin typeface="Aptos Mono" pitchFamily="34" charset="0"/>
                <a:ea typeface="Aptos Mono" pitchFamily="34" charset="-122"/>
                <a:cs typeface="Aptos Mono" pitchFamily="34" charset="-120"/>
              </a:rPr>
              <a:t>) {}</a:t>
            </a:r>
            <a:endParaRPr lang="en-US" sz="2000" dirty="0"/>
          </a:p>
        </p:txBody>
      </p:sp>
      <p:sp>
        <p:nvSpPr>
          <p:cNvPr id="13" name="Shape 11"/>
          <p:cNvSpPr/>
          <p:nvPr/>
        </p:nvSpPr>
        <p:spPr>
          <a:xfrm>
            <a:off x="7059168" y="1892808"/>
            <a:ext cx="4407408" cy="1490472"/>
          </a:xfrm>
          <a:prstGeom prst="roundRect">
            <a:avLst>
              <a:gd name="adj" fmla="val 7975"/>
            </a:avLst>
          </a:prstGeom>
          <a:solidFill>
            <a:srgbClr val="102337"/>
          </a:solidFill>
          <a:ln w="12700">
            <a:solidFill>
              <a:srgbClr val="2E4860">
                <a:alpha val="90000"/>
              </a:srgbClr>
            </a:solidFill>
            <a:prstDash val="solid"/>
          </a:ln>
        </p:spPr>
        <p:txBody>
          <a:bodyPr/>
          <a:lstStyle/>
          <a:p>
            <a:endParaRPr lang="pt-BR"/>
          </a:p>
        </p:txBody>
      </p:sp>
      <p:sp>
        <p:nvSpPr>
          <p:cNvPr id="14" name="Shape 12"/>
          <p:cNvSpPr/>
          <p:nvPr/>
        </p:nvSpPr>
        <p:spPr>
          <a:xfrm>
            <a:off x="7059168" y="1892808"/>
            <a:ext cx="50292" cy="1490472"/>
          </a:xfrm>
          <a:prstGeom prst="rect">
            <a:avLst/>
          </a:prstGeom>
          <a:solidFill>
            <a:srgbClr val="37C4F3"/>
          </a:solidFill>
          <a:ln w="12700">
            <a:solidFill>
              <a:srgbClr val="37C4F3">
                <a:alpha val="0"/>
              </a:srgbClr>
            </a:solidFill>
            <a:prstDash val="solid"/>
          </a:ln>
        </p:spPr>
        <p:txBody>
          <a:bodyPr/>
          <a:lstStyle/>
          <a:p>
            <a:endParaRPr lang="pt-BR"/>
          </a:p>
        </p:txBody>
      </p:sp>
      <p:sp>
        <p:nvSpPr>
          <p:cNvPr id="15" name="Text 13"/>
          <p:cNvSpPr/>
          <p:nvPr/>
        </p:nvSpPr>
        <p:spPr>
          <a:xfrm>
            <a:off x="7278624" y="2066544"/>
            <a:ext cx="3995928" cy="338328"/>
          </a:xfrm>
          <a:prstGeom prst="rect">
            <a:avLst/>
          </a:prstGeom>
          <a:noFill/>
          <a:ln/>
        </p:spPr>
        <p:txBody>
          <a:bodyPr wrap="square" lIns="0" tIns="0" rIns="0" bIns="0" rtlCol="0" anchor="ctr">
            <a:normAutofit/>
          </a:bodyPr>
          <a:lstStyle/>
          <a:p>
            <a:pPr marL="0" indent="0" algn="l">
              <a:buNone/>
            </a:pPr>
            <a:r>
              <a:rPr lang="en-US" sz="1900" b="1" dirty="0">
                <a:solidFill>
                  <a:srgbClr val="37C4F3"/>
                </a:solidFill>
                <a:latin typeface="Aptos" pitchFamily="34" charset="0"/>
                <a:ea typeface="Aptos" pitchFamily="34" charset="-122"/>
                <a:cs typeface="Aptos" pitchFamily="34" charset="-120"/>
              </a:rPr>
              <a:t>RECORD</a:t>
            </a:r>
            <a:endParaRPr lang="en-US" sz="1900" dirty="0"/>
          </a:p>
        </p:txBody>
      </p:sp>
      <p:sp>
        <p:nvSpPr>
          <p:cNvPr id="16" name="Text 14"/>
          <p:cNvSpPr/>
          <p:nvPr/>
        </p:nvSpPr>
        <p:spPr>
          <a:xfrm>
            <a:off x="7278624" y="2532888"/>
            <a:ext cx="3968496" cy="740664"/>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Representação simples e imutável dos dados.</a:t>
            </a:r>
            <a:endParaRPr lang="en-US" sz="1600" dirty="0"/>
          </a:p>
        </p:txBody>
      </p:sp>
      <p:sp>
        <p:nvSpPr>
          <p:cNvPr id="17" name="Shape 15"/>
          <p:cNvSpPr/>
          <p:nvPr/>
        </p:nvSpPr>
        <p:spPr>
          <a:xfrm>
            <a:off x="7059168" y="3547872"/>
            <a:ext cx="4407408" cy="1719072"/>
          </a:xfrm>
          <a:prstGeom prst="roundRect">
            <a:avLst>
              <a:gd name="adj" fmla="val 6915"/>
            </a:avLst>
          </a:prstGeom>
          <a:solidFill>
            <a:srgbClr val="102337"/>
          </a:solidFill>
          <a:ln w="12700">
            <a:solidFill>
              <a:srgbClr val="2E4860">
                <a:alpha val="90000"/>
              </a:srgbClr>
            </a:solidFill>
            <a:prstDash val="solid"/>
          </a:ln>
        </p:spPr>
        <p:txBody>
          <a:bodyPr/>
          <a:lstStyle/>
          <a:p>
            <a:endParaRPr lang="pt-BR"/>
          </a:p>
        </p:txBody>
      </p:sp>
      <p:sp>
        <p:nvSpPr>
          <p:cNvPr id="18" name="Shape 16"/>
          <p:cNvSpPr/>
          <p:nvPr/>
        </p:nvSpPr>
        <p:spPr>
          <a:xfrm>
            <a:off x="7059168" y="3547872"/>
            <a:ext cx="50292" cy="1719072"/>
          </a:xfrm>
          <a:prstGeom prst="rect">
            <a:avLst/>
          </a:prstGeom>
          <a:solidFill>
            <a:srgbClr val="4FE0B5"/>
          </a:solidFill>
          <a:ln w="12700">
            <a:solidFill>
              <a:srgbClr val="4FE0B5">
                <a:alpha val="0"/>
              </a:srgbClr>
            </a:solidFill>
            <a:prstDash val="solid"/>
          </a:ln>
        </p:spPr>
        <p:txBody>
          <a:bodyPr/>
          <a:lstStyle/>
          <a:p>
            <a:endParaRPr lang="pt-BR"/>
          </a:p>
        </p:txBody>
      </p:sp>
      <p:sp>
        <p:nvSpPr>
          <p:cNvPr id="19" name="Text 17"/>
          <p:cNvSpPr/>
          <p:nvPr/>
        </p:nvSpPr>
        <p:spPr>
          <a:xfrm>
            <a:off x="7278624" y="3721608"/>
            <a:ext cx="3995928"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BIGDECIMAL</a:t>
            </a:r>
            <a:endParaRPr lang="en-US" sz="1900" dirty="0"/>
          </a:p>
        </p:txBody>
      </p:sp>
      <p:sp>
        <p:nvSpPr>
          <p:cNvPr id="20" name="Text 18"/>
          <p:cNvSpPr/>
          <p:nvPr/>
        </p:nvSpPr>
        <p:spPr>
          <a:xfrm>
            <a:off x="7278624" y="4187952"/>
            <a:ext cx="3968496" cy="969264"/>
          </a:xfrm>
          <a:prstGeom prst="rect">
            <a:avLst/>
          </a:prstGeom>
          <a:noFill/>
          <a:ln/>
        </p:spPr>
        <p:txBody>
          <a:bodyPr wrap="square" lIns="0" tIns="0" rIns="0" bIns="0" rtlCol="0" anchor="t">
            <a:normAutofit/>
          </a:bodyPr>
          <a:lstStyle/>
          <a:p>
            <a:pPr marL="0" indent="0" algn="l">
              <a:buNone/>
            </a:pPr>
            <a:r>
              <a:rPr lang="en-US" sz="1600" dirty="0">
                <a:solidFill>
                  <a:srgbClr val="B8C6D5"/>
                </a:solidFill>
                <a:latin typeface="Aptos" pitchFamily="34" charset="0"/>
                <a:ea typeface="Aptos" pitchFamily="34" charset="-122"/>
                <a:cs typeface="Aptos" pitchFamily="34" charset="-120"/>
              </a:rPr>
              <a:t>Permite definir explicitamente cálculo decimal e escala.</a:t>
            </a:r>
            <a:endParaRPr lang="en-US" sz="1600" dirty="0"/>
          </a:p>
        </p:txBody>
      </p:sp>
      <p:sp>
        <p:nvSpPr>
          <p:cNvPr id="21" name="Text 19"/>
          <p:cNvSpPr/>
          <p:nvPr/>
        </p:nvSpPr>
        <p:spPr>
          <a:xfrm>
            <a:off x="850392" y="5733288"/>
            <a:ext cx="10378440" cy="310896"/>
          </a:xfrm>
          <a:prstGeom prst="rect">
            <a:avLst/>
          </a:prstGeom>
          <a:noFill/>
          <a:ln/>
        </p:spPr>
        <p:txBody>
          <a:bodyPr wrap="square" lIns="0" tIns="0" rIns="0" bIns="0" rtlCol="0" anchor="ctr">
            <a:normAutofit/>
          </a:bodyPr>
          <a:lstStyle/>
          <a:p>
            <a:pPr marL="0" indent="0" algn="l">
              <a:buNone/>
            </a:pPr>
            <a:r>
              <a:rPr lang="en-US" sz="1680" dirty="0">
                <a:solidFill>
                  <a:srgbClr val="B8C6D5"/>
                </a:solidFill>
                <a:latin typeface="Aptos" pitchFamily="34" charset="0"/>
                <a:ea typeface="Aptos" pitchFamily="34" charset="-122"/>
                <a:cs typeface="Aptos" pitchFamily="34" charset="-120"/>
              </a:rPr>
              <a:t>Arquivo de entrada: src/main/resources/produtos.csv</a:t>
            </a:r>
            <a:endParaRPr lang="en-US" sz="1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10</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3 — Ler com o ItemReader</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FlatFileItemReader&lt;Produto&gt; transforma linhas de texto em objetos.</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22376" y="2066544"/>
            <a:ext cx="2450592" cy="1417320"/>
          </a:xfrm>
          <a:prstGeom prst="roundRect">
            <a:avLst>
              <a:gd name="adj" fmla="val 8387"/>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41832" y="2258568"/>
            <a:ext cx="1984248" cy="329184"/>
          </a:xfrm>
          <a:prstGeom prst="rect">
            <a:avLst/>
          </a:prstGeom>
          <a:noFill/>
          <a:ln/>
        </p:spPr>
        <p:txBody>
          <a:bodyPr wrap="square" lIns="0" tIns="0" rIns="0" bIns="0" rtlCol="0" anchor="ctr">
            <a:normAutofit/>
          </a:bodyPr>
          <a:lstStyle/>
          <a:p>
            <a:pPr marL="0" indent="0" algn="l">
              <a:buNone/>
            </a:pPr>
            <a:r>
              <a:rPr lang="en-US" sz="2000" b="1" dirty="0">
                <a:solidFill>
                  <a:srgbClr val="4FE0B5"/>
                </a:solidFill>
                <a:latin typeface="Aptos" pitchFamily="34" charset="0"/>
                <a:ea typeface="Aptos" pitchFamily="34" charset="-122"/>
                <a:cs typeface="Aptos" pitchFamily="34" charset="-120"/>
              </a:rPr>
              <a:t>01</a:t>
            </a:r>
            <a:endParaRPr lang="en-US" sz="2000" dirty="0"/>
          </a:p>
        </p:txBody>
      </p:sp>
      <p:sp>
        <p:nvSpPr>
          <p:cNvPr id="13" name="Text 11"/>
          <p:cNvSpPr/>
          <p:nvPr/>
        </p:nvSpPr>
        <p:spPr>
          <a:xfrm>
            <a:off x="941832" y="2697480"/>
            <a:ext cx="1984248" cy="539496"/>
          </a:xfrm>
          <a:prstGeom prst="rect">
            <a:avLst/>
          </a:prstGeom>
          <a:noFill/>
          <a:ln/>
        </p:spPr>
        <p:txBody>
          <a:bodyPr wrap="square" lIns="0" tIns="0" rIns="0" bIns="0" rtlCol="0" anchor="ctr">
            <a:normAutofit/>
          </a:bodyPr>
          <a:lstStyle/>
          <a:p>
            <a:pPr marL="0" indent="0" algn="l">
              <a:buNone/>
            </a:pPr>
            <a:r>
              <a:rPr lang="en-US" sz="1900" b="1" dirty="0">
                <a:solidFill>
                  <a:srgbClr val="F4F8FC"/>
                </a:solidFill>
                <a:latin typeface="Aptos" pitchFamily="34" charset="0"/>
                <a:ea typeface="Aptos" pitchFamily="34" charset="-122"/>
                <a:cs typeface="Aptos" pitchFamily="34" charset="-120"/>
              </a:rPr>
              <a:t>Localizar</a:t>
            </a:r>
            <a:endParaRPr lang="en-US" sz="1900" dirty="0"/>
          </a:p>
          <a:p>
            <a:pPr marL="0" indent="0" algn="l">
              <a:buNone/>
            </a:pPr>
            <a:r>
              <a:rPr lang="en-US" sz="1900" b="1" dirty="0">
                <a:solidFill>
                  <a:srgbClr val="F4F8FC"/>
                </a:solidFill>
                <a:latin typeface="Aptos" pitchFamily="34" charset="0"/>
                <a:ea typeface="Aptos" pitchFamily="34" charset="-122"/>
                <a:cs typeface="Aptos" pitchFamily="34" charset="-120"/>
              </a:rPr>
              <a:t>arquivo</a:t>
            </a:r>
            <a:endParaRPr lang="en-US" sz="1900" dirty="0"/>
          </a:p>
        </p:txBody>
      </p:sp>
      <p:sp>
        <p:nvSpPr>
          <p:cNvPr id="14" name="Shape 12"/>
          <p:cNvSpPr/>
          <p:nvPr/>
        </p:nvSpPr>
        <p:spPr>
          <a:xfrm>
            <a:off x="3310128" y="2633472"/>
            <a:ext cx="219456"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5" name="Shape 13"/>
          <p:cNvSpPr/>
          <p:nvPr/>
        </p:nvSpPr>
        <p:spPr>
          <a:xfrm>
            <a:off x="3611880" y="2066544"/>
            <a:ext cx="2450592" cy="1417320"/>
          </a:xfrm>
          <a:prstGeom prst="roundRect">
            <a:avLst>
              <a:gd name="adj" fmla="val 8387"/>
            </a:avLst>
          </a:prstGeom>
          <a:solidFill>
            <a:srgbClr val="102337"/>
          </a:solidFill>
          <a:ln w="12700">
            <a:solidFill>
              <a:srgbClr val="2E4860">
                <a:alpha val="90000"/>
              </a:srgbClr>
            </a:solidFill>
            <a:prstDash val="solid"/>
          </a:ln>
        </p:spPr>
        <p:txBody>
          <a:bodyPr/>
          <a:lstStyle/>
          <a:p>
            <a:endParaRPr lang="pt-BR"/>
          </a:p>
        </p:txBody>
      </p:sp>
      <p:sp>
        <p:nvSpPr>
          <p:cNvPr id="16" name="Text 14"/>
          <p:cNvSpPr/>
          <p:nvPr/>
        </p:nvSpPr>
        <p:spPr>
          <a:xfrm>
            <a:off x="3831336" y="2258568"/>
            <a:ext cx="1984248" cy="329184"/>
          </a:xfrm>
          <a:prstGeom prst="rect">
            <a:avLst/>
          </a:prstGeom>
          <a:noFill/>
          <a:ln/>
        </p:spPr>
        <p:txBody>
          <a:bodyPr wrap="square" lIns="0" tIns="0" rIns="0" bIns="0" rtlCol="0" anchor="ctr">
            <a:normAutofit/>
          </a:bodyPr>
          <a:lstStyle/>
          <a:p>
            <a:pPr marL="0" indent="0" algn="l">
              <a:buNone/>
            </a:pPr>
            <a:r>
              <a:rPr lang="en-US" sz="2000" b="1" dirty="0">
                <a:solidFill>
                  <a:srgbClr val="4FE0B5"/>
                </a:solidFill>
                <a:latin typeface="Aptos" pitchFamily="34" charset="0"/>
                <a:ea typeface="Aptos" pitchFamily="34" charset="-122"/>
                <a:cs typeface="Aptos" pitchFamily="34" charset="-120"/>
              </a:rPr>
              <a:t>02</a:t>
            </a:r>
            <a:endParaRPr lang="en-US" sz="2000" dirty="0"/>
          </a:p>
        </p:txBody>
      </p:sp>
      <p:sp>
        <p:nvSpPr>
          <p:cNvPr id="17" name="Text 15"/>
          <p:cNvSpPr/>
          <p:nvPr/>
        </p:nvSpPr>
        <p:spPr>
          <a:xfrm>
            <a:off x="3831336" y="2697480"/>
            <a:ext cx="1984248" cy="539496"/>
          </a:xfrm>
          <a:prstGeom prst="rect">
            <a:avLst/>
          </a:prstGeom>
          <a:noFill/>
          <a:ln/>
        </p:spPr>
        <p:txBody>
          <a:bodyPr wrap="square" lIns="0" tIns="0" rIns="0" bIns="0" rtlCol="0" anchor="ctr">
            <a:normAutofit/>
          </a:bodyPr>
          <a:lstStyle/>
          <a:p>
            <a:pPr marL="0" indent="0" algn="l">
              <a:buNone/>
            </a:pPr>
            <a:r>
              <a:rPr lang="en-US" sz="1900" b="1" dirty="0">
                <a:solidFill>
                  <a:srgbClr val="F4F8FC"/>
                </a:solidFill>
                <a:latin typeface="Aptos" pitchFamily="34" charset="0"/>
                <a:ea typeface="Aptos" pitchFamily="34" charset="-122"/>
                <a:cs typeface="Aptos" pitchFamily="34" charset="-120"/>
              </a:rPr>
              <a:t>Ignorar</a:t>
            </a:r>
            <a:endParaRPr lang="en-US" sz="1900" dirty="0"/>
          </a:p>
          <a:p>
            <a:pPr marL="0" indent="0" algn="l">
              <a:buNone/>
            </a:pPr>
            <a:r>
              <a:rPr lang="en-US" sz="1900" b="1" dirty="0">
                <a:solidFill>
                  <a:srgbClr val="F4F8FC"/>
                </a:solidFill>
                <a:latin typeface="Aptos" pitchFamily="34" charset="0"/>
                <a:ea typeface="Aptos" pitchFamily="34" charset="-122"/>
                <a:cs typeface="Aptos" pitchFamily="34" charset="-120"/>
              </a:rPr>
              <a:t>cabeçalho</a:t>
            </a:r>
            <a:endParaRPr lang="en-US" sz="1900" dirty="0"/>
          </a:p>
        </p:txBody>
      </p:sp>
      <p:sp>
        <p:nvSpPr>
          <p:cNvPr id="18" name="Shape 16"/>
          <p:cNvSpPr/>
          <p:nvPr/>
        </p:nvSpPr>
        <p:spPr>
          <a:xfrm>
            <a:off x="6199632" y="2633472"/>
            <a:ext cx="219456"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9" name="Shape 17"/>
          <p:cNvSpPr/>
          <p:nvPr/>
        </p:nvSpPr>
        <p:spPr>
          <a:xfrm>
            <a:off x="6501384" y="2066544"/>
            <a:ext cx="2450592" cy="1417320"/>
          </a:xfrm>
          <a:prstGeom prst="roundRect">
            <a:avLst>
              <a:gd name="adj" fmla="val 8387"/>
            </a:avLst>
          </a:prstGeom>
          <a:solidFill>
            <a:srgbClr val="102337"/>
          </a:solidFill>
          <a:ln w="12700">
            <a:solidFill>
              <a:srgbClr val="2E4860">
                <a:alpha val="90000"/>
              </a:srgbClr>
            </a:solidFill>
            <a:prstDash val="solid"/>
          </a:ln>
        </p:spPr>
        <p:txBody>
          <a:bodyPr/>
          <a:lstStyle/>
          <a:p>
            <a:endParaRPr lang="pt-BR"/>
          </a:p>
        </p:txBody>
      </p:sp>
      <p:sp>
        <p:nvSpPr>
          <p:cNvPr id="20" name="Text 18"/>
          <p:cNvSpPr/>
          <p:nvPr/>
        </p:nvSpPr>
        <p:spPr>
          <a:xfrm>
            <a:off x="6720840" y="2258568"/>
            <a:ext cx="1984248" cy="329184"/>
          </a:xfrm>
          <a:prstGeom prst="rect">
            <a:avLst/>
          </a:prstGeom>
          <a:noFill/>
          <a:ln/>
        </p:spPr>
        <p:txBody>
          <a:bodyPr wrap="square" lIns="0" tIns="0" rIns="0" bIns="0" rtlCol="0" anchor="ctr">
            <a:normAutofit/>
          </a:bodyPr>
          <a:lstStyle/>
          <a:p>
            <a:pPr marL="0" indent="0" algn="l">
              <a:buNone/>
            </a:pPr>
            <a:r>
              <a:rPr lang="en-US" sz="2000" b="1" dirty="0">
                <a:solidFill>
                  <a:srgbClr val="4FE0B5"/>
                </a:solidFill>
                <a:latin typeface="Aptos" pitchFamily="34" charset="0"/>
                <a:ea typeface="Aptos" pitchFamily="34" charset="-122"/>
                <a:cs typeface="Aptos" pitchFamily="34" charset="-120"/>
              </a:rPr>
              <a:t>03</a:t>
            </a:r>
            <a:endParaRPr lang="en-US" sz="2000" dirty="0"/>
          </a:p>
        </p:txBody>
      </p:sp>
      <p:sp>
        <p:nvSpPr>
          <p:cNvPr id="21" name="Text 19"/>
          <p:cNvSpPr/>
          <p:nvPr/>
        </p:nvSpPr>
        <p:spPr>
          <a:xfrm>
            <a:off x="6720840" y="2697480"/>
            <a:ext cx="1984248" cy="539496"/>
          </a:xfrm>
          <a:prstGeom prst="rect">
            <a:avLst/>
          </a:prstGeom>
          <a:noFill/>
          <a:ln/>
        </p:spPr>
        <p:txBody>
          <a:bodyPr wrap="square" lIns="0" tIns="0" rIns="0" bIns="0" rtlCol="0" anchor="ctr">
            <a:normAutofit/>
          </a:bodyPr>
          <a:lstStyle/>
          <a:p>
            <a:pPr marL="0" indent="0" algn="l">
              <a:buNone/>
            </a:pPr>
            <a:r>
              <a:rPr lang="en-US" sz="1900" b="1" dirty="0">
                <a:solidFill>
                  <a:srgbClr val="F4F8FC"/>
                </a:solidFill>
                <a:latin typeface="Aptos" pitchFamily="34" charset="0"/>
                <a:ea typeface="Aptos" pitchFamily="34" charset="-122"/>
                <a:cs typeface="Aptos" pitchFamily="34" charset="-120"/>
              </a:rPr>
              <a:t>Separar</a:t>
            </a:r>
            <a:endParaRPr lang="en-US" sz="1900" dirty="0"/>
          </a:p>
          <a:p>
            <a:pPr marL="0" indent="0" algn="l">
              <a:buNone/>
            </a:pPr>
            <a:r>
              <a:rPr lang="en-US" sz="1900" b="1" dirty="0">
                <a:solidFill>
                  <a:srgbClr val="F4F8FC"/>
                </a:solidFill>
                <a:latin typeface="Aptos" pitchFamily="34" charset="0"/>
                <a:ea typeface="Aptos" pitchFamily="34" charset="-122"/>
                <a:cs typeface="Aptos" pitchFamily="34" charset="-120"/>
              </a:rPr>
              <a:t>campos</a:t>
            </a:r>
            <a:endParaRPr lang="en-US" sz="1900" dirty="0"/>
          </a:p>
        </p:txBody>
      </p:sp>
      <p:sp>
        <p:nvSpPr>
          <p:cNvPr id="22" name="Shape 20"/>
          <p:cNvSpPr/>
          <p:nvPr/>
        </p:nvSpPr>
        <p:spPr>
          <a:xfrm>
            <a:off x="9089136" y="2633472"/>
            <a:ext cx="219456"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23" name="Shape 21"/>
          <p:cNvSpPr/>
          <p:nvPr/>
        </p:nvSpPr>
        <p:spPr>
          <a:xfrm>
            <a:off x="9390888" y="2066544"/>
            <a:ext cx="2450592" cy="1417320"/>
          </a:xfrm>
          <a:prstGeom prst="roundRect">
            <a:avLst>
              <a:gd name="adj" fmla="val 8387"/>
            </a:avLst>
          </a:prstGeom>
          <a:solidFill>
            <a:srgbClr val="102337"/>
          </a:solidFill>
          <a:ln w="12700">
            <a:solidFill>
              <a:srgbClr val="2E4860">
                <a:alpha val="90000"/>
              </a:srgbClr>
            </a:solidFill>
            <a:prstDash val="solid"/>
          </a:ln>
        </p:spPr>
        <p:txBody>
          <a:bodyPr/>
          <a:lstStyle/>
          <a:p>
            <a:endParaRPr lang="pt-BR"/>
          </a:p>
        </p:txBody>
      </p:sp>
      <p:sp>
        <p:nvSpPr>
          <p:cNvPr id="24" name="Text 22"/>
          <p:cNvSpPr/>
          <p:nvPr/>
        </p:nvSpPr>
        <p:spPr>
          <a:xfrm>
            <a:off x="9610344" y="2258568"/>
            <a:ext cx="1984248" cy="329184"/>
          </a:xfrm>
          <a:prstGeom prst="rect">
            <a:avLst/>
          </a:prstGeom>
          <a:noFill/>
          <a:ln/>
        </p:spPr>
        <p:txBody>
          <a:bodyPr wrap="square" lIns="0" tIns="0" rIns="0" bIns="0" rtlCol="0" anchor="ctr">
            <a:normAutofit/>
          </a:bodyPr>
          <a:lstStyle/>
          <a:p>
            <a:pPr marL="0" indent="0" algn="l">
              <a:buNone/>
            </a:pPr>
            <a:r>
              <a:rPr lang="en-US" sz="2000" b="1" dirty="0">
                <a:solidFill>
                  <a:srgbClr val="4FE0B5"/>
                </a:solidFill>
                <a:latin typeface="Aptos" pitchFamily="34" charset="0"/>
                <a:ea typeface="Aptos" pitchFamily="34" charset="-122"/>
                <a:cs typeface="Aptos" pitchFamily="34" charset="-120"/>
              </a:rPr>
              <a:t>04</a:t>
            </a:r>
            <a:endParaRPr lang="en-US" sz="2000" dirty="0"/>
          </a:p>
        </p:txBody>
      </p:sp>
      <p:sp>
        <p:nvSpPr>
          <p:cNvPr id="25" name="Text 23"/>
          <p:cNvSpPr/>
          <p:nvPr/>
        </p:nvSpPr>
        <p:spPr>
          <a:xfrm>
            <a:off x="9610344" y="2697480"/>
            <a:ext cx="1984248" cy="539496"/>
          </a:xfrm>
          <a:prstGeom prst="rect">
            <a:avLst/>
          </a:prstGeom>
          <a:noFill/>
          <a:ln/>
        </p:spPr>
        <p:txBody>
          <a:bodyPr wrap="square" lIns="0" tIns="0" rIns="0" bIns="0" rtlCol="0" anchor="ctr">
            <a:normAutofit/>
          </a:bodyPr>
          <a:lstStyle/>
          <a:p>
            <a:pPr marL="0" indent="0" algn="l">
              <a:buNone/>
            </a:pPr>
            <a:r>
              <a:rPr lang="en-US" sz="1900" b="1" dirty="0">
                <a:solidFill>
                  <a:srgbClr val="F4F8FC"/>
                </a:solidFill>
                <a:latin typeface="Aptos" pitchFamily="34" charset="0"/>
                <a:ea typeface="Aptos" pitchFamily="34" charset="-122"/>
                <a:cs typeface="Aptos" pitchFamily="34" charset="-120"/>
              </a:rPr>
              <a:t>Criar</a:t>
            </a:r>
            <a:endParaRPr lang="en-US" sz="1900" dirty="0"/>
          </a:p>
          <a:p>
            <a:pPr marL="0" indent="0" algn="l">
              <a:buNone/>
            </a:pPr>
            <a:r>
              <a:rPr lang="en-US" sz="1900" b="1" dirty="0">
                <a:solidFill>
                  <a:srgbClr val="F4F8FC"/>
                </a:solidFill>
                <a:latin typeface="Aptos" pitchFamily="34" charset="0"/>
                <a:ea typeface="Aptos" pitchFamily="34" charset="-122"/>
                <a:cs typeface="Aptos" pitchFamily="34" charset="-120"/>
              </a:rPr>
              <a:t>Produto</a:t>
            </a:r>
            <a:endParaRPr lang="en-US" sz="1900" dirty="0"/>
          </a:p>
        </p:txBody>
      </p:sp>
      <p:sp>
        <p:nvSpPr>
          <p:cNvPr id="26" name="Shape 24"/>
          <p:cNvSpPr/>
          <p:nvPr/>
        </p:nvSpPr>
        <p:spPr>
          <a:xfrm>
            <a:off x="1325880" y="3995928"/>
            <a:ext cx="9555480" cy="1719072"/>
          </a:xfrm>
          <a:prstGeom prst="roundRect">
            <a:avLst>
              <a:gd name="adj" fmla="val 6915"/>
            </a:avLst>
          </a:prstGeom>
          <a:solidFill>
            <a:srgbClr val="0B1C2E"/>
          </a:solidFill>
          <a:ln w="12700">
            <a:solidFill>
              <a:srgbClr val="35526C">
                <a:alpha val="90000"/>
              </a:srgbClr>
            </a:solidFill>
            <a:prstDash val="solid"/>
          </a:ln>
        </p:spPr>
        <p:txBody>
          <a:bodyPr/>
          <a:lstStyle/>
          <a:p>
            <a:endParaRPr lang="pt-BR"/>
          </a:p>
        </p:txBody>
      </p:sp>
      <p:sp>
        <p:nvSpPr>
          <p:cNvPr id="27" name="Text 25"/>
          <p:cNvSpPr/>
          <p:nvPr/>
        </p:nvSpPr>
        <p:spPr>
          <a:xfrm>
            <a:off x="1527048" y="4151376"/>
            <a:ext cx="8641080"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CONFIGURAÇÃO E RESULTADO ESPERADO</a:t>
            </a:r>
            <a:endParaRPr lang="en-US" sz="1050" dirty="0"/>
          </a:p>
        </p:txBody>
      </p:sp>
      <p:sp>
        <p:nvSpPr>
          <p:cNvPr id="28" name="Text 26"/>
          <p:cNvSpPr/>
          <p:nvPr/>
        </p:nvSpPr>
        <p:spPr>
          <a:xfrm>
            <a:off x="1536192" y="4480560"/>
            <a:ext cx="9116568" cy="1042416"/>
          </a:xfrm>
          <a:prstGeom prst="rect">
            <a:avLst/>
          </a:prstGeom>
          <a:noFill/>
          <a:ln/>
        </p:spPr>
        <p:txBody>
          <a:bodyPr wrap="square" lIns="0" tIns="0" rIns="0" bIns="0" rtlCol="0" anchor="t">
            <a:normAutofit/>
          </a:bodyPr>
          <a:lstStyle/>
          <a:p>
            <a:pPr marL="0" indent="0" algn="l">
              <a:buNone/>
            </a:pPr>
            <a:r>
              <a:rPr lang="en-US" sz="1950" dirty="0">
                <a:solidFill>
                  <a:srgbClr val="F4F8FC"/>
                </a:solidFill>
                <a:latin typeface="Aptos Mono" pitchFamily="34" charset="0"/>
                <a:ea typeface="Aptos Mono" pitchFamily="34" charset="-122"/>
                <a:cs typeface="Aptos Mono" pitchFamily="34" charset="-120"/>
              </a:rPr>
              <a:t>linesToSkip(1)</a:t>
            </a:r>
            <a:endParaRPr lang="en-US" sz="1950" dirty="0"/>
          </a:p>
          <a:p>
            <a:pPr marL="0" indent="0" algn="l">
              <a:buNone/>
            </a:pPr>
            <a:endParaRPr lang="en-US" sz="1950" dirty="0"/>
          </a:p>
          <a:p>
            <a:pPr marL="0" indent="0" algn="l">
              <a:buNone/>
            </a:pPr>
            <a:r>
              <a:rPr lang="en-US" sz="1950" dirty="0">
                <a:solidFill>
                  <a:srgbClr val="F4F8FC"/>
                </a:solidFill>
                <a:latin typeface="Aptos Mono" pitchFamily="34" charset="0"/>
                <a:ea typeface="Aptos Mono" pitchFamily="34" charset="-122"/>
                <a:cs typeface="Aptos Mono" pitchFamily="34" charset="-120"/>
              </a:rPr>
              <a:t>new Produto(1L, "Teclado",</a:t>
            </a:r>
            <a:endParaRPr lang="en-US" sz="1950" dirty="0"/>
          </a:p>
          <a:p>
            <a:pPr marL="0" indent="0" algn="l">
              <a:buNone/>
            </a:pPr>
            <a:r>
              <a:rPr lang="en-US" sz="1950" dirty="0">
                <a:solidFill>
                  <a:srgbClr val="F4F8FC"/>
                </a:solidFill>
                <a:latin typeface="Aptos Mono" pitchFamily="34" charset="0"/>
                <a:ea typeface="Aptos Mono" pitchFamily="34" charset="-122"/>
                <a:cs typeface="Aptos Mono" pitchFamily="34" charset="-120"/>
              </a:rPr>
              <a:t>    new BigDecimal("100.00"));</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11</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4 — Transformar com o ItemProcessor</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ItemProcessor&lt;Produto, Produto&gt; aplica a regra em cada item.</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676656" y="1929384"/>
            <a:ext cx="6519672" cy="3639312"/>
          </a:xfrm>
          <a:prstGeom prst="roundRect">
            <a:avLst>
              <a:gd name="adj" fmla="val 3266"/>
            </a:avLst>
          </a:prstGeom>
          <a:solidFill>
            <a:srgbClr val="0B1C2E"/>
          </a:solidFill>
          <a:ln w="12700">
            <a:solidFill>
              <a:srgbClr val="35526C">
                <a:alpha val="90000"/>
              </a:srgbClr>
            </a:solidFill>
            <a:prstDash val="solid"/>
          </a:ln>
        </p:spPr>
        <p:txBody>
          <a:bodyPr/>
          <a:lstStyle/>
          <a:p>
            <a:endParaRPr lang="pt-BR"/>
          </a:p>
        </p:txBody>
      </p:sp>
      <p:sp>
        <p:nvSpPr>
          <p:cNvPr id="12" name="Text 10"/>
          <p:cNvSpPr/>
          <p:nvPr/>
        </p:nvSpPr>
        <p:spPr>
          <a:xfrm>
            <a:off x="877824" y="2084832"/>
            <a:ext cx="5605272"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REAJUSTE DE 10%</a:t>
            </a:r>
            <a:endParaRPr lang="en-US" sz="1050" dirty="0"/>
          </a:p>
        </p:txBody>
      </p:sp>
      <p:sp>
        <p:nvSpPr>
          <p:cNvPr id="13" name="Text 11"/>
          <p:cNvSpPr/>
          <p:nvPr/>
        </p:nvSpPr>
        <p:spPr>
          <a:xfrm>
            <a:off x="886968" y="2414016"/>
            <a:ext cx="6080760" cy="2962656"/>
          </a:xfrm>
          <a:prstGeom prst="rect">
            <a:avLst/>
          </a:prstGeom>
          <a:noFill/>
          <a:ln/>
        </p:spPr>
        <p:txBody>
          <a:bodyPr wrap="square" lIns="0" tIns="0" rIns="0" bIns="0" rtlCol="0" anchor="t">
            <a:normAutofit/>
          </a:bodyPr>
          <a:lstStyle/>
          <a:p>
            <a:pPr marL="0" indent="0" algn="l">
              <a:buNone/>
            </a:pPr>
            <a:r>
              <a:rPr lang="en-US" sz="1620" dirty="0">
                <a:solidFill>
                  <a:srgbClr val="F4F8FC"/>
                </a:solidFill>
                <a:latin typeface="Aptos Mono" pitchFamily="34" charset="0"/>
                <a:ea typeface="Aptos Mono" pitchFamily="34" charset="-122"/>
                <a:cs typeface="Aptos Mono" pitchFamily="34" charset="-120"/>
              </a:rPr>
              <a:t>BigDecimal novoPreco = produto.preco()</a:t>
            </a:r>
            <a:endParaRPr lang="en-US" sz="1620" dirty="0"/>
          </a:p>
          <a:p>
            <a:pPr marL="0" indent="0" algn="l">
              <a:buNone/>
            </a:pPr>
            <a:r>
              <a:rPr lang="en-US" sz="1620" dirty="0">
                <a:solidFill>
                  <a:srgbClr val="F4F8FC"/>
                </a:solidFill>
                <a:latin typeface="Aptos Mono" pitchFamily="34" charset="0"/>
                <a:ea typeface="Aptos Mono" pitchFamily="34" charset="-122"/>
                <a:cs typeface="Aptos Mono" pitchFamily="34" charset="-120"/>
              </a:rPr>
              <a:t>    .multiply(new BigDecimal("1.10"))</a:t>
            </a:r>
            <a:endParaRPr lang="en-US" sz="1620" dirty="0"/>
          </a:p>
          <a:p>
            <a:pPr marL="0" indent="0" algn="l">
              <a:buNone/>
            </a:pPr>
            <a:r>
              <a:rPr lang="en-US" sz="1620" dirty="0">
                <a:solidFill>
                  <a:srgbClr val="F4F8FC"/>
                </a:solidFill>
                <a:latin typeface="Aptos Mono" pitchFamily="34" charset="0"/>
                <a:ea typeface="Aptos Mono" pitchFamily="34" charset="-122"/>
                <a:cs typeface="Aptos Mono" pitchFamily="34" charset="-120"/>
              </a:rPr>
              <a:t>    .setScale(2, RoundingMode.HALF_UP);</a:t>
            </a:r>
            <a:endParaRPr lang="en-US" sz="1620" dirty="0"/>
          </a:p>
          <a:p>
            <a:pPr marL="0" indent="0" algn="l">
              <a:buNone/>
            </a:pPr>
            <a:endParaRPr lang="en-US" sz="1620" dirty="0"/>
          </a:p>
          <a:p>
            <a:pPr marL="0" indent="0" algn="l">
              <a:buNone/>
            </a:pPr>
            <a:r>
              <a:rPr lang="en-US" sz="1620" dirty="0">
                <a:solidFill>
                  <a:srgbClr val="F4F8FC"/>
                </a:solidFill>
                <a:latin typeface="Aptos Mono" pitchFamily="34" charset="0"/>
                <a:ea typeface="Aptos Mono" pitchFamily="34" charset="-122"/>
                <a:cs typeface="Aptos Mono" pitchFamily="34" charset="-120"/>
              </a:rPr>
              <a:t>return new Produto(</a:t>
            </a:r>
            <a:endParaRPr lang="en-US" sz="1620" dirty="0"/>
          </a:p>
          <a:p>
            <a:pPr marL="0" indent="0" algn="l">
              <a:buNone/>
            </a:pPr>
            <a:r>
              <a:rPr lang="en-US" sz="1620" dirty="0">
                <a:solidFill>
                  <a:srgbClr val="F4F8FC"/>
                </a:solidFill>
                <a:latin typeface="Aptos Mono" pitchFamily="34" charset="0"/>
                <a:ea typeface="Aptos Mono" pitchFamily="34" charset="-122"/>
                <a:cs typeface="Aptos Mono" pitchFamily="34" charset="-120"/>
              </a:rPr>
              <a:t>    produto.id(), produto.nome(), novoPreco</a:t>
            </a:r>
            <a:endParaRPr lang="en-US" sz="1620" dirty="0"/>
          </a:p>
          <a:p>
            <a:pPr marL="0" indent="0" algn="l">
              <a:buNone/>
            </a:pPr>
            <a:r>
              <a:rPr lang="en-US" sz="1620" dirty="0">
                <a:solidFill>
                  <a:srgbClr val="F4F8FC"/>
                </a:solidFill>
                <a:latin typeface="Aptos Mono" pitchFamily="34" charset="0"/>
                <a:ea typeface="Aptos Mono" pitchFamily="34" charset="-122"/>
                <a:cs typeface="Aptos Mono" pitchFamily="34" charset="-120"/>
              </a:rPr>
              <a:t>);</a:t>
            </a:r>
            <a:endParaRPr lang="en-US" sz="1620" dirty="0"/>
          </a:p>
        </p:txBody>
      </p:sp>
      <p:sp>
        <p:nvSpPr>
          <p:cNvPr id="14" name="Text 12"/>
          <p:cNvSpPr/>
          <p:nvPr/>
        </p:nvSpPr>
        <p:spPr>
          <a:xfrm>
            <a:off x="7534656" y="2011680"/>
            <a:ext cx="3840480" cy="246888"/>
          </a:xfrm>
          <a:prstGeom prst="rect">
            <a:avLst/>
          </a:prstGeom>
          <a:noFill/>
          <a:ln/>
        </p:spPr>
        <p:txBody>
          <a:bodyPr wrap="square" lIns="0" tIns="0" rIns="0" bIns="0" rtlCol="0" anchor="ctr">
            <a:normAutofit/>
          </a:bodyPr>
          <a:lstStyle/>
          <a:p>
            <a:pPr marL="0" indent="0" algn="l">
              <a:buNone/>
            </a:pPr>
            <a:r>
              <a:rPr lang="en-US" sz="1300" b="1" dirty="0">
                <a:solidFill>
                  <a:srgbClr val="4FE0B5"/>
                </a:solidFill>
                <a:latin typeface="Aptos" pitchFamily="34" charset="0"/>
                <a:ea typeface="Aptos" pitchFamily="34" charset="-122"/>
                <a:cs typeface="Aptos" pitchFamily="34" charset="-120"/>
              </a:rPr>
              <a:t>TESTE UNITÁRIO</a:t>
            </a:r>
            <a:endParaRPr lang="en-US" sz="1300" dirty="0"/>
          </a:p>
        </p:txBody>
      </p:sp>
      <p:sp>
        <p:nvSpPr>
          <p:cNvPr id="15" name="Shape 13"/>
          <p:cNvSpPr/>
          <p:nvPr/>
        </p:nvSpPr>
        <p:spPr>
          <a:xfrm>
            <a:off x="7507224" y="2423160"/>
            <a:ext cx="3968496" cy="2212848"/>
          </a:xfrm>
          <a:prstGeom prst="roundRect">
            <a:avLst>
              <a:gd name="adj" fmla="val 5372"/>
            </a:avLst>
          </a:prstGeom>
          <a:solidFill>
            <a:srgbClr val="142C43"/>
          </a:solidFill>
          <a:ln w="12700">
            <a:solidFill>
              <a:srgbClr val="2E4860">
                <a:alpha val="90000"/>
              </a:srgbClr>
            </a:solidFill>
            <a:prstDash val="solid"/>
          </a:ln>
        </p:spPr>
        <p:txBody>
          <a:bodyPr/>
          <a:lstStyle/>
          <a:p>
            <a:endParaRPr lang="pt-BR"/>
          </a:p>
        </p:txBody>
      </p:sp>
      <p:sp>
        <p:nvSpPr>
          <p:cNvPr id="16" name="Text 14"/>
          <p:cNvSpPr/>
          <p:nvPr/>
        </p:nvSpPr>
        <p:spPr>
          <a:xfrm>
            <a:off x="7626096" y="2505456"/>
            <a:ext cx="1801368"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ORIGINAL</a:t>
            </a:r>
            <a:endParaRPr lang="en-US" sz="1220" dirty="0"/>
          </a:p>
        </p:txBody>
      </p:sp>
      <p:sp>
        <p:nvSpPr>
          <p:cNvPr id="17" name="Text 15"/>
          <p:cNvSpPr/>
          <p:nvPr/>
        </p:nvSpPr>
        <p:spPr>
          <a:xfrm>
            <a:off x="9592056" y="2505456"/>
            <a:ext cx="1837944"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REAJUSTADO</a:t>
            </a:r>
            <a:endParaRPr lang="en-US" sz="1220" dirty="0"/>
          </a:p>
        </p:txBody>
      </p:sp>
      <p:sp>
        <p:nvSpPr>
          <p:cNvPr id="18" name="Shape 16"/>
          <p:cNvSpPr/>
          <p:nvPr/>
        </p:nvSpPr>
        <p:spPr>
          <a:xfrm>
            <a:off x="7507224" y="2852928"/>
            <a:ext cx="3968496" cy="0"/>
          </a:xfrm>
          <a:prstGeom prst="line">
            <a:avLst/>
          </a:prstGeom>
          <a:noFill/>
          <a:ln w="19050">
            <a:solidFill>
              <a:srgbClr val="2E4860"/>
            </a:solidFill>
            <a:prstDash val="solid"/>
          </a:ln>
        </p:spPr>
        <p:txBody>
          <a:bodyPr/>
          <a:lstStyle/>
          <a:p>
            <a:endParaRPr lang="pt-BR"/>
          </a:p>
        </p:txBody>
      </p:sp>
      <p:sp>
        <p:nvSpPr>
          <p:cNvPr id="19" name="Text 17"/>
          <p:cNvSpPr/>
          <p:nvPr/>
        </p:nvSpPr>
        <p:spPr>
          <a:xfrm>
            <a:off x="7626096" y="2921508"/>
            <a:ext cx="1792224" cy="466344"/>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100.00</a:t>
            </a:r>
            <a:endParaRPr lang="en-US" sz="1700" dirty="0"/>
          </a:p>
        </p:txBody>
      </p:sp>
      <p:sp>
        <p:nvSpPr>
          <p:cNvPr id="20" name="Text 18"/>
          <p:cNvSpPr/>
          <p:nvPr/>
        </p:nvSpPr>
        <p:spPr>
          <a:xfrm>
            <a:off x="9592056" y="2921508"/>
            <a:ext cx="1828800" cy="466344"/>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110.00</a:t>
            </a:r>
            <a:endParaRPr lang="en-US" sz="1700" dirty="0"/>
          </a:p>
        </p:txBody>
      </p:sp>
      <p:sp>
        <p:nvSpPr>
          <p:cNvPr id="21" name="Shape 19"/>
          <p:cNvSpPr/>
          <p:nvPr/>
        </p:nvSpPr>
        <p:spPr>
          <a:xfrm>
            <a:off x="7507224" y="3447288"/>
            <a:ext cx="3968496" cy="0"/>
          </a:xfrm>
          <a:prstGeom prst="line">
            <a:avLst/>
          </a:prstGeom>
          <a:noFill/>
          <a:ln w="5715">
            <a:solidFill>
              <a:srgbClr val="2E4860"/>
            </a:solidFill>
            <a:prstDash val="solid"/>
          </a:ln>
        </p:spPr>
        <p:txBody>
          <a:bodyPr/>
          <a:lstStyle/>
          <a:p>
            <a:endParaRPr lang="pt-BR"/>
          </a:p>
        </p:txBody>
      </p:sp>
      <p:sp>
        <p:nvSpPr>
          <p:cNvPr id="22" name="Shape 20"/>
          <p:cNvSpPr/>
          <p:nvPr/>
        </p:nvSpPr>
        <p:spPr>
          <a:xfrm>
            <a:off x="7514539" y="3447288"/>
            <a:ext cx="3952951" cy="594360"/>
          </a:xfrm>
          <a:prstGeom prst="rect">
            <a:avLst/>
          </a:prstGeom>
          <a:solidFill>
            <a:srgbClr val="102337"/>
          </a:solidFill>
          <a:ln w="12700">
            <a:solidFill>
              <a:srgbClr val="102337">
                <a:alpha val="0"/>
              </a:srgbClr>
            </a:solidFill>
            <a:prstDash val="solid"/>
          </a:ln>
        </p:spPr>
        <p:txBody>
          <a:bodyPr/>
          <a:lstStyle/>
          <a:p>
            <a:endParaRPr lang="pt-BR"/>
          </a:p>
        </p:txBody>
      </p:sp>
      <p:sp>
        <p:nvSpPr>
          <p:cNvPr id="23" name="Text 21"/>
          <p:cNvSpPr/>
          <p:nvPr/>
        </p:nvSpPr>
        <p:spPr>
          <a:xfrm>
            <a:off x="7626096" y="3515868"/>
            <a:ext cx="1792224" cy="466344"/>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50.00</a:t>
            </a:r>
            <a:endParaRPr lang="en-US" sz="1700" dirty="0"/>
          </a:p>
        </p:txBody>
      </p:sp>
      <p:sp>
        <p:nvSpPr>
          <p:cNvPr id="24" name="Text 22"/>
          <p:cNvSpPr/>
          <p:nvPr/>
        </p:nvSpPr>
        <p:spPr>
          <a:xfrm>
            <a:off x="9592056" y="3515868"/>
            <a:ext cx="1828800" cy="466344"/>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55.00</a:t>
            </a:r>
            <a:endParaRPr lang="en-US" sz="1700" dirty="0"/>
          </a:p>
        </p:txBody>
      </p:sp>
      <p:sp>
        <p:nvSpPr>
          <p:cNvPr id="25" name="Shape 23"/>
          <p:cNvSpPr/>
          <p:nvPr/>
        </p:nvSpPr>
        <p:spPr>
          <a:xfrm>
            <a:off x="7507224" y="4041648"/>
            <a:ext cx="3968496" cy="0"/>
          </a:xfrm>
          <a:prstGeom prst="line">
            <a:avLst/>
          </a:prstGeom>
          <a:noFill/>
          <a:ln w="5715">
            <a:solidFill>
              <a:srgbClr val="2E4860"/>
            </a:solidFill>
            <a:prstDash val="solid"/>
          </a:ln>
        </p:spPr>
        <p:txBody>
          <a:bodyPr/>
          <a:lstStyle/>
          <a:p>
            <a:endParaRPr lang="pt-BR"/>
          </a:p>
        </p:txBody>
      </p:sp>
      <p:sp>
        <p:nvSpPr>
          <p:cNvPr id="26" name="Text 24"/>
          <p:cNvSpPr/>
          <p:nvPr/>
        </p:nvSpPr>
        <p:spPr>
          <a:xfrm>
            <a:off x="7626096" y="4110228"/>
            <a:ext cx="1792224" cy="466344"/>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1000.00</a:t>
            </a:r>
            <a:endParaRPr lang="en-US" sz="1700" dirty="0"/>
          </a:p>
        </p:txBody>
      </p:sp>
      <p:sp>
        <p:nvSpPr>
          <p:cNvPr id="27" name="Text 25"/>
          <p:cNvSpPr/>
          <p:nvPr/>
        </p:nvSpPr>
        <p:spPr>
          <a:xfrm>
            <a:off x="9592056" y="4110228"/>
            <a:ext cx="1828800" cy="466344"/>
          </a:xfrm>
          <a:prstGeom prst="rect">
            <a:avLst/>
          </a:prstGeom>
          <a:noFill/>
          <a:ln/>
        </p:spPr>
        <p:txBody>
          <a:bodyPr wrap="square" lIns="0" tIns="0" rIns="0" bIns="0" rtlCol="0" anchor="ctr">
            <a:normAutofit/>
          </a:bodyPr>
          <a:lstStyle/>
          <a:p>
            <a:pPr marL="0" indent="0" algn="l">
              <a:buNone/>
            </a:pPr>
            <a:r>
              <a:rPr lang="en-US" sz="1700" dirty="0">
                <a:solidFill>
                  <a:srgbClr val="4FE0B5"/>
                </a:solidFill>
                <a:latin typeface="Aptos" pitchFamily="34" charset="0"/>
                <a:ea typeface="Aptos" pitchFamily="34" charset="-122"/>
                <a:cs typeface="Aptos" pitchFamily="34" charset="-120"/>
              </a:rPr>
              <a:t>1100.00</a:t>
            </a:r>
            <a:endParaRPr lang="en-US" sz="1700" dirty="0"/>
          </a:p>
        </p:txBody>
      </p:sp>
      <p:sp>
        <p:nvSpPr>
          <p:cNvPr id="28" name="Text 26"/>
          <p:cNvSpPr/>
          <p:nvPr/>
        </p:nvSpPr>
        <p:spPr>
          <a:xfrm>
            <a:off x="7607808" y="5148072"/>
            <a:ext cx="3703320" cy="576072"/>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Escala: 2 casas decimais</a:t>
            </a:r>
            <a:endParaRPr lang="en-US" sz="1550" dirty="0"/>
          </a:p>
          <a:p>
            <a:pPr marL="0" indent="0" algn="l">
              <a:buNone/>
            </a:pPr>
            <a:r>
              <a:rPr lang="en-US" sz="1550" dirty="0">
                <a:solidFill>
                  <a:srgbClr val="B8C6D5"/>
                </a:solidFill>
                <a:latin typeface="Aptos" pitchFamily="34" charset="0"/>
                <a:ea typeface="Aptos" pitchFamily="34" charset="-122"/>
                <a:cs typeface="Aptos" pitchFamily="34" charset="-120"/>
              </a:rPr>
              <a:t>Arredondamento: HALF_UP</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12</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5 — Gravar com o ItemWriter</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FlatFileItemWriter&lt;Produto&gt; escreve o resultado já transformado.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0664" y="1856232"/>
            <a:ext cx="5669280" cy="3493008"/>
          </a:xfrm>
          <a:prstGeom prst="roundRect">
            <a:avLst>
              <a:gd name="adj" fmla="val 3403"/>
            </a:avLst>
          </a:prstGeom>
          <a:solidFill>
            <a:srgbClr val="102337"/>
          </a:solidFill>
          <a:ln w="12700">
            <a:solidFill>
              <a:srgbClr val="2E4860">
                <a:alpha val="90000"/>
              </a:srgbClr>
            </a:solidFill>
            <a:prstDash val="solid"/>
          </a:ln>
        </p:spPr>
        <p:txBody>
          <a:bodyPr/>
          <a:lstStyle/>
          <a:p>
            <a:endParaRPr lang="pt-BR"/>
          </a:p>
        </p:txBody>
      </p:sp>
      <p:sp>
        <p:nvSpPr>
          <p:cNvPr id="12" name="Shape 10"/>
          <p:cNvSpPr/>
          <p:nvPr/>
        </p:nvSpPr>
        <p:spPr>
          <a:xfrm>
            <a:off x="740664" y="1856232"/>
            <a:ext cx="50292" cy="3493008"/>
          </a:xfrm>
          <a:prstGeom prst="rect">
            <a:avLst/>
          </a:prstGeom>
          <a:solidFill>
            <a:srgbClr val="37C4F3"/>
          </a:solidFill>
          <a:ln w="12700">
            <a:solidFill>
              <a:srgbClr val="37C4F3">
                <a:alpha val="0"/>
              </a:srgbClr>
            </a:solidFill>
            <a:prstDash val="solid"/>
          </a:ln>
        </p:spPr>
        <p:txBody>
          <a:bodyPr/>
          <a:lstStyle/>
          <a:p>
            <a:endParaRPr lang="pt-BR"/>
          </a:p>
        </p:txBody>
      </p:sp>
      <p:sp>
        <p:nvSpPr>
          <p:cNvPr id="13" name="Text 11"/>
          <p:cNvSpPr/>
          <p:nvPr/>
        </p:nvSpPr>
        <p:spPr>
          <a:xfrm>
            <a:off x="960120" y="2029968"/>
            <a:ext cx="5257800" cy="338328"/>
          </a:xfrm>
          <a:prstGeom prst="rect">
            <a:avLst/>
          </a:prstGeom>
          <a:noFill/>
          <a:ln/>
        </p:spPr>
        <p:txBody>
          <a:bodyPr wrap="square" lIns="0" tIns="0" rIns="0" bIns="0" rtlCol="0" anchor="ctr">
            <a:normAutofit/>
          </a:bodyPr>
          <a:lstStyle/>
          <a:p>
            <a:pPr marL="0" indent="0" algn="l">
              <a:buNone/>
            </a:pPr>
            <a:r>
              <a:rPr lang="en-US" sz="1900" b="1" dirty="0">
                <a:solidFill>
                  <a:srgbClr val="37C4F3"/>
                </a:solidFill>
                <a:latin typeface="Aptos" pitchFamily="34" charset="0"/>
                <a:ea typeface="Aptos" pitchFamily="34" charset="-122"/>
                <a:cs typeface="Aptos" pitchFamily="34" charset="-120"/>
              </a:rPr>
              <a:t>CONFIGURAÇÃO</a:t>
            </a:r>
            <a:endParaRPr lang="en-US" sz="1900" dirty="0"/>
          </a:p>
        </p:txBody>
      </p:sp>
      <p:sp>
        <p:nvSpPr>
          <p:cNvPr id="14" name="Text 12"/>
          <p:cNvSpPr/>
          <p:nvPr/>
        </p:nvSpPr>
        <p:spPr>
          <a:xfrm>
            <a:off x="960120" y="2569464"/>
            <a:ext cx="5230368" cy="2670048"/>
          </a:xfrm>
          <a:prstGeom prst="rect">
            <a:avLst/>
          </a:prstGeom>
          <a:noFill/>
          <a:ln/>
        </p:spPr>
        <p:txBody>
          <a:bodyPr wrap="square" lIns="0" tIns="0" rIns="0" bIns="0" rtlCol="0" anchor="t">
            <a:normAutofit/>
          </a:bodyPr>
          <a:lstStyle/>
          <a:p>
            <a:pPr marL="0" indent="0" algn="l">
              <a:buNone/>
            </a:pPr>
            <a:r>
              <a:rPr lang="en-US" sz="1820" dirty="0">
                <a:solidFill>
                  <a:srgbClr val="B8C6D5"/>
                </a:solidFill>
                <a:latin typeface="Aptos" pitchFamily="34" charset="0"/>
                <a:ea typeface="Aptos" pitchFamily="34" charset="-122"/>
                <a:cs typeface="Aptos" pitchFamily="34" charset="-120"/>
              </a:rPr>
              <a:t>Arquivo: produtos-reajustados.csv</a:t>
            </a:r>
            <a:endParaRPr lang="en-US" sz="1820" dirty="0"/>
          </a:p>
          <a:p>
            <a:pPr marL="0" indent="0" algn="l">
              <a:buNone/>
            </a:pPr>
            <a:r>
              <a:rPr lang="en-US" sz="1820" dirty="0">
                <a:solidFill>
                  <a:srgbClr val="B8C6D5"/>
                </a:solidFill>
                <a:latin typeface="Aptos" pitchFamily="34" charset="0"/>
                <a:ea typeface="Aptos" pitchFamily="34" charset="-122"/>
                <a:cs typeface="Aptos" pitchFamily="34" charset="-120"/>
              </a:rPr>
              <a:t>Ordem: id,nome,preco</a:t>
            </a:r>
            <a:endParaRPr lang="en-US" sz="1820" dirty="0"/>
          </a:p>
          <a:p>
            <a:pPr marL="0" indent="0" algn="l">
              <a:buNone/>
            </a:pPr>
            <a:r>
              <a:rPr lang="en-US" sz="1820" dirty="0">
                <a:solidFill>
                  <a:srgbClr val="B8C6D5"/>
                </a:solidFill>
                <a:latin typeface="Aptos" pitchFamily="34" charset="0"/>
                <a:ea typeface="Aptos" pitchFamily="34" charset="-122"/>
                <a:cs typeface="Aptos" pitchFamily="34" charset="-120"/>
              </a:rPr>
              <a:t>Escala: 2 casas decimais</a:t>
            </a:r>
            <a:endParaRPr lang="en-US" sz="1820" dirty="0"/>
          </a:p>
          <a:p>
            <a:pPr marL="0" indent="0" algn="l">
              <a:buNone/>
            </a:pPr>
            <a:r>
              <a:rPr lang="en-US" sz="1820" dirty="0">
                <a:solidFill>
                  <a:srgbClr val="B8C6D5"/>
                </a:solidFill>
                <a:latin typeface="Aptos" pitchFamily="34" charset="0"/>
                <a:ea typeface="Aptos" pitchFamily="34" charset="-122"/>
                <a:cs typeface="Aptos" pitchFamily="34" charset="-120"/>
              </a:rPr>
              <a:t>Decimal: ponto</a:t>
            </a:r>
            <a:endParaRPr lang="en-US" sz="1820" dirty="0"/>
          </a:p>
          <a:p>
            <a:pPr marL="0" indent="0" algn="l">
              <a:buNone/>
            </a:pPr>
            <a:r>
              <a:rPr lang="en-US" sz="1820" dirty="0">
                <a:solidFill>
                  <a:srgbClr val="B8C6D5"/>
                </a:solidFill>
                <a:latin typeface="Aptos" pitchFamily="34" charset="0"/>
                <a:ea typeface="Aptos" pitchFamily="34" charset="-122"/>
                <a:cs typeface="Aptos" pitchFamily="34" charset="-120"/>
              </a:rPr>
              <a:t>Cabeçalho: não</a:t>
            </a:r>
            <a:endParaRPr lang="en-US" sz="1820" dirty="0"/>
          </a:p>
        </p:txBody>
      </p:sp>
      <p:sp>
        <p:nvSpPr>
          <p:cNvPr id="15" name="Shape 13"/>
          <p:cNvSpPr/>
          <p:nvPr/>
        </p:nvSpPr>
        <p:spPr>
          <a:xfrm>
            <a:off x="6711696" y="1856232"/>
            <a:ext cx="4718304" cy="3493008"/>
          </a:xfrm>
          <a:prstGeom prst="roundRect">
            <a:avLst>
              <a:gd name="adj" fmla="val 3403"/>
            </a:avLst>
          </a:prstGeom>
          <a:solidFill>
            <a:srgbClr val="0B1C2E"/>
          </a:solidFill>
          <a:ln w="12700">
            <a:solidFill>
              <a:srgbClr val="35526C">
                <a:alpha val="90000"/>
              </a:srgbClr>
            </a:solidFill>
            <a:prstDash val="solid"/>
          </a:ln>
        </p:spPr>
        <p:txBody>
          <a:bodyPr/>
          <a:lstStyle/>
          <a:p>
            <a:endParaRPr lang="pt-BR"/>
          </a:p>
        </p:txBody>
      </p:sp>
      <p:sp>
        <p:nvSpPr>
          <p:cNvPr id="16" name="Text 14"/>
          <p:cNvSpPr/>
          <p:nvPr/>
        </p:nvSpPr>
        <p:spPr>
          <a:xfrm>
            <a:off x="6912864" y="2011680"/>
            <a:ext cx="3803904"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ARQUIVO DE SAÍDA</a:t>
            </a:r>
            <a:endParaRPr lang="en-US" sz="1050" dirty="0"/>
          </a:p>
        </p:txBody>
      </p:sp>
      <p:sp>
        <p:nvSpPr>
          <p:cNvPr id="17" name="Text 15"/>
          <p:cNvSpPr/>
          <p:nvPr/>
        </p:nvSpPr>
        <p:spPr>
          <a:xfrm>
            <a:off x="6922008" y="2340864"/>
            <a:ext cx="4279392" cy="2816352"/>
          </a:xfrm>
          <a:prstGeom prst="rect">
            <a:avLst/>
          </a:prstGeom>
          <a:noFill/>
          <a:ln/>
        </p:spPr>
        <p:txBody>
          <a:bodyPr wrap="square" lIns="0" tIns="0" rIns="0" bIns="0" rtlCol="0" anchor="t">
            <a:normAutofit/>
          </a:bodyPr>
          <a:lstStyle/>
          <a:p>
            <a:pPr marL="0" indent="0" algn="l">
              <a:buNone/>
            </a:pPr>
            <a:r>
              <a:rPr lang="en-US" sz="1890" dirty="0">
                <a:solidFill>
                  <a:srgbClr val="F4F8FC"/>
                </a:solidFill>
                <a:latin typeface="Aptos Mono" pitchFamily="34" charset="0"/>
                <a:ea typeface="Aptos Mono" pitchFamily="34" charset="-122"/>
                <a:cs typeface="Aptos Mono" pitchFamily="34" charset="-120"/>
              </a:rPr>
              <a:t>1,Teclado,110.00</a:t>
            </a:r>
            <a:endParaRPr lang="en-US" sz="1890" dirty="0"/>
          </a:p>
          <a:p>
            <a:pPr marL="0" indent="0" algn="l">
              <a:buNone/>
            </a:pPr>
            <a:r>
              <a:rPr lang="en-US" sz="1890" dirty="0">
                <a:solidFill>
                  <a:srgbClr val="F4F8FC"/>
                </a:solidFill>
                <a:latin typeface="Aptos Mono" pitchFamily="34" charset="0"/>
                <a:ea typeface="Aptos Mono" pitchFamily="34" charset="-122"/>
                <a:cs typeface="Aptos Mono" pitchFamily="34" charset="-120"/>
              </a:rPr>
              <a:t>2,Mouse,55.00</a:t>
            </a:r>
            <a:endParaRPr lang="en-US" sz="1890" dirty="0"/>
          </a:p>
          <a:p>
            <a:pPr marL="0" indent="0" algn="l">
              <a:buNone/>
            </a:pPr>
            <a:r>
              <a:rPr lang="en-US" sz="1890" dirty="0">
                <a:solidFill>
                  <a:srgbClr val="F4F8FC"/>
                </a:solidFill>
                <a:latin typeface="Aptos Mono" pitchFamily="34" charset="0"/>
                <a:ea typeface="Aptos Mono" pitchFamily="34" charset="-122"/>
                <a:cs typeface="Aptos Mono" pitchFamily="34" charset="-120"/>
              </a:rPr>
              <a:t>3,Monitor,1100.00</a:t>
            </a:r>
            <a:endParaRPr lang="en-US" sz="1890" dirty="0"/>
          </a:p>
        </p:txBody>
      </p:sp>
      <p:sp>
        <p:nvSpPr>
          <p:cNvPr id="18" name="Text 16"/>
          <p:cNvSpPr/>
          <p:nvPr/>
        </p:nvSpPr>
        <p:spPr>
          <a:xfrm>
            <a:off x="950976" y="5669280"/>
            <a:ext cx="10323576" cy="310896"/>
          </a:xfrm>
          <a:prstGeom prst="rect">
            <a:avLst/>
          </a:prstGeom>
          <a:noFill/>
          <a:ln/>
        </p:spPr>
        <p:txBody>
          <a:bodyPr wrap="square" lIns="0" tIns="0" rIns="0" bIns="0" rtlCol="0" anchor="ctr">
            <a:normAutofit/>
          </a:bodyPr>
          <a:lstStyle/>
          <a:p>
            <a:pPr marL="0" indent="0" algn="ctr">
              <a:buNone/>
            </a:pPr>
            <a:r>
              <a:rPr lang="en-US" sz="1740" dirty="0">
                <a:solidFill>
                  <a:srgbClr val="4FE0B5"/>
                </a:solidFill>
                <a:latin typeface="Aptos" pitchFamily="34" charset="0"/>
                <a:ea typeface="Aptos" pitchFamily="34" charset="-122"/>
                <a:cs typeface="Aptos" pitchFamily="34" charset="-120"/>
              </a:rPr>
              <a:t>Separação de responsabilidades: o Writer grava; o Processor calcula.</a:t>
            </a:r>
            <a:endParaRPr lang="en-US" sz="1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13</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6 — Conectar os componentes no Step</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chunk(2, transactionManager) define o tamanho do grupo por transação.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31520" y="1901952"/>
            <a:ext cx="10707624" cy="740664"/>
          </a:xfrm>
          <a:prstGeom prst="roundRect">
            <a:avLst>
              <a:gd name="adj" fmla="val 16049"/>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1280160" y="2121408"/>
            <a:ext cx="1920240" cy="283464"/>
          </a:xfrm>
          <a:prstGeom prst="rect">
            <a:avLst/>
          </a:prstGeom>
          <a:noFill/>
          <a:ln/>
        </p:spPr>
        <p:txBody>
          <a:bodyPr wrap="square" lIns="0" tIns="0" rIns="0" bIns="0" rtlCol="0" anchor="ctr">
            <a:normAutofit/>
          </a:bodyPr>
          <a:lstStyle/>
          <a:p>
            <a:pPr marL="0" indent="0" algn="ctr">
              <a:buNone/>
            </a:pPr>
            <a:r>
              <a:rPr lang="en-US" sz="1900" b="1" dirty="0">
                <a:solidFill>
                  <a:srgbClr val="F4F8FC"/>
                </a:solidFill>
                <a:latin typeface="Aptos" pitchFamily="34" charset="0"/>
                <a:ea typeface="Aptos" pitchFamily="34" charset="-122"/>
                <a:cs typeface="Aptos" pitchFamily="34" charset="-120"/>
              </a:rPr>
              <a:t>Reader</a:t>
            </a:r>
            <a:endParaRPr lang="en-US" sz="1900" dirty="0"/>
          </a:p>
        </p:txBody>
      </p:sp>
      <p:sp>
        <p:nvSpPr>
          <p:cNvPr id="13" name="Shape 11"/>
          <p:cNvSpPr/>
          <p:nvPr/>
        </p:nvSpPr>
        <p:spPr>
          <a:xfrm>
            <a:off x="3474720" y="2130552"/>
            <a:ext cx="274320"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4" name="Text 12"/>
          <p:cNvSpPr/>
          <p:nvPr/>
        </p:nvSpPr>
        <p:spPr>
          <a:xfrm>
            <a:off x="4590288" y="2121408"/>
            <a:ext cx="1984248" cy="283464"/>
          </a:xfrm>
          <a:prstGeom prst="rect">
            <a:avLst/>
          </a:prstGeom>
          <a:noFill/>
          <a:ln/>
        </p:spPr>
        <p:txBody>
          <a:bodyPr wrap="square" lIns="0" tIns="0" rIns="0" bIns="0" rtlCol="0" anchor="ctr">
            <a:normAutofit/>
          </a:bodyPr>
          <a:lstStyle/>
          <a:p>
            <a:pPr marL="0" indent="0" algn="ctr">
              <a:buNone/>
            </a:pPr>
            <a:r>
              <a:rPr lang="en-US" sz="1900" b="1" dirty="0">
                <a:solidFill>
                  <a:srgbClr val="F4F8FC"/>
                </a:solidFill>
                <a:latin typeface="Aptos" pitchFamily="34" charset="0"/>
                <a:ea typeface="Aptos" pitchFamily="34" charset="-122"/>
                <a:cs typeface="Aptos" pitchFamily="34" charset="-120"/>
              </a:rPr>
              <a:t>Processor</a:t>
            </a:r>
            <a:endParaRPr lang="en-US" sz="1900" dirty="0"/>
          </a:p>
        </p:txBody>
      </p:sp>
      <p:sp>
        <p:nvSpPr>
          <p:cNvPr id="15" name="Shape 13"/>
          <p:cNvSpPr/>
          <p:nvPr/>
        </p:nvSpPr>
        <p:spPr>
          <a:xfrm>
            <a:off x="7095744" y="2130552"/>
            <a:ext cx="274320"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6" name="Text 14"/>
          <p:cNvSpPr/>
          <p:nvPr/>
        </p:nvSpPr>
        <p:spPr>
          <a:xfrm>
            <a:off x="8549640" y="2121408"/>
            <a:ext cx="1819656" cy="283464"/>
          </a:xfrm>
          <a:prstGeom prst="rect">
            <a:avLst/>
          </a:prstGeom>
          <a:noFill/>
          <a:ln/>
        </p:spPr>
        <p:txBody>
          <a:bodyPr wrap="square" lIns="0" tIns="0" rIns="0" bIns="0" rtlCol="0" anchor="ctr">
            <a:normAutofit/>
          </a:bodyPr>
          <a:lstStyle/>
          <a:p>
            <a:pPr marL="0" indent="0" algn="ctr">
              <a:buNone/>
            </a:pPr>
            <a:r>
              <a:rPr lang="en-US" sz="1900" b="1" dirty="0">
                <a:solidFill>
                  <a:srgbClr val="F4F8FC"/>
                </a:solidFill>
                <a:latin typeface="Aptos" pitchFamily="34" charset="0"/>
                <a:ea typeface="Aptos" pitchFamily="34" charset="-122"/>
                <a:cs typeface="Aptos" pitchFamily="34" charset="-120"/>
              </a:rPr>
              <a:t>Writer</a:t>
            </a:r>
            <a:endParaRPr lang="en-US" sz="1900" dirty="0"/>
          </a:p>
        </p:txBody>
      </p:sp>
      <p:sp>
        <p:nvSpPr>
          <p:cNvPr id="17" name="Shape 15"/>
          <p:cNvSpPr/>
          <p:nvPr/>
        </p:nvSpPr>
        <p:spPr>
          <a:xfrm>
            <a:off x="960120" y="3172968"/>
            <a:ext cx="4663440" cy="1819656"/>
          </a:xfrm>
          <a:prstGeom prst="roundRect">
            <a:avLst>
              <a:gd name="adj" fmla="val 6533"/>
            </a:avLst>
          </a:prstGeom>
          <a:solidFill>
            <a:srgbClr val="102337"/>
          </a:solidFill>
          <a:ln w="12700">
            <a:solidFill>
              <a:srgbClr val="2E4860">
                <a:alpha val="90000"/>
              </a:srgbClr>
            </a:solidFill>
            <a:prstDash val="solid"/>
          </a:ln>
        </p:spPr>
        <p:txBody>
          <a:bodyPr/>
          <a:lstStyle/>
          <a:p>
            <a:endParaRPr lang="pt-BR"/>
          </a:p>
        </p:txBody>
      </p:sp>
      <p:sp>
        <p:nvSpPr>
          <p:cNvPr id="18" name="Shape 16"/>
          <p:cNvSpPr/>
          <p:nvPr/>
        </p:nvSpPr>
        <p:spPr>
          <a:xfrm>
            <a:off x="960120" y="3172968"/>
            <a:ext cx="50292" cy="1819656"/>
          </a:xfrm>
          <a:prstGeom prst="rect">
            <a:avLst/>
          </a:prstGeom>
          <a:solidFill>
            <a:srgbClr val="4FE0B5"/>
          </a:solidFill>
          <a:ln w="12700">
            <a:solidFill>
              <a:srgbClr val="4FE0B5">
                <a:alpha val="0"/>
              </a:srgbClr>
            </a:solidFill>
            <a:prstDash val="solid"/>
          </a:ln>
        </p:spPr>
        <p:txBody>
          <a:bodyPr/>
          <a:lstStyle/>
          <a:p>
            <a:endParaRPr lang="pt-BR"/>
          </a:p>
        </p:txBody>
      </p:sp>
      <p:sp>
        <p:nvSpPr>
          <p:cNvPr id="19" name="Text 17"/>
          <p:cNvSpPr/>
          <p:nvPr/>
        </p:nvSpPr>
        <p:spPr>
          <a:xfrm>
            <a:off x="1179576" y="3346704"/>
            <a:ext cx="4251960"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CHUNK 1</a:t>
            </a:r>
            <a:endParaRPr lang="en-US" sz="1900" dirty="0"/>
          </a:p>
        </p:txBody>
      </p:sp>
      <p:sp>
        <p:nvSpPr>
          <p:cNvPr id="20" name="Text 18"/>
          <p:cNvSpPr/>
          <p:nvPr/>
        </p:nvSpPr>
        <p:spPr>
          <a:xfrm>
            <a:off x="1179576" y="3794760"/>
            <a:ext cx="4224528" cy="1088136"/>
          </a:xfrm>
          <a:prstGeom prst="rect">
            <a:avLst/>
          </a:prstGeom>
          <a:noFill/>
          <a:ln/>
        </p:spPr>
        <p:txBody>
          <a:bodyPr wrap="square" lIns="0" tIns="0" rIns="0" bIns="0" rtlCol="0" anchor="t">
            <a:normAutofit/>
          </a:bodyPr>
          <a:lstStyle/>
          <a:p>
            <a:pPr marL="0" indent="0" algn="l">
              <a:buNone/>
            </a:pPr>
            <a:r>
              <a:rPr lang="en-US" sz="2400" dirty="0">
                <a:solidFill>
                  <a:srgbClr val="B8C6D5"/>
                </a:solidFill>
                <a:latin typeface="Aptos" pitchFamily="34" charset="0"/>
                <a:ea typeface="Aptos" pitchFamily="34" charset="-122"/>
                <a:cs typeface="Aptos" pitchFamily="34" charset="-120"/>
              </a:rPr>
              <a:t>Teclado</a:t>
            </a:r>
            <a:endParaRPr lang="en-US" sz="2400" dirty="0"/>
          </a:p>
          <a:p>
            <a:pPr marL="0" indent="0" algn="l">
              <a:buNone/>
            </a:pPr>
            <a:r>
              <a:rPr lang="en-US" sz="2400" dirty="0">
                <a:solidFill>
                  <a:srgbClr val="B8C6D5"/>
                </a:solidFill>
                <a:latin typeface="Aptos" pitchFamily="34" charset="0"/>
                <a:ea typeface="Aptos" pitchFamily="34" charset="-122"/>
                <a:cs typeface="Aptos" pitchFamily="34" charset="-120"/>
              </a:rPr>
              <a:t>Mouse</a:t>
            </a:r>
            <a:endParaRPr lang="en-US" sz="2400" dirty="0"/>
          </a:p>
        </p:txBody>
      </p:sp>
      <p:sp>
        <p:nvSpPr>
          <p:cNvPr id="21" name="Shape 19"/>
          <p:cNvSpPr/>
          <p:nvPr/>
        </p:nvSpPr>
        <p:spPr>
          <a:xfrm>
            <a:off x="6547104" y="3172968"/>
            <a:ext cx="4663440" cy="1819656"/>
          </a:xfrm>
          <a:prstGeom prst="roundRect">
            <a:avLst>
              <a:gd name="adj" fmla="val 6533"/>
            </a:avLst>
          </a:prstGeom>
          <a:solidFill>
            <a:srgbClr val="102337"/>
          </a:solidFill>
          <a:ln w="12700">
            <a:solidFill>
              <a:srgbClr val="2E4860">
                <a:alpha val="90000"/>
              </a:srgbClr>
            </a:solidFill>
            <a:prstDash val="solid"/>
          </a:ln>
        </p:spPr>
        <p:txBody>
          <a:bodyPr/>
          <a:lstStyle/>
          <a:p>
            <a:endParaRPr lang="pt-BR"/>
          </a:p>
        </p:txBody>
      </p:sp>
      <p:sp>
        <p:nvSpPr>
          <p:cNvPr id="22" name="Shape 20"/>
          <p:cNvSpPr/>
          <p:nvPr/>
        </p:nvSpPr>
        <p:spPr>
          <a:xfrm>
            <a:off x="6547104" y="3172968"/>
            <a:ext cx="50292" cy="1819656"/>
          </a:xfrm>
          <a:prstGeom prst="rect">
            <a:avLst/>
          </a:prstGeom>
          <a:solidFill>
            <a:srgbClr val="37C4F3"/>
          </a:solidFill>
          <a:ln w="12700">
            <a:solidFill>
              <a:srgbClr val="37C4F3">
                <a:alpha val="0"/>
              </a:srgbClr>
            </a:solidFill>
            <a:prstDash val="solid"/>
          </a:ln>
        </p:spPr>
        <p:txBody>
          <a:bodyPr/>
          <a:lstStyle/>
          <a:p>
            <a:endParaRPr lang="pt-BR"/>
          </a:p>
        </p:txBody>
      </p:sp>
      <p:sp>
        <p:nvSpPr>
          <p:cNvPr id="23" name="Text 21"/>
          <p:cNvSpPr/>
          <p:nvPr/>
        </p:nvSpPr>
        <p:spPr>
          <a:xfrm>
            <a:off x="6766560" y="3346704"/>
            <a:ext cx="4251960" cy="338328"/>
          </a:xfrm>
          <a:prstGeom prst="rect">
            <a:avLst/>
          </a:prstGeom>
          <a:noFill/>
          <a:ln/>
        </p:spPr>
        <p:txBody>
          <a:bodyPr wrap="square" lIns="0" tIns="0" rIns="0" bIns="0" rtlCol="0" anchor="ctr">
            <a:normAutofit/>
          </a:bodyPr>
          <a:lstStyle/>
          <a:p>
            <a:pPr marL="0" indent="0" algn="l">
              <a:buNone/>
            </a:pPr>
            <a:r>
              <a:rPr lang="en-US" sz="1900" b="1" dirty="0">
                <a:solidFill>
                  <a:srgbClr val="37C4F3"/>
                </a:solidFill>
                <a:latin typeface="Aptos" pitchFamily="34" charset="0"/>
                <a:ea typeface="Aptos" pitchFamily="34" charset="-122"/>
                <a:cs typeface="Aptos" pitchFamily="34" charset="-120"/>
              </a:rPr>
              <a:t>CHUNK 2</a:t>
            </a:r>
            <a:endParaRPr lang="en-US" sz="1900" dirty="0"/>
          </a:p>
        </p:txBody>
      </p:sp>
      <p:sp>
        <p:nvSpPr>
          <p:cNvPr id="24" name="Text 22"/>
          <p:cNvSpPr/>
          <p:nvPr/>
        </p:nvSpPr>
        <p:spPr>
          <a:xfrm>
            <a:off x="6766560" y="3886200"/>
            <a:ext cx="4224528" cy="996696"/>
          </a:xfrm>
          <a:prstGeom prst="rect">
            <a:avLst/>
          </a:prstGeom>
          <a:noFill/>
          <a:ln/>
        </p:spPr>
        <p:txBody>
          <a:bodyPr wrap="square" lIns="0" tIns="0" rIns="0" bIns="0" rtlCol="0" anchor="t">
            <a:normAutofit/>
          </a:bodyPr>
          <a:lstStyle/>
          <a:p>
            <a:pPr marL="0" indent="0" algn="l">
              <a:buNone/>
            </a:pPr>
            <a:r>
              <a:rPr lang="en-US" sz="2400" dirty="0">
                <a:solidFill>
                  <a:srgbClr val="B8C6D5"/>
                </a:solidFill>
                <a:latin typeface="Aptos" pitchFamily="34" charset="0"/>
                <a:ea typeface="Aptos" pitchFamily="34" charset="-122"/>
                <a:cs typeface="Aptos" pitchFamily="34" charset="-120"/>
              </a:rPr>
              <a:t>Monitor</a:t>
            </a:r>
            <a:endParaRPr lang="en-US" sz="2400" dirty="0"/>
          </a:p>
        </p:txBody>
      </p:sp>
      <p:sp>
        <p:nvSpPr>
          <p:cNvPr id="25" name="Text 23"/>
          <p:cNvSpPr/>
          <p:nvPr/>
        </p:nvSpPr>
        <p:spPr>
          <a:xfrm>
            <a:off x="1024128" y="5413248"/>
            <a:ext cx="10149840" cy="374904"/>
          </a:xfrm>
          <a:prstGeom prst="rect">
            <a:avLst/>
          </a:prstGeom>
          <a:noFill/>
          <a:ln/>
        </p:spPr>
        <p:txBody>
          <a:bodyPr wrap="square" lIns="0" tIns="0" rIns="0" bIns="0" rtlCol="0" anchor="ctr">
            <a:normAutofit/>
          </a:bodyPr>
          <a:lstStyle/>
          <a:p>
            <a:pPr marL="0" indent="0" algn="ctr">
              <a:buNone/>
            </a:pPr>
            <a:r>
              <a:rPr lang="en-US" sz="1850" dirty="0">
                <a:solidFill>
                  <a:srgbClr val="B8C6D5"/>
                </a:solidFill>
                <a:latin typeface="Aptos" pitchFamily="34" charset="0"/>
                <a:ea typeface="Aptos" pitchFamily="34" charset="-122"/>
                <a:cs typeface="Aptos" pitchFamily="34" charset="-120"/>
              </a:rPr>
              <a:t>Um último chunk pode ter menos itens que o tamanho configurado.</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BE68"/>
          </a:solidFill>
          <a:ln w="12700">
            <a:solidFill>
              <a:srgbClr val="FFBE68">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FFBE68"/>
                </a:solidFill>
                <a:latin typeface="Aptos" pitchFamily="34" charset="0"/>
                <a:ea typeface="Aptos" pitchFamily="34" charset="-122"/>
                <a:cs typeface="Aptos" pitchFamily="34" charset="-120"/>
              </a:rPr>
              <a:t>EXECUÇÃO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14</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Entendendo o commit</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Commit confirma a transação do chunk; falha antes da confirmação implica rollback.</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9808" y="2075688"/>
            <a:ext cx="10698480" cy="1225296"/>
          </a:xfrm>
          <a:prstGeom prst="roundRect">
            <a:avLst>
              <a:gd name="adj" fmla="val 9701"/>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1042416" y="2276856"/>
            <a:ext cx="4663440" cy="283464"/>
          </a:xfrm>
          <a:prstGeom prst="rect">
            <a:avLst/>
          </a:prstGeom>
          <a:noFill/>
          <a:ln/>
        </p:spPr>
        <p:txBody>
          <a:bodyPr wrap="square" lIns="0" tIns="0" rIns="0" bIns="0" rtlCol="0" anchor="ctr">
            <a:normAutofit/>
          </a:bodyPr>
          <a:lstStyle/>
          <a:p>
            <a:pPr marL="0" indent="0" algn="l">
              <a:buNone/>
            </a:pPr>
            <a:r>
              <a:rPr lang="en-US" sz="1500" b="1" dirty="0">
                <a:solidFill>
                  <a:srgbClr val="4FE0B5"/>
                </a:solidFill>
                <a:latin typeface="Aptos" pitchFamily="34" charset="0"/>
                <a:ea typeface="Aptos" pitchFamily="34" charset="-122"/>
                <a:cs typeface="Aptos" pitchFamily="34" charset="-120"/>
              </a:rPr>
              <a:t>TRANSAÇÃO · CHUNK 1</a:t>
            </a:r>
            <a:endParaRPr lang="en-US" sz="1500" dirty="0"/>
          </a:p>
        </p:txBody>
      </p:sp>
      <p:sp>
        <p:nvSpPr>
          <p:cNvPr id="13" name="Shape 11"/>
          <p:cNvSpPr/>
          <p:nvPr/>
        </p:nvSpPr>
        <p:spPr>
          <a:xfrm>
            <a:off x="1115568" y="2752344"/>
            <a:ext cx="2103120" cy="402336"/>
          </a:xfrm>
          <a:prstGeom prst="roundRect">
            <a:avLst>
              <a:gd name="adj" fmla="val 29545"/>
            </a:avLst>
          </a:prstGeom>
          <a:solidFill>
            <a:srgbClr val="142C43"/>
          </a:solidFill>
          <a:ln w="12700">
            <a:solidFill>
              <a:srgbClr val="2E4860">
                <a:alpha val="90000"/>
              </a:srgbClr>
            </a:solidFill>
            <a:prstDash val="solid"/>
          </a:ln>
        </p:spPr>
        <p:txBody>
          <a:bodyPr/>
          <a:lstStyle/>
          <a:p>
            <a:endParaRPr lang="pt-BR"/>
          </a:p>
        </p:txBody>
      </p:sp>
      <p:sp>
        <p:nvSpPr>
          <p:cNvPr id="14" name="Text 12"/>
          <p:cNvSpPr/>
          <p:nvPr/>
        </p:nvSpPr>
        <p:spPr>
          <a:xfrm>
            <a:off x="1207008" y="2843784"/>
            <a:ext cx="1911096" cy="201168"/>
          </a:xfrm>
          <a:prstGeom prst="rect">
            <a:avLst/>
          </a:prstGeom>
          <a:noFill/>
          <a:ln/>
        </p:spPr>
        <p:txBody>
          <a:bodyPr wrap="square" lIns="0" tIns="0" rIns="0" bIns="0" rtlCol="0" anchor="ctr">
            <a:normAutofit/>
          </a:bodyPr>
          <a:lstStyle/>
          <a:p>
            <a:pPr marL="0" indent="0" algn="ctr">
              <a:buNone/>
            </a:pPr>
            <a:r>
              <a:rPr lang="en-US" sz="1450" b="1" dirty="0">
                <a:solidFill>
                  <a:srgbClr val="F4F8FC"/>
                </a:solidFill>
                <a:latin typeface="Aptos" pitchFamily="34" charset="0"/>
                <a:ea typeface="Aptos" pitchFamily="34" charset="-122"/>
                <a:cs typeface="Aptos" pitchFamily="34" charset="-120"/>
              </a:rPr>
              <a:t>Teclado</a:t>
            </a:r>
            <a:endParaRPr lang="en-US" sz="1450" dirty="0"/>
          </a:p>
        </p:txBody>
      </p:sp>
      <p:sp>
        <p:nvSpPr>
          <p:cNvPr id="15" name="Shape 13"/>
          <p:cNvSpPr/>
          <p:nvPr/>
        </p:nvSpPr>
        <p:spPr>
          <a:xfrm>
            <a:off x="3392424" y="284378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6" name="Shape 14"/>
          <p:cNvSpPr/>
          <p:nvPr/>
        </p:nvSpPr>
        <p:spPr>
          <a:xfrm>
            <a:off x="3822192" y="2752344"/>
            <a:ext cx="2103120" cy="402336"/>
          </a:xfrm>
          <a:prstGeom prst="roundRect">
            <a:avLst>
              <a:gd name="adj" fmla="val 29545"/>
            </a:avLst>
          </a:prstGeom>
          <a:solidFill>
            <a:srgbClr val="142C43"/>
          </a:solidFill>
          <a:ln w="12700">
            <a:solidFill>
              <a:srgbClr val="2E4860">
                <a:alpha val="90000"/>
              </a:srgbClr>
            </a:solidFill>
            <a:prstDash val="solid"/>
          </a:ln>
        </p:spPr>
        <p:txBody>
          <a:bodyPr/>
          <a:lstStyle/>
          <a:p>
            <a:endParaRPr lang="pt-BR"/>
          </a:p>
        </p:txBody>
      </p:sp>
      <p:sp>
        <p:nvSpPr>
          <p:cNvPr id="17" name="Text 15"/>
          <p:cNvSpPr/>
          <p:nvPr/>
        </p:nvSpPr>
        <p:spPr>
          <a:xfrm>
            <a:off x="3913632" y="2843784"/>
            <a:ext cx="1911096" cy="201168"/>
          </a:xfrm>
          <a:prstGeom prst="rect">
            <a:avLst/>
          </a:prstGeom>
          <a:noFill/>
          <a:ln/>
        </p:spPr>
        <p:txBody>
          <a:bodyPr wrap="square" lIns="0" tIns="0" rIns="0" bIns="0" rtlCol="0" anchor="ctr">
            <a:normAutofit/>
          </a:bodyPr>
          <a:lstStyle/>
          <a:p>
            <a:pPr marL="0" indent="0" algn="ctr">
              <a:buNone/>
            </a:pPr>
            <a:r>
              <a:rPr lang="en-US" sz="1450" b="1" dirty="0">
                <a:solidFill>
                  <a:srgbClr val="F4F8FC"/>
                </a:solidFill>
                <a:latin typeface="Aptos" pitchFamily="34" charset="0"/>
                <a:ea typeface="Aptos" pitchFamily="34" charset="-122"/>
                <a:cs typeface="Aptos" pitchFamily="34" charset="-120"/>
              </a:rPr>
              <a:t>Mouse</a:t>
            </a:r>
            <a:endParaRPr lang="en-US" sz="1450" dirty="0"/>
          </a:p>
        </p:txBody>
      </p:sp>
      <p:sp>
        <p:nvSpPr>
          <p:cNvPr id="18" name="Shape 16"/>
          <p:cNvSpPr/>
          <p:nvPr/>
        </p:nvSpPr>
        <p:spPr>
          <a:xfrm>
            <a:off x="6099048" y="284378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9" name="Shape 17"/>
          <p:cNvSpPr/>
          <p:nvPr/>
        </p:nvSpPr>
        <p:spPr>
          <a:xfrm>
            <a:off x="6528816" y="2752344"/>
            <a:ext cx="2103120" cy="402336"/>
          </a:xfrm>
          <a:prstGeom prst="roundRect">
            <a:avLst>
              <a:gd name="adj" fmla="val 29545"/>
            </a:avLst>
          </a:prstGeom>
          <a:solidFill>
            <a:srgbClr val="142C43"/>
          </a:solidFill>
          <a:ln w="12700">
            <a:solidFill>
              <a:srgbClr val="2E4860">
                <a:alpha val="90000"/>
              </a:srgbClr>
            </a:solidFill>
            <a:prstDash val="solid"/>
          </a:ln>
        </p:spPr>
        <p:txBody>
          <a:bodyPr/>
          <a:lstStyle/>
          <a:p>
            <a:endParaRPr lang="pt-BR"/>
          </a:p>
        </p:txBody>
      </p:sp>
      <p:sp>
        <p:nvSpPr>
          <p:cNvPr id="20" name="Text 18"/>
          <p:cNvSpPr/>
          <p:nvPr/>
        </p:nvSpPr>
        <p:spPr>
          <a:xfrm>
            <a:off x="6620256" y="2843784"/>
            <a:ext cx="1911096" cy="201168"/>
          </a:xfrm>
          <a:prstGeom prst="rect">
            <a:avLst/>
          </a:prstGeom>
          <a:noFill/>
          <a:ln/>
        </p:spPr>
        <p:txBody>
          <a:bodyPr wrap="square" lIns="0" tIns="0" rIns="0" bIns="0" rtlCol="0" anchor="ctr">
            <a:normAutofit/>
          </a:bodyPr>
          <a:lstStyle/>
          <a:p>
            <a:pPr marL="0" indent="0" algn="ctr">
              <a:buNone/>
            </a:pPr>
            <a:r>
              <a:rPr lang="en-US" sz="1450" b="1" dirty="0">
                <a:solidFill>
                  <a:srgbClr val="F4F8FC"/>
                </a:solidFill>
                <a:latin typeface="Aptos" pitchFamily="34" charset="0"/>
                <a:ea typeface="Aptos" pitchFamily="34" charset="-122"/>
                <a:cs typeface="Aptos" pitchFamily="34" charset="-120"/>
              </a:rPr>
              <a:t>Writer</a:t>
            </a:r>
            <a:endParaRPr lang="en-US" sz="1450" dirty="0"/>
          </a:p>
        </p:txBody>
      </p:sp>
      <p:sp>
        <p:nvSpPr>
          <p:cNvPr id="21" name="Shape 19"/>
          <p:cNvSpPr/>
          <p:nvPr/>
        </p:nvSpPr>
        <p:spPr>
          <a:xfrm>
            <a:off x="8805672" y="2843784"/>
            <a:ext cx="2011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22" name="Shape 20"/>
          <p:cNvSpPr/>
          <p:nvPr/>
        </p:nvSpPr>
        <p:spPr>
          <a:xfrm>
            <a:off x="9235440" y="2752344"/>
            <a:ext cx="2103120" cy="402336"/>
          </a:xfrm>
          <a:prstGeom prst="roundRect">
            <a:avLst>
              <a:gd name="adj" fmla="val 29545"/>
            </a:avLst>
          </a:prstGeom>
          <a:solidFill>
            <a:srgbClr val="174E48"/>
          </a:solidFill>
          <a:ln w="12700">
            <a:solidFill>
              <a:srgbClr val="2E4860">
                <a:alpha val="90000"/>
              </a:srgbClr>
            </a:solidFill>
            <a:prstDash val="solid"/>
          </a:ln>
        </p:spPr>
        <p:txBody>
          <a:bodyPr/>
          <a:lstStyle/>
          <a:p>
            <a:endParaRPr lang="pt-BR"/>
          </a:p>
        </p:txBody>
      </p:sp>
      <p:sp>
        <p:nvSpPr>
          <p:cNvPr id="23" name="Text 21"/>
          <p:cNvSpPr/>
          <p:nvPr/>
        </p:nvSpPr>
        <p:spPr>
          <a:xfrm>
            <a:off x="9326880" y="2843784"/>
            <a:ext cx="1911096" cy="201168"/>
          </a:xfrm>
          <a:prstGeom prst="rect">
            <a:avLst/>
          </a:prstGeom>
          <a:noFill/>
          <a:ln/>
        </p:spPr>
        <p:txBody>
          <a:bodyPr wrap="square" lIns="0" tIns="0" rIns="0" bIns="0" rtlCol="0" anchor="ctr">
            <a:normAutofit/>
          </a:bodyPr>
          <a:lstStyle/>
          <a:p>
            <a:pPr marL="0" indent="0" algn="ctr">
              <a:buNone/>
            </a:pPr>
            <a:r>
              <a:rPr lang="en-US" sz="1450" b="1" dirty="0">
                <a:solidFill>
                  <a:srgbClr val="4FE0B5"/>
                </a:solidFill>
                <a:latin typeface="Aptos" pitchFamily="34" charset="0"/>
                <a:ea typeface="Aptos" pitchFamily="34" charset="-122"/>
                <a:cs typeface="Aptos" pitchFamily="34" charset="-120"/>
              </a:rPr>
              <a:t>COMMIT</a:t>
            </a:r>
            <a:endParaRPr lang="en-US" sz="1450" dirty="0"/>
          </a:p>
        </p:txBody>
      </p:sp>
      <p:sp>
        <p:nvSpPr>
          <p:cNvPr id="24" name="Shape 22"/>
          <p:cNvSpPr/>
          <p:nvPr/>
        </p:nvSpPr>
        <p:spPr>
          <a:xfrm>
            <a:off x="768096" y="3941064"/>
            <a:ext cx="10680192" cy="1271016"/>
          </a:xfrm>
          <a:prstGeom prst="roundRect">
            <a:avLst>
              <a:gd name="adj" fmla="val 9353"/>
            </a:avLst>
          </a:prstGeom>
          <a:solidFill>
            <a:srgbClr val="0B1C2E"/>
          </a:solidFill>
          <a:ln w="12700">
            <a:solidFill>
              <a:srgbClr val="2E4860">
                <a:alpha val="90000"/>
              </a:srgbClr>
            </a:solidFill>
            <a:prstDash val="solid"/>
          </a:ln>
        </p:spPr>
        <p:txBody>
          <a:bodyPr/>
          <a:lstStyle/>
          <a:p>
            <a:endParaRPr lang="pt-BR"/>
          </a:p>
        </p:txBody>
      </p:sp>
      <p:sp>
        <p:nvSpPr>
          <p:cNvPr id="25" name="Text 23"/>
          <p:cNvSpPr/>
          <p:nvPr/>
        </p:nvSpPr>
        <p:spPr>
          <a:xfrm>
            <a:off x="1042416" y="4142232"/>
            <a:ext cx="9052560" cy="320040"/>
          </a:xfrm>
          <a:prstGeom prst="rect">
            <a:avLst/>
          </a:prstGeom>
          <a:noFill/>
          <a:ln/>
        </p:spPr>
        <p:txBody>
          <a:bodyPr wrap="square" lIns="0" tIns="0" rIns="0" bIns="0" rtlCol="0" anchor="ctr">
            <a:normAutofit/>
          </a:bodyPr>
          <a:lstStyle/>
          <a:p>
            <a:pPr marL="0" indent="0" algn="l">
              <a:buNone/>
            </a:pPr>
            <a:r>
              <a:rPr lang="en-US" sz="1800" b="1" dirty="0">
                <a:solidFill>
                  <a:srgbClr val="FFBE68"/>
                </a:solidFill>
                <a:latin typeface="Aptos" pitchFamily="34" charset="0"/>
                <a:ea typeface="Aptos" pitchFamily="34" charset="-122"/>
                <a:cs typeface="Aptos" pitchFamily="34" charset="-120"/>
              </a:rPr>
              <a:t>SE HOUVER FALHA ANTES DO COMMIT</a:t>
            </a:r>
            <a:endParaRPr lang="en-US" sz="1800" dirty="0"/>
          </a:p>
        </p:txBody>
      </p:sp>
      <p:sp>
        <p:nvSpPr>
          <p:cNvPr id="26" name="Text 24"/>
          <p:cNvSpPr/>
          <p:nvPr/>
        </p:nvSpPr>
        <p:spPr>
          <a:xfrm>
            <a:off x="1051560" y="4572000"/>
            <a:ext cx="9811512" cy="329184"/>
          </a:xfrm>
          <a:prstGeom prst="rect">
            <a:avLst/>
          </a:prstGeom>
          <a:noFill/>
          <a:ln/>
        </p:spPr>
        <p:txBody>
          <a:bodyPr wrap="square" lIns="0" tIns="0" rIns="0" bIns="0" rtlCol="0" anchor="ctr">
            <a:normAutofit/>
          </a:bodyPr>
          <a:lstStyle/>
          <a:p>
            <a:pPr marL="0" indent="0" algn="l">
              <a:buNone/>
            </a:pPr>
            <a:r>
              <a:rPr lang="en-US" sz="1900" dirty="0">
                <a:solidFill>
                  <a:srgbClr val="F4F8FC"/>
                </a:solidFill>
                <a:latin typeface="Aptos" pitchFamily="34" charset="0"/>
                <a:ea typeface="Aptos" pitchFamily="34" charset="-122"/>
                <a:cs typeface="Aptos" pitchFamily="34" charset="-120"/>
              </a:rPr>
              <a:t>Rollback da transação → sem confirmação daquela unidade</a:t>
            </a:r>
            <a:endParaRPr lang="en-US" sz="1900" dirty="0"/>
          </a:p>
        </p:txBody>
      </p:sp>
      <p:sp>
        <p:nvSpPr>
          <p:cNvPr id="27" name="Text 25"/>
          <p:cNvSpPr/>
          <p:nvPr/>
        </p:nvSpPr>
        <p:spPr>
          <a:xfrm>
            <a:off x="1042416" y="5568696"/>
            <a:ext cx="10241280" cy="347472"/>
          </a:xfrm>
          <a:prstGeom prst="rect">
            <a:avLst/>
          </a:prstGeom>
          <a:noFill/>
          <a:ln/>
        </p:spPr>
        <p:txBody>
          <a:bodyPr wrap="square" lIns="0" tIns="0" rIns="0" bIns="0" rtlCol="0" anchor="ctr">
            <a:normAutofit/>
          </a:bodyPr>
          <a:lstStyle/>
          <a:p>
            <a:pPr marL="0" indent="0" algn="ctr">
              <a:buNone/>
            </a:pPr>
            <a:r>
              <a:rPr lang="en-US" sz="1570" dirty="0">
                <a:solidFill>
                  <a:srgbClr val="B8C6D5"/>
                </a:solidFill>
                <a:latin typeface="Aptos" pitchFamily="34" charset="0"/>
                <a:ea typeface="Aptos" pitchFamily="34" charset="-122"/>
                <a:cs typeface="Aptos" pitchFamily="34" charset="-120"/>
              </a:rPr>
              <a:t>O rollback de escrita em arquivo exige cuidado: depende do Writer.</a:t>
            </a:r>
            <a:endParaRPr lang="en-US" sz="15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IMPLEMENTAÇÃO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15</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7 — Criar o Job</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Um Job pode ter vários Steps; nossa POC usa apenas um.</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2066544" y="1901952"/>
            <a:ext cx="8055864" cy="1115568"/>
          </a:xfrm>
          <a:prstGeom prst="roundRect">
            <a:avLst>
              <a:gd name="adj" fmla="val 10656"/>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2368296" y="2185416"/>
            <a:ext cx="7461504" cy="438912"/>
          </a:xfrm>
          <a:prstGeom prst="rect">
            <a:avLst/>
          </a:prstGeom>
          <a:noFill/>
          <a:ln/>
        </p:spPr>
        <p:txBody>
          <a:bodyPr wrap="square" lIns="0" tIns="0" rIns="0" bIns="0" rtlCol="0" anchor="ctr">
            <a:normAutofit/>
          </a:bodyPr>
          <a:lstStyle/>
          <a:p>
            <a:pPr marL="0" indent="0" algn="ctr">
              <a:buNone/>
            </a:pPr>
            <a:r>
              <a:rPr lang="en-US" sz="2800" b="1" dirty="0">
                <a:solidFill>
                  <a:srgbClr val="37C4F3"/>
                </a:solidFill>
                <a:latin typeface="Aptos" pitchFamily="34" charset="0"/>
                <a:ea typeface="Aptos" pitchFamily="34" charset="-122"/>
                <a:cs typeface="Aptos" pitchFamily="34" charset="-120"/>
              </a:rPr>
              <a:t>reajusteProdutoJob</a:t>
            </a:r>
            <a:endParaRPr lang="en-US" sz="2800" dirty="0"/>
          </a:p>
        </p:txBody>
      </p:sp>
      <p:sp>
        <p:nvSpPr>
          <p:cNvPr id="14" name="Shape 12"/>
          <p:cNvSpPr/>
          <p:nvPr/>
        </p:nvSpPr>
        <p:spPr>
          <a:xfrm>
            <a:off x="5879592" y="3379216"/>
            <a:ext cx="429768"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5" name="Shape 13"/>
          <p:cNvSpPr/>
          <p:nvPr/>
        </p:nvSpPr>
        <p:spPr>
          <a:xfrm>
            <a:off x="2487168" y="4005072"/>
            <a:ext cx="7214616" cy="1152144"/>
          </a:xfrm>
          <a:prstGeom prst="roundRect">
            <a:avLst>
              <a:gd name="adj" fmla="val 10317"/>
            </a:avLst>
          </a:prstGeom>
          <a:solidFill>
            <a:srgbClr val="102337"/>
          </a:solidFill>
          <a:ln w="12700">
            <a:solidFill>
              <a:srgbClr val="2E4860">
                <a:alpha val="90000"/>
              </a:srgbClr>
            </a:solidFill>
            <a:prstDash val="solid"/>
          </a:ln>
        </p:spPr>
        <p:txBody>
          <a:bodyPr/>
          <a:lstStyle/>
          <a:p>
            <a:endParaRPr lang="pt-BR"/>
          </a:p>
        </p:txBody>
      </p:sp>
      <p:sp>
        <p:nvSpPr>
          <p:cNvPr id="16" name="Text 14"/>
          <p:cNvSpPr/>
          <p:nvPr/>
        </p:nvSpPr>
        <p:spPr>
          <a:xfrm>
            <a:off x="2816352" y="4334256"/>
            <a:ext cx="6565392" cy="411480"/>
          </a:xfrm>
          <a:prstGeom prst="rect">
            <a:avLst/>
          </a:prstGeom>
          <a:noFill/>
          <a:ln/>
        </p:spPr>
        <p:txBody>
          <a:bodyPr wrap="square" lIns="0" tIns="0" rIns="0" bIns="0" rtlCol="0" anchor="ctr">
            <a:normAutofit/>
          </a:bodyPr>
          <a:lstStyle/>
          <a:p>
            <a:pPr marL="0" indent="0" algn="ctr">
              <a:buNone/>
            </a:pPr>
            <a:r>
              <a:rPr lang="en-US" sz="2600" b="1" dirty="0">
                <a:solidFill>
                  <a:srgbClr val="4FE0B5"/>
                </a:solidFill>
                <a:latin typeface="Aptos" pitchFamily="34" charset="0"/>
                <a:ea typeface="Aptos" pitchFamily="34" charset="-122"/>
                <a:cs typeface="Aptos" pitchFamily="34" charset="-120"/>
              </a:rPr>
              <a:t>reajusteProdutoStep</a:t>
            </a:r>
            <a:endParaRPr lang="en-US" sz="2600" dirty="0"/>
          </a:p>
        </p:txBody>
      </p:sp>
      <p:sp>
        <p:nvSpPr>
          <p:cNvPr id="17" name="Text 15"/>
          <p:cNvSpPr/>
          <p:nvPr/>
        </p:nvSpPr>
        <p:spPr>
          <a:xfrm>
            <a:off x="2816352" y="5477256"/>
            <a:ext cx="6665976" cy="283464"/>
          </a:xfrm>
          <a:prstGeom prst="rect">
            <a:avLst/>
          </a:prstGeom>
          <a:noFill/>
          <a:ln/>
        </p:spPr>
        <p:txBody>
          <a:bodyPr wrap="square" lIns="0" tIns="0" rIns="0" bIns="0" rtlCol="0" anchor="ctr">
            <a:normAutofit/>
          </a:bodyPr>
          <a:lstStyle/>
          <a:p>
            <a:pPr marL="0" indent="0" algn="ctr">
              <a:buNone/>
            </a:pPr>
            <a:r>
              <a:rPr lang="en-US" sz="1750" dirty="0">
                <a:solidFill>
                  <a:srgbClr val="B8C6D5"/>
                </a:solidFill>
                <a:latin typeface="Aptos" pitchFamily="34" charset="0"/>
                <a:ea typeface="Aptos" pitchFamily="34" charset="-122"/>
                <a:cs typeface="Aptos" pitchFamily="34" charset="-120"/>
              </a:rPr>
              <a:t>Reader  →  Processor  →  Writer</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BE68"/>
          </a:solidFill>
          <a:ln w="12700">
            <a:solidFill>
              <a:srgbClr val="FFBE68">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FFBE68"/>
                </a:solidFill>
                <a:latin typeface="Aptos" pitchFamily="34" charset="0"/>
                <a:ea typeface="Aptos" pitchFamily="34" charset="-122"/>
                <a:cs typeface="Aptos" pitchFamily="34" charset="-120"/>
              </a:rPr>
              <a:t>EXECUÇÃO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16</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8 — Executar ponta a ponta</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A evidência não é só a existência do arquivo: verifique status, contadores e conteúdo.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9808" y="1865376"/>
            <a:ext cx="10716768" cy="822960"/>
          </a:xfrm>
          <a:prstGeom prst="roundRect">
            <a:avLst>
              <a:gd name="adj" fmla="val 14444"/>
            </a:avLst>
          </a:prstGeom>
          <a:solidFill>
            <a:srgbClr val="0B1C2E"/>
          </a:solidFill>
          <a:ln w="12700">
            <a:solidFill>
              <a:srgbClr val="35526C">
                <a:alpha val="90000"/>
              </a:srgbClr>
            </a:solidFill>
            <a:prstDash val="solid"/>
          </a:ln>
        </p:spPr>
        <p:txBody>
          <a:bodyPr/>
          <a:lstStyle/>
          <a:p>
            <a:endParaRPr lang="pt-BR"/>
          </a:p>
        </p:txBody>
      </p:sp>
      <p:sp>
        <p:nvSpPr>
          <p:cNvPr id="12" name="Text 10"/>
          <p:cNvSpPr/>
          <p:nvPr/>
        </p:nvSpPr>
        <p:spPr>
          <a:xfrm>
            <a:off x="950976" y="2020824"/>
            <a:ext cx="9802368"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EXECUTAR</a:t>
            </a:r>
            <a:endParaRPr lang="en-US" sz="1050" dirty="0"/>
          </a:p>
        </p:txBody>
      </p:sp>
      <p:sp>
        <p:nvSpPr>
          <p:cNvPr id="13" name="Text 11"/>
          <p:cNvSpPr/>
          <p:nvPr/>
        </p:nvSpPr>
        <p:spPr>
          <a:xfrm>
            <a:off x="960120" y="2350008"/>
            <a:ext cx="10277856" cy="146304"/>
          </a:xfrm>
          <a:prstGeom prst="rect">
            <a:avLst/>
          </a:prstGeom>
          <a:noFill/>
          <a:ln/>
        </p:spPr>
        <p:txBody>
          <a:bodyPr wrap="square" lIns="0" tIns="0" rIns="0" bIns="0" rtlCol="0" anchor="t">
            <a:normAutofit/>
          </a:bodyPr>
          <a:lstStyle/>
          <a:p>
            <a:pPr marL="0" indent="0" algn="l">
              <a:buNone/>
            </a:pPr>
            <a:r>
              <a:rPr lang="en-US" sz="1900" dirty="0">
                <a:solidFill>
                  <a:srgbClr val="F4F8FC"/>
                </a:solidFill>
                <a:latin typeface="Aptos Mono" pitchFamily="34" charset="0"/>
                <a:ea typeface="Aptos Mono" pitchFamily="34" charset="-122"/>
                <a:cs typeface="Aptos Mono" pitchFamily="34" charset="-120"/>
              </a:rPr>
              <a:t>mvn spring-boot:run</a:t>
            </a:r>
            <a:endParaRPr lang="en-US" sz="1900" dirty="0"/>
          </a:p>
        </p:txBody>
      </p:sp>
      <p:sp>
        <p:nvSpPr>
          <p:cNvPr id="14" name="Shape 12"/>
          <p:cNvSpPr/>
          <p:nvPr/>
        </p:nvSpPr>
        <p:spPr>
          <a:xfrm>
            <a:off x="813816" y="3008376"/>
            <a:ext cx="3886200" cy="1353312"/>
          </a:xfrm>
          <a:prstGeom prst="roundRect">
            <a:avLst>
              <a:gd name="adj" fmla="val 8784"/>
            </a:avLst>
          </a:prstGeom>
          <a:solidFill>
            <a:srgbClr val="102337"/>
          </a:solidFill>
          <a:ln w="12700">
            <a:solidFill>
              <a:srgbClr val="2E4860">
                <a:alpha val="90000"/>
              </a:srgbClr>
            </a:solidFill>
            <a:prstDash val="solid"/>
          </a:ln>
        </p:spPr>
        <p:txBody>
          <a:bodyPr/>
          <a:lstStyle/>
          <a:p>
            <a:endParaRPr lang="pt-BR"/>
          </a:p>
        </p:txBody>
      </p:sp>
      <p:sp>
        <p:nvSpPr>
          <p:cNvPr id="15" name="Text 13"/>
          <p:cNvSpPr/>
          <p:nvPr/>
        </p:nvSpPr>
        <p:spPr>
          <a:xfrm>
            <a:off x="969264" y="3191256"/>
            <a:ext cx="3575304" cy="557784"/>
          </a:xfrm>
          <a:prstGeom prst="rect">
            <a:avLst/>
          </a:prstGeom>
          <a:noFill/>
          <a:ln/>
        </p:spPr>
        <p:txBody>
          <a:bodyPr wrap="square" lIns="0" tIns="0" rIns="0" bIns="0" rtlCol="0" anchor="ctr">
            <a:normAutofit/>
          </a:bodyPr>
          <a:lstStyle/>
          <a:p>
            <a:pPr marL="0" indent="0" algn="ctr">
              <a:buNone/>
            </a:pPr>
            <a:r>
              <a:rPr lang="en-US" sz="3300" b="1" dirty="0">
                <a:solidFill>
                  <a:srgbClr val="4FE0B5"/>
                </a:solidFill>
                <a:latin typeface="Aptos" pitchFamily="34" charset="0"/>
                <a:ea typeface="Aptos" pitchFamily="34" charset="-122"/>
                <a:cs typeface="Aptos" pitchFamily="34" charset="-120"/>
              </a:rPr>
              <a:t>COMPLETED</a:t>
            </a:r>
            <a:endParaRPr lang="en-US" sz="3300" dirty="0"/>
          </a:p>
        </p:txBody>
      </p:sp>
      <p:sp>
        <p:nvSpPr>
          <p:cNvPr id="16" name="Text 14"/>
          <p:cNvSpPr/>
          <p:nvPr/>
        </p:nvSpPr>
        <p:spPr>
          <a:xfrm>
            <a:off x="923544" y="3895344"/>
            <a:ext cx="3666744" cy="219456"/>
          </a:xfrm>
          <a:prstGeom prst="rect">
            <a:avLst/>
          </a:prstGeom>
          <a:noFill/>
          <a:ln/>
        </p:spPr>
        <p:txBody>
          <a:bodyPr wrap="square" lIns="0" tIns="0" rIns="0" bIns="0" rtlCol="0" anchor="ctr">
            <a:normAutofit/>
          </a:bodyPr>
          <a:lstStyle/>
          <a:p>
            <a:pPr marL="0" indent="0" algn="ctr">
              <a:buNone/>
            </a:pPr>
            <a:r>
              <a:rPr lang="en-US" sz="1250" dirty="0">
                <a:solidFill>
                  <a:srgbClr val="B8C6D5"/>
                </a:solidFill>
                <a:latin typeface="Aptos" pitchFamily="34" charset="0"/>
                <a:ea typeface="Aptos" pitchFamily="34" charset="-122"/>
                <a:cs typeface="Aptos" pitchFamily="34" charset="-120"/>
              </a:rPr>
              <a:t>STATUS DA EXECUÇÃO</a:t>
            </a:r>
            <a:endParaRPr lang="en-US" sz="1250" dirty="0"/>
          </a:p>
        </p:txBody>
      </p:sp>
      <p:sp>
        <p:nvSpPr>
          <p:cNvPr id="17" name="Shape 15"/>
          <p:cNvSpPr/>
          <p:nvPr/>
        </p:nvSpPr>
        <p:spPr>
          <a:xfrm>
            <a:off x="4809744" y="3008376"/>
            <a:ext cx="3099816" cy="1353312"/>
          </a:xfrm>
          <a:prstGeom prst="roundRect">
            <a:avLst>
              <a:gd name="adj" fmla="val 8784"/>
            </a:avLst>
          </a:prstGeom>
          <a:solidFill>
            <a:srgbClr val="102337"/>
          </a:solidFill>
          <a:ln w="12700">
            <a:solidFill>
              <a:srgbClr val="2E4860">
                <a:alpha val="90000"/>
              </a:srgbClr>
            </a:solidFill>
            <a:prstDash val="solid"/>
          </a:ln>
        </p:spPr>
        <p:txBody>
          <a:bodyPr/>
          <a:lstStyle/>
          <a:p>
            <a:endParaRPr lang="pt-BR"/>
          </a:p>
        </p:txBody>
      </p:sp>
      <p:sp>
        <p:nvSpPr>
          <p:cNvPr id="18" name="Text 16"/>
          <p:cNvSpPr/>
          <p:nvPr/>
        </p:nvSpPr>
        <p:spPr>
          <a:xfrm>
            <a:off x="4965192" y="3191256"/>
            <a:ext cx="2788920" cy="557784"/>
          </a:xfrm>
          <a:prstGeom prst="rect">
            <a:avLst/>
          </a:prstGeom>
          <a:noFill/>
          <a:ln/>
        </p:spPr>
        <p:txBody>
          <a:bodyPr wrap="square" lIns="0" tIns="0" rIns="0" bIns="0" rtlCol="0" anchor="ctr">
            <a:normAutofit/>
          </a:bodyPr>
          <a:lstStyle/>
          <a:p>
            <a:pPr marL="0" indent="0" algn="ctr">
              <a:buNone/>
            </a:pPr>
            <a:r>
              <a:rPr lang="en-US" sz="3300" b="1" dirty="0">
                <a:solidFill>
                  <a:srgbClr val="37C4F3"/>
                </a:solidFill>
                <a:latin typeface="Aptos" pitchFamily="34" charset="0"/>
                <a:ea typeface="Aptos" pitchFamily="34" charset="-122"/>
                <a:cs typeface="Aptos" pitchFamily="34" charset="-120"/>
              </a:rPr>
              <a:t>3</a:t>
            </a:r>
            <a:endParaRPr lang="en-US" sz="3300" dirty="0"/>
          </a:p>
        </p:txBody>
      </p:sp>
      <p:sp>
        <p:nvSpPr>
          <p:cNvPr id="19" name="Text 17"/>
          <p:cNvSpPr/>
          <p:nvPr/>
        </p:nvSpPr>
        <p:spPr>
          <a:xfrm>
            <a:off x="4919472" y="3895344"/>
            <a:ext cx="2880360" cy="219456"/>
          </a:xfrm>
          <a:prstGeom prst="rect">
            <a:avLst/>
          </a:prstGeom>
          <a:noFill/>
          <a:ln/>
        </p:spPr>
        <p:txBody>
          <a:bodyPr wrap="square" lIns="0" tIns="0" rIns="0" bIns="0" rtlCol="0" anchor="ctr">
            <a:normAutofit/>
          </a:bodyPr>
          <a:lstStyle/>
          <a:p>
            <a:pPr marL="0" indent="0" algn="ctr">
              <a:buNone/>
            </a:pPr>
            <a:r>
              <a:rPr lang="en-US" sz="1250" dirty="0">
                <a:solidFill>
                  <a:srgbClr val="B8C6D5"/>
                </a:solidFill>
                <a:latin typeface="Aptos" pitchFamily="34" charset="0"/>
                <a:ea typeface="Aptos" pitchFamily="34" charset="-122"/>
                <a:cs typeface="Aptos" pitchFamily="34" charset="-120"/>
              </a:rPr>
              <a:t>READ_COUNT</a:t>
            </a:r>
            <a:endParaRPr lang="en-US" sz="1250" dirty="0"/>
          </a:p>
        </p:txBody>
      </p:sp>
      <p:sp>
        <p:nvSpPr>
          <p:cNvPr id="20" name="Shape 18"/>
          <p:cNvSpPr/>
          <p:nvPr/>
        </p:nvSpPr>
        <p:spPr>
          <a:xfrm>
            <a:off x="8037576" y="3008376"/>
            <a:ext cx="3099816" cy="1353312"/>
          </a:xfrm>
          <a:prstGeom prst="roundRect">
            <a:avLst>
              <a:gd name="adj" fmla="val 8784"/>
            </a:avLst>
          </a:prstGeom>
          <a:solidFill>
            <a:srgbClr val="102337"/>
          </a:solidFill>
          <a:ln w="12700">
            <a:solidFill>
              <a:srgbClr val="2E4860">
                <a:alpha val="90000"/>
              </a:srgbClr>
            </a:solidFill>
            <a:prstDash val="solid"/>
          </a:ln>
        </p:spPr>
        <p:txBody>
          <a:bodyPr/>
          <a:lstStyle/>
          <a:p>
            <a:endParaRPr lang="pt-BR"/>
          </a:p>
        </p:txBody>
      </p:sp>
      <p:sp>
        <p:nvSpPr>
          <p:cNvPr id="21" name="Text 19"/>
          <p:cNvSpPr/>
          <p:nvPr/>
        </p:nvSpPr>
        <p:spPr>
          <a:xfrm>
            <a:off x="8193024" y="3191256"/>
            <a:ext cx="2788920" cy="557784"/>
          </a:xfrm>
          <a:prstGeom prst="rect">
            <a:avLst/>
          </a:prstGeom>
          <a:noFill/>
          <a:ln/>
        </p:spPr>
        <p:txBody>
          <a:bodyPr wrap="square" lIns="0" tIns="0" rIns="0" bIns="0" rtlCol="0" anchor="ctr">
            <a:normAutofit/>
          </a:bodyPr>
          <a:lstStyle/>
          <a:p>
            <a:pPr marL="0" indent="0" algn="ctr">
              <a:buNone/>
            </a:pPr>
            <a:r>
              <a:rPr lang="en-US" sz="3300" b="1" dirty="0">
                <a:solidFill>
                  <a:srgbClr val="4FE0B5"/>
                </a:solidFill>
                <a:latin typeface="Aptos" pitchFamily="34" charset="0"/>
                <a:ea typeface="Aptos" pitchFamily="34" charset="-122"/>
                <a:cs typeface="Aptos" pitchFamily="34" charset="-120"/>
              </a:rPr>
              <a:t>3</a:t>
            </a:r>
            <a:endParaRPr lang="en-US" sz="3300" dirty="0"/>
          </a:p>
        </p:txBody>
      </p:sp>
      <p:sp>
        <p:nvSpPr>
          <p:cNvPr id="22" name="Text 20"/>
          <p:cNvSpPr/>
          <p:nvPr/>
        </p:nvSpPr>
        <p:spPr>
          <a:xfrm>
            <a:off x="8147304" y="3895344"/>
            <a:ext cx="2880360" cy="219456"/>
          </a:xfrm>
          <a:prstGeom prst="rect">
            <a:avLst/>
          </a:prstGeom>
          <a:noFill/>
          <a:ln/>
        </p:spPr>
        <p:txBody>
          <a:bodyPr wrap="square" lIns="0" tIns="0" rIns="0" bIns="0" rtlCol="0" anchor="ctr">
            <a:normAutofit/>
          </a:bodyPr>
          <a:lstStyle/>
          <a:p>
            <a:pPr marL="0" indent="0" algn="ctr">
              <a:buNone/>
            </a:pPr>
            <a:r>
              <a:rPr lang="en-US" sz="1250" dirty="0">
                <a:solidFill>
                  <a:srgbClr val="B8C6D5"/>
                </a:solidFill>
                <a:latin typeface="Aptos" pitchFamily="34" charset="0"/>
                <a:ea typeface="Aptos" pitchFamily="34" charset="-122"/>
                <a:cs typeface="Aptos" pitchFamily="34" charset="-120"/>
              </a:rPr>
              <a:t>WRITE_COUNT</a:t>
            </a:r>
            <a:endParaRPr lang="en-US" sz="1250" dirty="0"/>
          </a:p>
        </p:txBody>
      </p:sp>
      <p:sp>
        <p:nvSpPr>
          <p:cNvPr id="23" name="Shape 21"/>
          <p:cNvSpPr/>
          <p:nvPr/>
        </p:nvSpPr>
        <p:spPr>
          <a:xfrm>
            <a:off x="2880360" y="4709160"/>
            <a:ext cx="6409944" cy="1417320"/>
          </a:xfrm>
          <a:prstGeom prst="roundRect">
            <a:avLst>
              <a:gd name="adj" fmla="val 8387"/>
            </a:avLst>
          </a:prstGeom>
          <a:solidFill>
            <a:srgbClr val="142C43"/>
          </a:solidFill>
          <a:ln w="12700">
            <a:solidFill>
              <a:srgbClr val="2E4860">
                <a:alpha val="90000"/>
              </a:srgbClr>
            </a:solidFill>
            <a:prstDash val="solid"/>
          </a:ln>
        </p:spPr>
        <p:txBody>
          <a:bodyPr/>
          <a:lstStyle/>
          <a:p>
            <a:endParaRPr lang="pt-BR"/>
          </a:p>
        </p:txBody>
      </p:sp>
      <p:sp>
        <p:nvSpPr>
          <p:cNvPr id="24" name="Text 22"/>
          <p:cNvSpPr/>
          <p:nvPr/>
        </p:nvSpPr>
        <p:spPr>
          <a:xfrm>
            <a:off x="2999232" y="4791456"/>
            <a:ext cx="749808"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ID</a:t>
            </a:r>
            <a:endParaRPr lang="en-US" sz="1220" dirty="0"/>
          </a:p>
        </p:txBody>
      </p:sp>
      <p:sp>
        <p:nvSpPr>
          <p:cNvPr id="25" name="Text 23"/>
          <p:cNvSpPr/>
          <p:nvPr/>
        </p:nvSpPr>
        <p:spPr>
          <a:xfrm>
            <a:off x="3913632" y="4791456"/>
            <a:ext cx="2596896"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NOME</a:t>
            </a:r>
            <a:endParaRPr lang="en-US" sz="1220" dirty="0"/>
          </a:p>
        </p:txBody>
      </p:sp>
      <p:sp>
        <p:nvSpPr>
          <p:cNvPr id="26" name="Text 24"/>
          <p:cNvSpPr/>
          <p:nvPr/>
        </p:nvSpPr>
        <p:spPr>
          <a:xfrm>
            <a:off x="6675120" y="4791456"/>
            <a:ext cx="2569464"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PREÇO FINAL</a:t>
            </a:r>
            <a:endParaRPr lang="en-US" sz="1220" dirty="0"/>
          </a:p>
        </p:txBody>
      </p:sp>
      <p:sp>
        <p:nvSpPr>
          <p:cNvPr id="27" name="Shape 25"/>
          <p:cNvSpPr/>
          <p:nvPr/>
        </p:nvSpPr>
        <p:spPr>
          <a:xfrm>
            <a:off x="2880360" y="5029200"/>
            <a:ext cx="6409944" cy="0"/>
          </a:xfrm>
          <a:prstGeom prst="line">
            <a:avLst/>
          </a:prstGeom>
          <a:noFill/>
          <a:ln w="19050">
            <a:solidFill>
              <a:srgbClr val="2E4860"/>
            </a:solidFill>
            <a:prstDash val="solid"/>
          </a:ln>
        </p:spPr>
        <p:txBody>
          <a:bodyPr/>
          <a:lstStyle/>
          <a:p>
            <a:endParaRPr lang="pt-BR"/>
          </a:p>
        </p:txBody>
      </p:sp>
      <p:sp>
        <p:nvSpPr>
          <p:cNvPr id="28" name="Text 26"/>
          <p:cNvSpPr/>
          <p:nvPr/>
        </p:nvSpPr>
        <p:spPr>
          <a:xfrm>
            <a:off x="2999232" y="5097780"/>
            <a:ext cx="740664"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1</a:t>
            </a:r>
            <a:endParaRPr lang="en-US" sz="1500" dirty="0"/>
          </a:p>
        </p:txBody>
      </p:sp>
      <p:sp>
        <p:nvSpPr>
          <p:cNvPr id="29" name="Text 27"/>
          <p:cNvSpPr/>
          <p:nvPr/>
        </p:nvSpPr>
        <p:spPr>
          <a:xfrm>
            <a:off x="3913632" y="5097780"/>
            <a:ext cx="2587752"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Teclado</a:t>
            </a:r>
            <a:endParaRPr lang="en-US" sz="1500" dirty="0"/>
          </a:p>
        </p:txBody>
      </p:sp>
      <p:sp>
        <p:nvSpPr>
          <p:cNvPr id="30" name="Text 28"/>
          <p:cNvSpPr/>
          <p:nvPr/>
        </p:nvSpPr>
        <p:spPr>
          <a:xfrm>
            <a:off x="6675120" y="5097780"/>
            <a:ext cx="2560320"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110.00</a:t>
            </a:r>
            <a:endParaRPr lang="en-US" sz="1500" dirty="0"/>
          </a:p>
        </p:txBody>
      </p:sp>
      <p:sp>
        <p:nvSpPr>
          <p:cNvPr id="31" name="Shape 29"/>
          <p:cNvSpPr/>
          <p:nvPr/>
        </p:nvSpPr>
        <p:spPr>
          <a:xfrm>
            <a:off x="2880360" y="5394960"/>
            <a:ext cx="6409944" cy="0"/>
          </a:xfrm>
          <a:prstGeom prst="line">
            <a:avLst/>
          </a:prstGeom>
          <a:noFill/>
          <a:ln w="5715">
            <a:solidFill>
              <a:srgbClr val="2E4860"/>
            </a:solidFill>
            <a:prstDash val="solid"/>
          </a:ln>
        </p:spPr>
        <p:txBody>
          <a:bodyPr/>
          <a:lstStyle/>
          <a:p>
            <a:endParaRPr lang="pt-BR"/>
          </a:p>
        </p:txBody>
      </p:sp>
      <p:sp>
        <p:nvSpPr>
          <p:cNvPr id="32" name="Shape 30"/>
          <p:cNvSpPr/>
          <p:nvPr/>
        </p:nvSpPr>
        <p:spPr>
          <a:xfrm>
            <a:off x="2887675" y="5394960"/>
            <a:ext cx="6394399" cy="365760"/>
          </a:xfrm>
          <a:prstGeom prst="rect">
            <a:avLst/>
          </a:prstGeom>
          <a:solidFill>
            <a:srgbClr val="102337"/>
          </a:solidFill>
          <a:ln w="12700">
            <a:solidFill>
              <a:srgbClr val="102337">
                <a:alpha val="0"/>
              </a:srgbClr>
            </a:solidFill>
            <a:prstDash val="solid"/>
          </a:ln>
        </p:spPr>
        <p:txBody>
          <a:bodyPr/>
          <a:lstStyle/>
          <a:p>
            <a:endParaRPr lang="pt-BR"/>
          </a:p>
        </p:txBody>
      </p:sp>
      <p:sp>
        <p:nvSpPr>
          <p:cNvPr id="33" name="Text 31"/>
          <p:cNvSpPr/>
          <p:nvPr/>
        </p:nvSpPr>
        <p:spPr>
          <a:xfrm>
            <a:off x="2999232" y="5463540"/>
            <a:ext cx="740664"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2</a:t>
            </a:r>
            <a:endParaRPr lang="en-US" sz="1500" dirty="0"/>
          </a:p>
        </p:txBody>
      </p:sp>
      <p:sp>
        <p:nvSpPr>
          <p:cNvPr id="34" name="Text 32"/>
          <p:cNvSpPr/>
          <p:nvPr/>
        </p:nvSpPr>
        <p:spPr>
          <a:xfrm>
            <a:off x="3913632" y="5463540"/>
            <a:ext cx="2587752"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Mouse</a:t>
            </a:r>
            <a:endParaRPr lang="en-US" sz="1500" dirty="0"/>
          </a:p>
        </p:txBody>
      </p:sp>
      <p:sp>
        <p:nvSpPr>
          <p:cNvPr id="35" name="Text 33"/>
          <p:cNvSpPr/>
          <p:nvPr/>
        </p:nvSpPr>
        <p:spPr>
          <a:xfrm>
            <a:off x="6675120" y="5463540"/>
            <a:ext cx="2560320"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55.00</a:t>
            </a:r>
            <a:endParaRPr lang="en-US" sz="1500" dirty="0"/>
          </a:p>
        </p:txBody>
      </p:sp>
      <p:sp>
        <p:nvSpPr>
          <p:cNvPr id="36" name="Shape 34"/>
          <p:cNvSpPr/>
          <p:nvPr/>
        </p:nvSpPr>
        <p:spPr>
          <a:xfrm>
            <a:off x="2880360" y="5760720"/>
            <a:ext cx="6409944" cy="0"/>
          </a:xfrm>
          <a:prstGeom prst="line">
            <a:avLst/>
          </a:prstGeom>
          <a:noFill/>
          <a:ln w="5715">
            <a:solidFill>
              <a:srgbClr val="2E4860"/>
            </a:solidFill>
            <a:prstDash val="solid"/>
          </a:ln>
        </p:spPr>
        <p:txBody>
          <a:bodyPr/>
          <a:lstStyle/>
          <a:p>
            <a:endParaRPr lang="pt-BR"/>
          </a:p>
        </p:txBody>
      </p:sp>
      <p:sp>
        <p:nvSpPr>
          <p:cNvPr id="37" name="Text 35"/>
          <p:cNvSpPr/>
          <p:nvPr/>
        </p:nvSpPr>
        <p:spPr>
          <a:xfrm>
            <a:off x="2999232" y="5829300"/>
            <a:ext cx="740664"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3</a:t>
            </a:r>
            <a:endParaRPr lang="en-US" sz="1500" dirty="0"/>
          </a:p>
        </p:txBody>
      </p:sp>
      <p:sp>
        <p:nvSpPr>
          <p:cNvPr id="38" name="Text 36"/>
          <p:cNvSpPr/>
          <p:nvPr/>
        </p:nvSpPr>
        <p:spPr>
          <a:xfrm>
            <a:off x="3913632" y="5829300"/>
            <a:ext cx="2587752"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Monitor</a:t>
            </a:r>
            <a:endParaRPr lang="en-US" sz="1500" dirty="0"/>
          </a:p>
        </p:txBody>
      </p:sp>
      <p:sp>
        <p:nvSpPr>
          <p:cNvPr id="39" name="Text 37"/>
          <p:cNvSpPr/>
          <p:nvPr/>
        </p:nvSpPr>
        <p:spPr>
          <a:xfrm>
            <a:off x="6675120" y="5829300"/>
            <a:ext cx="2560320" cy="237744"/>
          </a:xfrm>
          <a:prstGeom prst="rect">
            <a:avLst/>
          </a:prstGeom>
          <a:noFill/>
          <a:ln/>
        </p:spPr>
        <p:txBody>
          <a:bodyPr wrap="square" lIns="0" tIns="0" rIns="0" bIns="0" rtlCol="0" anchor="ctr">
            <a:normAutofit/>
          </a:bodyPr>
          <a:lstStyle/>
          <a:p>
            <a:pPr marL="0" indent="0" algn="l">
              <a:buNone/>
            </a:pPr>
            <a:r>
              <a:rPr lang="en-US" sz="1500" dirty="0">
                <a:solidFill>
                  <a:srgbClr val="F4F8FC"/>
                </a:solidFill>
                <a:latin typeface="Aptos" pitchFamily="34" charset="0"/>
                <a:ea typeface="Aptos" pitchFamily="34" charset="-122"/>
                <a:cs typeface="Aptos" pitchFamily="34" charset="-120"/>
              </a:rPr>
              <a:t>1100.00</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BE68"/>
          </a:solidFill>
          <a:ln w="12700">
            <a:solidFill>
              <a:srgbClr val="FFBE68">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FFBE68"/>
                </a:solidFill>
                <a:latin typeface="Aptos" pitchFamily="34" charset="0"/>
                <a:ea typeface="Aptos" pitchFamily="34" charset="-122"/>
                <a:cs typeface="Aptos" pitchFamily="34" charset="-120"/>
              </a:rPr>
              <a:t>EXECUÇÃO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17</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9 — Conhecer os metadados</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O JobRepository registra identidade, tentativas, Steps e seus contadores.</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22376" y="1865376"/>
            <a:ext cx="10707624" cy="1938528"/>
          </a:xfrm>
          <a:prstGeom prst="roundRect">
            <a:avLst>
              <a:gd name="adj" fmla="val 6132"/>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841248" y="1947672"/>
            <a:ext cx="4754880"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TABELA</a:t>
            </a:r>
            <a:endParaRPr lang="en-US" sz="1220" dirty="0"/>
          </a:p>
        </p:txBody>
      </p:sp>
      <p:sp>
        <p:nvSpPr>
          <p:cNvPr id="13" name="Text 11"/>
          <p:cNvSpPr/>
          <p:nvPr/>
        </p:nvSpPr>
        <p:spPr>
          <a:xfrm>
            <a:off x="5760720" y="1947672"/>
            <a:ext cx="5623560" cy="265176"/>
          </a:xfrm>
          <a:prstGeom prst="rect">
            <a:avLst/>
          </a:prstGeom>
          <a:noFill/>
          <a:ln/>
        </p:spPr>
        <p:txBody>
          <a:bodyPr wrap="square" lIns="0" tIns="0" rIns="0" bIns="0" rtlCol="0" anchor="ctr">
            <a:normAutofit/>
          </a:bodyPr>
          <a:lstStyle/>
          <a:p>
            <a:pPr marL="0" indent="0" algn="l">
              <a:buNone/>
            </a:pPr>
            <a:r>
              <a:rPr lang="en-US" sz="1220" b="1" dirty="0">
                <a:solidFill>
                  <a:srgbClr val="37C4F3"/>
                </a:solidFill>
                <a:latin typeface="Aptos" pitchFamily="34" charset="0"/>
                <a:ea typeface="Aptos" pitchFamily="34" charset="-122"/>
                <a:cs typeface="Aptos" pitchFamily="34" charset="-120"/>
              </a:rPr>
              <a:t>INTERPRETAÇÃO</a:t>
            </a:r>
            <a:endParaRPr lang="en-US" sz="1220" dirty="0"/>
          </a:p>
        </p:txBody>
      </p:sp>
      <p:sp>
        <p:nvSpPr>
          <p:cNvPr id="14" name="Shape 12"/>
          <p:cNvSpPr/>
          <p:nvPr/>
        </p:nvSpPr>
        <p:spPr>
          <a:xfrm>
            <a:off x="722376" y="2295144"/>
            <a:ext cx="10707624" cy="0"/>
          </a:xfrm>
          <a:prstGeom prst="line">
            <a:avLst/>
          </a:prstGeom>
          <a:noFill/>
          <a:ln w="19050">
            <a:solidFill>
              <a:srgbClr val="2E4860"/>
            </a:solidFill>
            <a:prstDash val="solid"/>
          </a:ln>
        </p:spPr>
        <p:txBody>
          <a:bodyPr/>
          <a:lstStyle/>
          <a:p>
            <a:endParaRPr lang="pt-BR"/>
          </a:p>
        </p:txBody>
      </p:sp>
      <p:sp>
        <p:nvSpPr>
          <p:cNvPr id="15" name="Text 13"/>
          <p:cNvSpPr/>
          <p:nvPr/>
        </p:nvSpPr>
        <p:spPr>
          <a:xfrm>
            <a:off x="841248" y="2363724"/>
            <a:ext cx="474573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BATCH_JOB_INSTANCE</a:t>
            </a:r>
            <a:endParaRPr lang="en-US" sz="1580" dirty="0"/>
          </a:p>
        </p:txBody>
      </p:sp>
      <p:sp>
        <p:nvSpPr>
          <p:cNvPr id="16" name="Text 14"/>
          <p:cNvSpPr/>
          <p:nvPr/>
        </p:nvSpPr>
        <p:spPr>
          <a:xfrm>
            <a:off x="5760720" y="2363724"/>
            <a:ext cx="561441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Identidade do processamento</a:t>
            </a:r>
            <a:endParaRPr lang="en-US" sz="1580" dirty="0"/>
          </a:p>
        </p:txBody>
      </p:sp>
      <p:sp>
        <p:nvSpPr>
          <p:cNvPr id="17" name="Shape 15"/>
          <p:cNvSpPr/>
          <p:nvPr/>
        </p:nvSpPr>
        <p:spPr>
          <a:xfrm>
            <a:off x="722376" y="2798064"/>
            <a:ext cx="10707624" cy="0"/>
          </a:xfrm>
          <a:prstGeom prst="line">
            <a:avLst/>
          </a:prstGeom>
          <a:noFill/>
          <a:ln w="5715">
            <a:solidFill>
              <a:srgbClr val="2E4860"/>
            </a:solidFill>
            <a:prstDash val="solid"/>
          </a:ln>
        </p:spPr>
        <p:txBody>
          <a:bodyPr/>
          <a:lstStyle/>
          <a:p>
            <a:endParaRPr lang="pt-BR"/>
          </a:p>
        </p:txBody>
      </p:sp>
      <p:sp>
        <p:nvSpPr>
          <p:cNvPr id="18" name="Shape 16"/>
          <p:cNvSpPr/>
          <p:nvPr/>
        </p:nvSpPr>
        <p:spPr>
          <a:xfrm>
            <a:off x="729691" y="2798064"/>
            <a:ext cx="10692079" cy="502920"/>
          </a:xfrm>
          <a:prstGeom prst="rect">
            <a:avLst/>
          </a:prstGeom>
          <a:solidFill>
            <a:srgbClr val="102337"/>
          </a:solidFill>
          <a:ln w="12700">
            <a:solidFill>
              <a:srgbClr val="102337">
                <a:alpha val="0"/>
              </a:srgbClr>
            </a:solidFill>
            <a:prstDash val="solid"/>
          </a:ln>
        </p:spPr>
        <p:txBody>
          <a:bodyPr/>
          <a:lstStyle/>
          <a:p>
            <a:endParaRPr lang="pt-BR"/>
          </a:p>
        </p:txBody>
      </p:sp>
      <p:sp>
        <p:nvSpPr>
          <p:cNvPr id="19" name="Text 17"/>
          <p:cNvSpPr/>
          <p:nvPr/>
        </p:nvSpPr>
        <p:spPr>
          <a:xfrm>
            <a:off x="841248" y="2866644"/>
            <a:ext cx="474573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BATCH_JOB_EXECUTION</a:t>
            </a:r>
            <a:endParaRPr lang="en-US" sz="1580" dirty="0"/>
          </a:p>
        </p:txBody>
      </p:sp>
      <p:sp>
        <p:nvSpPr>
          <p:cNvPr id="20" name="Text 18"/>
          <p:cNvSpPr/>
          <p:nvPr/>
        </p:nvSpPr>
        <p:spPr>
          <a:xfrm>
            <a:off x="5760720" y="2866644"/>
            <a:ext cx="561441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Tentativas de execução</a:t>
            </a:r>
            <a:endParaRPr lang="en-US" sz="1580" dirty="0"/>
          </a:p>
        </p:txBody>
      </p:sp>
      <p:sp>
        <p:nvSpPr>
          <p:cNvPr id="21" name="Shape 19"/>
          <p:cNvSpPr/>
          <p:nvPr/>
        </p:nvSpPr>
        <p:spPr>
          <a:xfrm>
            <a:off x="722376" y="3300984"/>
            <a:ext cx="10707624" cy="0"/>
          </a:xfrm>
          <a:prstGeom prst="line">
            <a:avLst/>
          </a:prstGeom>
          <a:noFill/>
          <a:ln w="5715">
            <a:solidFill>
              <a:srgbClr val="2E4860"/>
            </a:solidFill>
            <a:prstDash val="solid"/>
          </a:ln>
        </p:spPr>
        <p:txBody>
          <a:bodyPr/>
          <a:lstStyle/>
          <a:p>
            <a:endParaRPr lang="pt-BR"/>
          </a:p>
        </p:txBody>
      </p:sp>
      <p:sp>
        <p:nvSpPr>
          <p:cNvPr id="22" name="Text 20"/>
          <p:cNvSpPr/>
          <p:nvPr/>
        </p:nvSpPr>
        <p:spPr>
          <a:xfrm>
            <a:off x="841248" y="3369564"/>
            <a:ext cx="474573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BATCH_STEP_EXECUTION</a:t>
            </a:r>
            <a:endParaRPr lang="en-US" sz="1580" dirty="0"/>
          </a:p>
        </p:txBody>
      </p:sp>
      <p:sp>
        <p:nvSpPr>
          <p:cNvPr id="23" name="Text 21"/>
          <p:cNvSpPr/>
          <p:nvPr/>
        </p:nvSpPr>
        <p:spPr>
          <a:xfrm>
            <a:off x="5760720" y="3369564"/>
            <a:ext cx="5614416" cy="374904"/>
          </a:xfrm>
          <a:prstGeom prst="rect">
            <a:avLst/>
          </a:prstGeom>
          <a:noFill/>
          <a:ln/>
        </p:spPr>
        <p:txBody>
          <a:bodyPr wrap="square" lIns="0" tIns="0" rIns="0" bIns="0" rtlCol="0" anchor="ctr">
            <a:normAutofit/>
          </a:bodyPr>
          <a:lstStyle/>
          <a:p>
            <a:pPr marL="0" indent="0" algn="l">
              <a:buNone/>
            </a:pPr>
            <a:r>
              <a:rPr lang="en-US" sz="1580" dirty="0">
                <a:solidFill>
                  <a:srgbClr val="F4F8FC"/>
                </a:solidFill>
                <a:latin typeface="Aptos" pitchFamily="34" charset="0"/>
                <a:ea typeface="Aptos" pitchFamily="34" charset="-122"/>
                <a:cs typeface="Aptos" pitchFamily="34" charset="-120"/>
              </a:rPr>
              <a:t>Status e contadores do Step</a:t>
            </a:r>
            <a:endParaRPr lang="en-US" sz="1580" dirty="0"/>
          </a:p>
        </p:txBody>
      </p:sp>
      <p:sp>
        <p:nvSpPr>
          <p:cNvPr id="24" name="Shape 22"/>
          <p:cNvSpPr/>
          <p:nvPr/>
        </p:nvSpPr>
        <p:spPr>
          <a:xfrm>
            <a:off x="768096" y="4361688"/>
            <a:ext cx="10579608" cy="1426464"/>
          </a:xfrm>
          <a:prstGeom prst="roundRect">
            <a:avLst>
              <a:gd name="adj" fmla="val 8333"/>
            </a:avLst>
          </a:prstGeom>
          <a:solidFill>
            <a:srgbClr val="0B1C2E"/>
          </a:solidFill>
          <a:ln w="12700">
            <a:solidFill>
              <a:srgbClr val="35526C">
                <a:alpha val="90000"/>
              </a:srgbClr>
            </a:solidFill>
            <a:prstDash val="solid"/>
          </a:ln>
        </p:spPr>
        <p:txBody>
          <a:bodyPr/>
          <a:lstStyle/>
          <a:p>
            <a:endParaRPr lang="pt-BR"/>
          </a:p>
        </p:txBody>
      </p:sp>
      <p:sp>
        <p:nvSpPr>
          <p:cNvPr id="25" name="Text 23"/>
          <p:cNvSpPr/>
          <p:nvPr/>
        </p:nvSpPr>
        <p:spPr>
          <a:xfrm>
            <a:off x="969264" y="4517136"/>
            <a:ext cx="9665208"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SQL DE INSPEÇÃO</a:t>
            </a:r>
            <a:endParaRPr lang="en-US" sz="1050" dirty="0"/>
          </a:p>
        </p:txBody>
      </p:sp>
      <p:sp>
        <p:nvSpPr>
          <p:cNvPr id="26" name="Text 24"/>
          <p:cNvSpPr/>
          <p:nvPr/>
        </p:nvSpPr>
        <p:spPr>
          <a:xfrm>
            <a:off x="978408" y="4846320"/>
            <a:ext cx="10140696" cy="749808"/>
          </a:xfrm>
          <a:prstGeom prst="rect">
            <a:avLst/>
          </a:prstGeom>
          <a:noFill/>
          <a:ln/>
        </p:spPr>
        <p:txBody>
          <a:bodyPr wrap="square" lIns="0" tIns="0" rIns="0" bIns="0" rtlCol="0" anchor="t">
            <a:normAutofit/>
          </a:bodyPr>
          <a:lstStyle/>
          <a:p>
            <a:pPr marL="0" indent="0" algn="l">
              <a:buNone/>
            </a:pPr>
            <a:r>
              <a:rPr lang="en-US" sz="1700" dirty="0">
                <a:solidFill>
                  <a:srgbClr val="F4F8FC"/>
                </a:solidFill>
                <a:latin typeface="Aptos Mono" pitchFamily="34" charset="0"/>
                <a:ea typeface="Aptos Mono" pitchFamily="34" charset="-122"/>
                <a:cs typeface="Aptos Mono" pitchFamily="34" charset="-120"/>
              </a:rPr>
              <a:t>SELECT STEP_NAME, STATUS, READ_COUNT,</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       WRITE_COUNT, COMMIT_COUNT, ROLLBACK_COUNT</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FROM BATCH_STEP_EXECUTION;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BE68"/>
          </a:solidFill>
          <a:ln w="12700">
            <a:solidFill>
              <a:srgbClr val="FFBE68">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FFBE68"/>
                </a:solidFill>
                <a:latin typeface="Aptos" pitchFamily="34" charset="0"/>
                <a:ea typeface="Aptos" pitchFamily="34" charset="-122"/>
                <a:cs typeface="Aptos" pitchFamily="34" charset="-120"/>
              </a:rPr>
              <a:t>EXECUÇÃO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18</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JobInstance, JobExecution e parâmetros</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Mesma identidade lógica, múltiplas tentativas de execução.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832104" y="1947672"/>
            <a:ext cx="10497312" cy="914400"/>
          </a:xfrm>
          <a:prstGeom prst="roundRect">
            <a:avLst>
              <a:gd name="adj" fmla="val 13000"/>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1078992" y="2167128"/>
            <a:ext cx="10113264" cy="347472"/>
          </a:xfrm>
          <a:prstGeom prst="rect">
            <a:avLst/>
          </a:prstGeom>
          <a:noFill/>
          <a:ln/>
        </p:spPr>
        <p:txBody>
          <a:bodyPr wrap="square" lIns="0" tIns="0" rIns="0" bIns="0" rtlCol="0" anchor="ctr">
            <a:normAutofit/>
          </a:bodyPr>
          <a:lstStyle/>
          <a:p>
            <a:pPr marL="0" indent="0" algn="ctr">
              <a:buNone/>
            </a:pPr>
            <a:r>
              <a:rPr lang="en-US" sz="2200" b="1" dirty="0">
                <a:solidFill>
                  <a:srgbClr val="37C4F3"/>
                </a:solidFill>
                <a:latin typeface="Aptos" pitchFamily="34" charset="0"/>
                <a:ea typeface="Aptos" pitchFamily="34" charset="-122"/>
                <a:cs typeface="Aptos" pitchFamily="34" charset="-120"/>
              </a:rPr>
              <a:t>JobInstance = nome do Job + parâmetros identificadores</a:t>
            </a:r>
            <a:endParaRPr lang="en-US" sz="2200" dirty="0"/>
          </a:p>
        </p:txBody>
      </p:sp>
      <p:sp>
        <p:nvSpPr>
          <p:cNvPr id="13" name="Shape 11"/>
          <p:cNvSpPr/>
          <p:nvPr/>
        </p:nvSpPr>
        <p:spPr>
          <a:xfrm>
            <a:off x="6108192" y="2862072"/>
            <a:ext cx="0" cy="402336"/>
          </a:xfrm>
          <a:prstGeom prst="line">
            <a:avLst/>
          </a:prstGeom>
          <a:noFill/>
          <a:ln w="25400">
            <a:solidFill>
              <a:srgbClr val="4FE0B5"/>
            </a:solidFill>
            <a:prstDash val="solid"/>
          </a:ln>
        </p:spPr>
        <p:txBody>
          <a:bodyPr/>
          <a:lstStyle/>
          <a:p>
            <a:endParaRPr lang="pt-BR"/>
          </a:p>
        </p:txBody>
      </p:sp>
      <p:sp>
        <p:nvSpPr>
          <p:cNvPr id="14" name="Shape 12"/>
          <p:cNvSpPr/>
          <p:nvPr/>
        </p:nvSpPr>
        <p:spPr>
          <a:xfrm>
            <a:off x="3264408" y="3246120"/>
            <a:ext cx="5641848" cy="0"/>
          </a:xfrm>
          <a:prstGeom prst="line">
            <a:avLst/>
          </a:prstGeom>
          <a:noFill/>
          <a:ln w="25400">
            <a:solidFill>
              <a:srgbClr val="4FE0B5"/>
            </a:solidFill>
            <a:prstDash val="solid"/>
          </a:ln>
        </p:spPr>
        <p:txBody>
          <a:bodyPr/>
          <a:lstStyle/>
          <a:p>
            <a:endParaRPr lang="pt-BR"/>
          </a:p>
        </p:txBody>
      </p:sp>
      <p:sp>
        <p:nvSpPr>
          <p:cNvPr id="15" name="Shape 13"/>
          <p:cNvSpPr/>
          <p:nvPr/>
        </p:nvSpPr>
        <p:spPr>
          <a:xfrm>
            <a:off x="3264408" y="3246120"/>
            <a:ext cx="0" cy="338328"/>
          </a:xfrm>
          <a:prstGeom prst="line">
            <a:avLst/>
          </a:prstGeom>
          <a:noFill/>
          <a:ln w="25400">
            <a:solidFill>
              <a:srgbClr val="4FE0B5"/>
            </a:solidFill>
            <a:prstDash val="solid"/>
          </a:ln>
        </p:spPr>
        <p:txBody>
          <a:bodyPr/>
          <a:lstStyle/>
          <a:p>
            <a:endParaRPr lang="pt-BR"/>
          </a:p>
        </p:txBody>
      </p:sp>
      <p:sp>
        <p:nvSpPr>
          <p:cNvPr id="16" name="Shape 14"/>
          <p:cNvSpPr/>
          <p:nvPr/>
        </p:nvSpPr>
        <p:spPr>
          <a:xfrm>
            <a:off x="8906256" y="3246120"/>
            <a:ext cx="0" cy="338328"/>
          </a:xfrm>
          <a:prstGeom prst="line">
            <a:avLst/>
          </a:prstGeom>
          <a:noFill/>
          <a:ln w="25400">
            <a:solidFill>
              <a:srgbClr val="4FE0B5"/>
            </a:solidFill>
            <a:prstDash val="solid"/>
          </a:ln>
        </p:spPr>
        <p:txBody>
          <a:bodyPr/>
          <a:lstStyle/>
          <a:p>
            <a:endParaRPr lang="pt-BR"/>
          </a:p>
        </p:txBody>
      </p:sp>
      <p:sp>
        <p:nvSpPr>
          <p:cNvPr id="17" name="Shape 15"/>
          <p:cNvSpPr/>
          <p:nvPr/>
        </p:nvSpPr>
        <p:spPr>
          <a:xfrm>
            <a:off x="886968" y="3694176"/>
            <a:ext cx="4736592" cy="1508760"/>
          </a:xfrm>
          <a:prstGeom prst="roundRect">
            <a:avLst>
              <a:gd name="adj" fmla="val 7879"/>
            </a:avLst>
          </a:prstGeom>
          <a:solidFill>
            <a:srgbClr val="102337"/>
          </a:solidFill>
          <a:ln w="12700">
            <a:solidFill>
              <a:srgbClr val="2E4860">
                <a:alpha val="90000"/>
              </a:srgbClr>
            </a:solidFill>
            <a:prstDash val="solid"/>
          </a:ln>
        </p:spPr>
        <p:txBody>
          <a:bodyPr/>
          <a:lstStyle/>
          <a:p>
            <a:endParaRPr lang="pt-BR"/>
          </a:p>
        </p:txBody>
      </p:sp>
      <p:sp>
        <p:nvSpPr>
          <p:cNvPr id="18" name="Shape 16"/>
          <p:cNvSpPr/>
          <p:nvPr/>
        </p:nvSpPr>
        <p:spPr>
          <a:xfrm>
            <a:off x="886968" y="3694176"/>
            <a:ext cx="50292" cy="1508760"/>
          </a:xfrm>
          <a:prstGeom prst="rect">
            <a:avLst/>
          </a:prstGeom>
          <a:solidFill>
            <a:srgbClr val="FFBE68"/>
          </a:solidFill>
          <a:ln w="12700">
            <a:solidFill>
              <a:srgbClr val="FFBE68">
                <a:alpha val="0"/>
              </a:srgbClr>
            </a:solidFill>
            <a:prstDash val="solid"/>
          </a:ln>
        </p:spPr>
        <p:txBody>
          <a:bodyPr/>
          <a:lstStyle/>
          <a:p>
            <a:endParaRPr lang="pt-BR"/>
          </a:p>
        </p:txBody>
      </p:sp>
      <p:sp>
        <p:nvSpPr>
          <p:cNvPr id="19" name="Text 17"/>
          <p:cNvSpPr/>
          <p:nvPr/>
        </p:nvSpPr>
        <p:spPr>
          <a:xfrm>
            <a:off x="1106424" y="3867912"/>
            <a:ext cx="4325112" cy="338328"/>
          </a:xfrm>
          <a:prstGeom prst="rect">
            <a:avLst/>
          </a:prstGeom>
          <a:noFill/>
          <a:ln/>
        </p:spPr>
        <p:txBody>
          <a:bodyPr wrap="square" lIns="0" tIns="0" rIns="0" bIns="0" rtlCol="0" anchor="ctr">
            <a:normAutofit/>
          </a:bodyPr>
          <a:lstStyle/>
          <a:p>
            <a:pPr marL="0" indent="0" algn="l">
              <a:buNone/>
            </a:pPr>
            <a:r>
              <a:rPr lang="en-US" sz="1900" b="1" dirty="0">
                <a:solidFill>
                  <a:srgbClr val="FFBE68"/>
                </a:solidFill>
                <a:latin typeface="Aptos" pitchFamily="34" charset="0"/>
                <a:ea typeface="Aptos" pitchFamily="34" charset="-122"/>
                <a:cs typeface="Aptos" pitchFamily="34" charset="-120"/>
              </a:rPr>
              <a:t>JobExecution #1</a:t>
            </a:r>
            <a:endParaRPr lang="en-US" sz="1900" dirty="0"/>
          </a:p>
        </p:txBody>
      </p:sp>
      <p:sp>
        <p:nvSpPr>
          <p:cNvPr id="20" name="Text 18"/>
          <p:cNvSpPr/>
          <p:nvPr/>
        </p:nvSpPr>
        <p:spPr>
          <a:xfrm>
            <a:off x="1106424" y="4434840"/>
            <a:ext cx="4297680" cy="658368"/>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Primeira tentativa</a:t>
            </a:r>
            <a:endParaRPr lang="en-US" sz="1800" dirty="0"/>
          </a:p>
        </p:txBody>
      </p:sp>
      <p:sp>
        <p:nvSpPr>
          <p:cNvPr id="21" name="Shape 19"/>
          <p:cNvSpPr/>
          <p:nvPr/>
        </p:nvSpPr>
        <p:spPr>
          <a:xfrm>
            <a:off x="6519672" y="3694176"/>
            <a:ext cx="4736592" cy="1508760"/>
          </a:xfrm>
          <a:prstGeom prst="roundRect">
            <a:avLst>
              <a:gd name="adj" fmla="val 7879"/>
            </a:avLst>
          </a:prstGeom>
          <a:solidFill>
            <a:srgbClr val="102337"/>
          </a:solidFill>
          <a:ln w="12700">
            <a:solidFill>
              <a:srgbClr val="2E4860">
                <a:alpha val="90000"/>
              </a:srgbClr>
            </a:solidFill>
            <a:prstDash val="solid"/>
          </a:ln>
        </p:spPr>
        <p:txBody>
          <a:bodyPr/>
          <a:lstStyle/>
          <a:p>
            <a:endParaRPr lang="pt-BR"/>
          </a:p>
        </p:txBody>
      </p:sp>
      <p:sp>
        <p:nvSpPr>
          <p:cNvPr id="22" name="Shape 20"/>
          <p:cNvSpPr/>
          <p:nvPr/>
        </p:nvSpPr>
        <p:spPr>
          <a:xfrm>
            <a:off x="6519672" y="3694176"/>
            <a:ext cx="50292" cy="1508760"/>
          </a:xfrm>
          <a:prstGeom prst="rect">
            <a:avLst/>
          </a:prstGeom>
          <a:solidFill>
            <a:srgbClr val="4FE0B5"/>
          </a:solidFill>
          <a:ln w="12700">
            <a:solidFill>
              <a:srgbClr val="4FE0B5">
                <a:alpha val="0"/>
              </a:srgbClr>
            </a:solidFill>
            <a:prstDash val="solid"/>
          </a:ln>
        </p:spPr>
        <p:txBody>
          <a:bodyPr/>
          <a:lstStyle/>
          <a:p>
            <a:endParaRPr lang="pt-BR"/>
          </a:p>
        </p:txBody>
      </p:sp>
      <p:sp>
        <p:nvSpPr>
          <p:cNvPr id="23" name="Text 21"/>
          <p:cNvSpPr/>
          <p:nvPr/>
        </p:nvSpPr>
        <p:spPr>
          <a:xfrm>
            <a:off x="6739128" y="3867912"/>
            <a:ext cx="4325112"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JobExecution #2</a:t>
            </a:r>
            <a:endParaRPr lang="en-US" sz="1900" dirty="0"/>
          </a:p>
        </p:txBody>
      </p:sp>
      <p:sp>
        <p:nvSpPr>
          <p:cNvPr id="24" name="Text 22"/>
          <p:cNvSpPr/>
          <p:nvPr/>
        </p:nvSpPr>
        <p:spPr>
          <a:xfrm>
            <a:off x="6739128" y="4434840"/>
            <a:ext cx="4297680" cy="658368"/>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Outra tentativa (restart)</a:t>
            </a:r>
            <a:endParaRPr lang="en-US" sz="1800" dirty="0"/>
          </a:p>
        </p:txBody>
      </p:sp>
      <p:sp>
        <p:nvSpPr>
          <p:cNvPr id="25" name="Text 23"/>
          <p:cNvSpPr/>
          <p:nvPr/>
        </p:nvSpPr>
        <p:spPr>
          <a:xfrm>
            <a:off x="1024128" y="5614416"/>
            <a:ext cx="10122408" cy="384048"/>
          </a:xfrm>
          <a:prstGeom prst="rect">
            <a:avLst/>
          </a:prstGeom>
          <a:noFill/>
          <a:ln/>
        </p:spPr>
        <p:txBody>
          <a:bodyPr wrap="square" lIns="0" tIns="0" rIns="0" bIns="0" rtlCol="0" anchor="ctr">
            <a:normAutofit/>
          </a:bodyPr>
          <a:lstStyle/>
          <a:p>
            <a:pPr marL="0" indent="0" algn="ctr">
              <a:buNone/>
            </a:pPr>
            <a:r>
              <a:rPr lang="en-US" sz="1700" dirty="0">
                <a:solidFill>
                  <a:srgbClr val="B8C6D5"/>
                </a:solidFill>
                <a:latin typeface="Aptos" pitchFamily="34" charset="0"/>
                <a:ea typeface="Aptos" pitchFamily="34" charset="-122"/>
                <a:cs typeface="Aptos" pitchFamily="34" charset="-120"/>
              </a:rPr>
              <a:t>Trocar os parâmetros identificadores pode criar outra JobInstance.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B5ABFF"/>
          </a:solidFill>
          <a:ln w="12700">
            <a:solidFill>
              <a:srgbClr val="B5ABFF">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B5ABFF"/>
                </a:solidFill>
                <a:latin typeface="Aptos" pitchFamily="34" charset="0"/>
                <a:ea typeface="Aptos" pitchFamily="34" charset="-122"/>
                <a:cs typeface="Aptos" pitchFamily="34" charset="-120"/>
              </a:rPr>
              <a:t>RECUPERAÇÃO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19</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10 — Provocar uma falha</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Executaremos o cenário em uma nova instância, com erro proposital no Mouse.</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22376" y="1892808"/>
            <a:ext cx="6428232" cy="3310128"/>
          </a:xfrm>
          <a:prstGeom prst="roundRect">
            <a:avLst>
              <a:gd name="adj" fmla="val 3591"/>
            </a:avLst>
          </a:prstGeom>
          <a:solidFill>
            <a:srgbClr val="0B1C2E"/>
          </a:solidFill>
          <a:ln w="12700">
            <a:solidFill>
              <a:srgbClr val="35526C">
                <a:alpha val="90000"/>
              </a:srgbClr>
            </a:solidFill>
            <a:prstDash val="solid"/>
          </a:ln>
        </p:spPr>
        <p:txBody>
          <a:bodyPr/>
          <a:lstStyle/>
          <a:p>
            <a:endParaRPr lang="pt-BR"/>
          </a:p>
        </p:txBody>
      </p:sp>
      <p:sp>
        <p:nvSpPr>
          <p:cNvPr id="12" name="Text 10"/>
          <p:cNvSpPr/>
          <p:nvPr/>
        </p:nvSpPr>
        <p:spPr>
          <a:xfrm>
            <a:off x="923544" y="2048256"/>
            <a:ext cx="5513832"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PROCESSOR · FALHA CONTROLADA</a:t>
            </a:r>
            <a:endParaRPr lang="en-US" sz="1050" dirty="0"/>
          </a:p>
        </p:txBody>
      </p:sp>
      <p:sp>
        <p:nvSpPr>
          <p:cNvPr id="13" name="Text 11"/>
          <p:cNvSpPr/>
          <p:nvPr/>
        </p:nvSpPr>
        <p:spPr>
          <a:xfrm>
            <a:off x="932688" y="2377440"/>
            <a:ext cx="5989320" cy="2633472"/>
          </a:xfrm>
          <a:prstGeom prst="rect">
            <a:avLst/>
          </a:prstGeom>
          <a:noFill/>
          <a:ln/>
        </p:spPr>
        <p:txBody>
          <a:bodyPr wrap="square" lIns="0" tIns="0" rIns="0" bIns="0" rtlCol="0" anchor="t">
            <a:normAutofit/>
          </a:bodyPr>
          <a:lstStyle/>
          <a:p>
            <a:pPr marL="0" indent="0" algn="l">
              <a:buNone/>
            </a:pPr>
            <a:r>
              <a:rPr lang="en-US" sz="1700" dirty="0">
                <a:solidFill>
                  <a:srgbClr val="F4F8FC"/>
                </a:solidFill>
                <a:latin typeface="Aptos Mono" pitchFamily="34" charset="0"/>
                <a:ea typeface="Aptos Mono" pitchFamily="34" charset="-122"/>
                <a:cs typeface="Aptos Mono" pitchFamily="34" charset="-120"/>
              </a:rPr>
              <a:t>if ("Mouse".equals(produto.nome())) {</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    throw new RuntimeException(</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        "Erro proposital ao processar Mouse"</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    );</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a:t>
            </a:r>
            <a:endParaRPr lang="en-US" sz="1700" dirty="0"/>
          </a:p>
        </p:txBody>
      </p:sp>
      <p:sp>
        <p:nvSpPr>
          <p:cNvPr id="14" name="Shape 12"/>
          <p:cNvSpPr/>
          <p:nvPr/>
        </p:nvSpPr>
        <p:spPr>
          <a:xfrm>
            <a:off x="7534656" y="1901952"/>
            <a:ext cx="3767328" cy="640080"/>
          </a:xfrm>
          <a:prstGeom prst="roundRect">
            <a:avLst>
              <a:gd name="adj" fmla="val 18571"/>
            </a:avLst>
          </a:prstGeom>
          <a:solidFill>
            <a:srgbClr val="102337"/>
          </a:solidFill>
          <a:ln w="12700">
            <a:solidFill>
              <a:srgbClr val="2E4860">
                <a:alpha val="90000"/>
              </a:srgbClr>
            </a:solidFill>
            <a:prstDash val="solid"/>
          </a:ln>
        </p:spPr>
        <p:txBody>
          <a:bodyPr/>
          <a:lstStyle/>
          <a:p>
            <a:endParaRPr lang="pt-BR"/>
          </a:p>
        </p:txBody>
      </p:sp>
      <p:sp>
        <p:nvSpPr>
          <p:cNvPr id="15" name="Text 13"/>
          <p:cNvSpPr/>
          <p:nvPr/>
        </p:nvSpPr>
        <p:spPr>
          <a:xfrm>
            <a:off x="7754112" y="2048256"/>
            <a:ext cx="1581912" cy="274320"/>
          </a:xfrm>
          <a:prstGeom prst="rect">
            <a:avLst/>
          </a:prstGeom>
          <a:noFill/>
          <a:ln/>
        </p:spPr>
        <p:txBody>
          <a:bodyPr wrap="square" lIns="0" tIns="0" rIns="0" bIns="0" rtlCol="0" anchor="ctr">
            <a:normAutofit/>
          </a:bodyPr>
          <a:lstStyle/>
          <a:p>
            <a:pPr marL="0" indent="0" algn="l">
              <a:buNone/>
            </a:pPr>
            <a:r>
              <a:rPr lang="en-US" sz="1550" b="1" dirty="0">
                <a:solidFill>
                  <a:srgbClr val="F4F8FC"/>
                </a:solidFill>
                <a:latin typeface="Aptos" pitchFamily="34" charset="0"/>
                <a:ea typeface="Aptos" pitchFamily="34" charset="-122"/>
                <a:cs typeface="Aptos" pitchFamily="34" charset="-120"/>
              </a:rPr>
              <a:t>Teclado</a:t>
            </a:r>
            <a:endParaRPr lang="en-US" sz="1550" dirty="0"/>
          </a:p>
        </p:txBody>
      </p:sp>
      <p:sp>
        <p:nvSpPr>
          <p:cNvPr id="16" name="Text 14"/>
          <p:cNvSpPr/>
          <p:nvPr/>
        </p:nvSpPr>
        <p:spPr>
          <a:xfrm>
            <a:off x="9198864" y="2048256"/>
            <a:ext cx="1883664" cy="274320"/>
          </a:xfrm>
          <a:prstGeom prst="rect">
            <a:avLst/>
          </a:prstGeom>
          <a:noFill/>
          <a:ln/>
        </p:spPr>
        <p:txBody>
          <a:bodyPr wrap="square" lIns="0" tIns="0" rIns="0" bIns="0" rtlCol="0" anchor="ctr">
            <a:normAutofit/>
          </a:bodyPr>
          <a:lstStyle/>
          <a:p>
            <a:pPr marL="0" indent="0" algn="r">
              <a:buNone/>
            </a:pPr>
            <a:r>
              <a:rPr lang="en-US" sz="1510" b="1" dirty="0">
                <a:solidFill>
                  <a:srgbClr val="4FE0B5"/>
                </a:solidFill>
                <a:latin typeface="Aptos" pitchFamily="34" charset="0"/>
                <a:ea typeface="Aptos" pitchFamily="34" charset="-122"/>
                <a:cs typeface="Aptos" pitchFamily="34" charset="-120"/>
              </a:rPr>
              <a:t>Processado</a:t>
            </a:r>
            <a:endParaRPr lang="en-US" sz="1510" dirty="0"/>
          </a:p>
        </p:txBody>
      </p:sp>
      <p:sp>
        <p:nvSpPr>
          <p:cNvPr id="17" name="Shape 15"/>
          <p:cNvSpPr/>
          <p:nvPr/>
        </p:nvSpPr>
        <p:spPr>
          <a:xfrm>
            <a:off x="7534656" y="2734056"/>
            <a:ext cx="3767328" cy="640080"/>
          </a:xfrm>
          <a:prstGeom prst="roundRect">
            <a:avLst>
              <a:gd name="adj" fmla="val 18571"/>
            </a:avLst>
          </a:prstGeom>
          <a:solidFill>
            <a:srgbClr val="102337"/>
          </a:solidFill>
          <a:ln w="12700">
            <a:solidFill>
              <a:srgbClr val="2E4860">
                <a:alpha val="90000"/>
              </a:srgbClr>
            </a:solidFill>
            <a:prstDash val="solid"/>
          </a:ln>
        </p:spPr>
        <p:txBody>
          <a:bodyPr/>
          <a:lstStyle/>
          <a:p>
            <a:endParaRPr lang="pt-BR"/>
          </a:p>
        </p:txBody>
      </p:sp>
      <p:sp>
        <p:nvSpPr>
          <p:cNvPr id="18" name="Text 16"/>
          <p:cNvSpPr/>
          <p:nvPr/>
        </p:nvSpPr>
        <p:spPr>
          <a:xfrm>
            <a:off x="7754112" y="2880360"/>
            <a:ext cx="1581912" cy="274320"/>
          </a:xfrm>
          <a:prstGeom prst="rect">
            <a:avLst/>
          </a:prstGeom>
          <a:noFill/>
          <a:ln/>
        </p:spPr>
        <p:txBody>
          <a:bodyPr wrap="square" lIns="0" tIns="0" rIns="0" bIns="0" rtlCol="0" anchor="ctr">
            <a:normAutofit/>
          </a:bodyPr>
          <a:lstStyle/>
          <a:p>
            <a:pPr marL="0" indent="0" algn="l">
              <a:buNone/>
            </a:pPr>
            <a:r>
              <a:rPr lang="en-US" sz="1550" b="1" dirty="0">
                <a:solidFill>
                  <a:srgbClr val="F4F8FC"/>
                </a:solidFill>
                <a:latin typeface="Aptos" pitchFamily="34" charset="0"/>
                <a:ea typeface="Aptos" pitchFamily="34" charset="-122"/>
                <a:cs typeface="Aptos" pitchFamily="34" charset="-120"/>
              </a:rPr>
              <a:t>Mouse</a:t>
            </a:r>
            <a:endParaRPr lang="en-US" sz="1550" dirty="0"/>
          </a:p>
        </p:txBody>
      </p:sp>
      <p:sp>
        <p:nvSpPr>
          <p:cNvPr id="19" name="Text 17"/>
          <p:cNvSpPr/>
          <p:nvPr/>
        </p:nvSpPr>
        <p:spPr>
          <a:xfrm>
            <a:off x="9198864" y="2880360"/>
            <a:ext cx="1883664" cy="274320"/>
          </a:xfrm>
          <a:prstGeom prst="rect">
            <a:avLst/>
          </a:prstGeom>
          <a:noFill/>
          <a:ln/>
        </p:spPr>
        <p:txBody>
          <a:bodyPr wrap="square" lIns="0" tIns="0" rIns="0" bIns="0" rtlCol="0" anchor="ctr">
            <a:normAutofit/>
          </a:bodyPr>
          <a:lstStyle/>
          <a:p>
            <a:pPr marL="0" indent="0" algn="r">
              <a:buNone/>
            </a:pPr>
            <a:r>
              <a:rPr lang="en-US" sz="1510" b="1" dirty="0">
                <a:solidFill>
                  <a:srgbClr val="FF7285"/>
                </a:solidFill>
                <a:latin typeface="Aptos" pitchFamily="34" charset="0"/>
                <a:ea typeface="Aptos" pitchFamily="34" charset="-122"/>
                <a:cs typeface="Aptos" pitchFamily="34" charset="-120"/>
              </a:rPr>
              <a:t>EXCEÇÃO</a:t>
            </a:r>
            <a:endParaRPr lang="en-US" sz="1510" dirty="0"/>
          </a:p>
        </p:txBody>
      </p:sp>
      <p:sp>
        <p:nvSpPr>
          <p:cNvPr id="20" name="Shape 18"/>
          <p:cNvSpPr/>
          <p:nvPr/>
        </p:nvSpPr>
        <p:spPr>
          <a:xfrm>
            <a:off x="7534656" y="3566160"/>
            <a:ext cx="3767328" cy="640080"/>
          </a:xfrm>
          <a:prstGeom prst="roundRect">
            <a:avLst>
              <a:gd name="adj" fmla="val 18571"/>
            </a:avLst>
          </a:prstGeom>
          <a:solidFill>
            <a:srgbClr val="102337"/>
          </a:solidFill>
          <a:ln w="12700">
            <a:solidFill>
              <a:srgbClr val="2E4860">
                <a:alpha val="90000"/>
              </a:srgbClr>
            </a:solidFill>
            <a:prstDash val="solid"/>
          </a:ln>
        </p:spPr>
        <p:txBody>
          <a:bodyPr/>
          <a:lstStyle/>
          <a:p>
            <a:endParaRPr lang="pt-BR"/>
          </a:p>
        </p:txBody>
      </p:sp>
      <p:sp>
        <p:nvSpPr>
          <p:cNvPr id="21" name="Text 19"/>
          <p:cNvSpPr/>
          <p:nvPr/>
        </p:nvSpPr>
        <p:spPr>
          <a:xfrm>
            <a:off x="7754112" y="3712464"/>
            <a:ext cx="1581912" cy="274320"/>
          </a:xfrm>
          <a:prstGeom prst="rect">
            <a:avLst/>
          </a:prstGeom>
          <a:noFill/>
          <a:ln/>
        </p:spPr>
        <p:txBody>
          <a:bodyPr wrap="square" lIns="0" tIns="0" rIns="0" bIns="0" rtlCol="0" anchor="ctr">
            <a:normAutofit/>
          </a:bodyPr>
          <a:lstStyle/>
          <a:p>
            <a:pPr marL="0" indent="0" algn="l">
              <a:buNone/>
            </a:pPr>
            <a:r>
              <a:rPr lang="en-US" sz="1550" b="1" dirty="0">
                <a:solidFill>
                  <a:srgbClr val="F4F8FC"/>
                </a:solidFill>
                <a:latin typeface="Aptos" pitchFamily="34" charset="0"/>
                <a:ea typeface="Aptos" pitchFamily="34" charset="-122"/>
                <a:cs typeface="Aptos" pitchFamily="34" charset="-120"/>
              </a:rPr>
              <a:t>Chunk 1</a:t>
            </a:r>
            <a:endParaRPr lang="en-US" sz="1550" dirty="0"/>
          </a:p>
        </p:txBody>
      </p:sp>
      <p:sp>
        <p:nvSpPr>
          <p:cNvPr id="22" name="Text 20"/>
          <p:cNvSpPr/>
          <p:nvPr/>
        </p:nvSpPr>
        <p:spPr>
          <a:xfrm>
            <a:off x="9198864" y="3712464"/>
            <a:ext cx="1883664" cy="274320"/>
          </a:xfrm>
          <a:prstGeom prst="rect">
            <a:avLst/>
          </a:prstGeom>
          <a:noFill/>
          <a:ln/>
        </p:spPr>
        <p:txBody>
          <a:bodyPr wrap="square" lIns="0" tIns="0" rIns="0" bIns="0" rtlCol="0" anchor="ctr">
            <a:normAutofit/>
          </a:bodyPr>
          <a:lstStyle/>
          <a:p>
            <a:pPr marL="0" indent="0" algn="r">
              <a:buNone/>
            </a:pPr>
            <a:r>
              <a:rPr lang="en-US" sz="1510" b="1" dirty="0">
                <a:solidFill>
                  <a:srgbClr val="FF7285"/>
                </a:solidFill>
                <a:latin typeface="Aptos" pitchFamily="34" charset="0"/>
                <a:ea typeface="Aptos" pitchFamily="34" charset="-122"/>
                <a:cs typeface="Aptos" pitchFamily="34" charset="-120"/>
              </a:rPr>
              <a:t>ROLLBACK</a:t>
            </a:r>
            <a:endParaRPr lang="en-US" sz="1510" dirty="0"/>
          </a:p>
        </p:txBody>
      </p:sp>
      <p:sp>
        <p:nvSpPr>
          <p:cNvPr id="23" name="Shape 21"/>
          <p:cNvSpPr/>
          <p:nvPr/>
        </p:nvSpPr>
        <p:spPr>
          <a:xfrm>
            <a:off x="7534656" y="4398264"/>
            <a:ext cx="3767328" cy="640080"/>
          </a:xfrm>
          <a:prstGeom prst="roundRect">
            <a:avLst>
              <a:gd name="adj" fmla="val 18571"/>
            </a:avLst>
          </a:prstGeom>
          <a:solidFill>
            <a:srgbClr val="102337"/>
          </a:solidFill>
          <a:ln w="12700">
            <a:solidFill>
              <a:srgbClr val="2E4860">
                <a:alpha val="90000"/>
              </a:srgbClr>
            </a:solidFill>
            <a:prstDash val="solid"/>
          </a:ln>
        </p:spPr>
        <p:txBody>
          <a:bodyPr/>
          <a:lstStyle/>
          <a:p>
            <a:endParaRPr lang="pt-BR"/>
          </a:p>
        </p:txBody>
      </p:sp>
      <p:sp>
        <p:nvSpPr>
          <p:cNvPr id="24" name="Text 22"/>
          <p:cNvSpPr/>
          <p:nvPr/>
        </p:nvSpPr>
        <p:spPr>
          <a:xfrm>
            <a:off x="7754112" y="4544568"/>
            <a:ext cx="1581912" cy="274320"/>
          </a:xfrm>
          <a:prstGeom prst="rect">
            <a:avLst/>
          </a:prstGeom>
          <a:noFill/>
          <a:ln/>
        </p:spPr>
        <p:txBody>
          <a:bodyPr wrap="square" lIns="0" tIns="0" rIns="0" bIns="0" rtlCol="0" anchor="ctr">
            <a:normAutofit/>
          </a:bodyPr>
          <a:lstStyle/>
          <a:p>
            <a:pPr marL="0" indent="0" algn="l">
              <a:buNone/>
            </a:pPr>
            <a:r>
              <a:rPr lang="en-US" sz="1550" b="1" dirty="0">
                <a:solidFill>
                  <a:srgbClr val="F4F8FC"/>
                </a:solidFill>
                <a:latin typeface="Aptos" pitchFamily="34" charset="0"/>
                <a:ea typeface="Aptos" pitchFamily="34" charset="-122"/>
                <a:cs typeface="Aptos" pitchFamily="34" charset="-120"/>
              </a:rPr>
              <a:t>Step</a:t>
            </a:r>
            <a:endParaRPr lang="en-US" sz="1550" dirty="0"/>
          </a:p>
        </p:txBody>
      </p:sp>
      <p:sp>
        <p:nvSpPr>
          <p:cNvPr id="25" name="Text 23"/>
          <p:cNvSpPr/>
          <p:nvPr/>
        </p:nvSpPr>
        <p:spPr>
          <a:xfrm>
            <a:off x="9198864" y="4544568"/>
            <a:ext cx="1883664" cy="274320"/>
          </a:xfrm>
          <a:prstGeom prst="rect">
            <a:avLst/>
          </a:prstGeom>
          <a:noFill/>
          <a:ln/>
        </p:spPr>
        <p:txBody>
          <a:bodyPr wrap="square" lIns="0" tIns="0" rIns="0" bIns="0" rtlCol="0" anchor="ctr">
            <a:normAutofit/>
          </a:bodyPr>
          <a:lstStyle/>
          <a:p>
            <a:pPr marL="0" indent="0" algn="r">
              <a:buNone/>
            </a:pPr>
            <a:r>
              <a:rPr lang="en-US" sz="1510" b="1" dirty="0">
                <a:solidFill>
                  <a:srgbClr val="FF7285"/>
                </a:solidFill>
                <a:latin typeface="Aptos" pitchFamily="34" charset="0"/>
                <a:ea typeface="Aptos" pitchFamily="34" charset="-122"/>
                <a:cs typeface="Aptos" pitchFamily="34" charset="-120"/>
              </a:rPr>
              <a:t>FAILED</a:t>
            </a:r>
            <a:endParaRPr lang="en-US" sz="1510" dirty="0"/>
          </a:p>
        </p:txBody>
      </p:sp>
      <p:sp>
        <p:nvSpPr>
          <p:cNvPr id="26" name="Text 24"/>
          <p:cNvSpPr/>
          <p:nvPr/>
        </p:nvSpPr>
        <p:spPr>
          <a:xfrm>
            <a:off x="1051560" y="5623560"/>
            <a:ext cx="10021824" cy="329184"/>
          </a:xfrm>
          <a:prstGeom prst="rect">
            <a:avLst/>
          </a:prstGeom>
          <a:noFill/>
          <a:ln/>
        </p:spPr>
        <p:txBody>
          <a:bodyPr wrap="square" lIns="0" tIns="0" rIns="0" bIns="0" rtlCol="0" anchor="ctr">
            <a:normAutofit/>
          </a:bodyPr>
          <a:lstStyle/>
          <a:p>
            <a:pPr marL="0" indent="0" algn="ctr">
              <a:buNone/>
            </a:pPr>
            <a:r>
              <a:rPr lang="en-US" sz="1700" dirty="0">
                <a:solidFill>
                  <a:srgbClr val="B8C6D5"/>
                </a:solidFill>
                <a:latin typeface="Aptos" pitchFamily="34" charset="0"/>
                <a:ea typeface="Aptos" pitchFamily="34" charset="-122"/>
                <a:cs typeface="Aptos" pitchFamily="34" charset="-120"/>
              </a:rPr>
              <a:t>Sem tolerância a falhas configurada, o Step falha.</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B5ABFF"/>
          </a:solidFill>
          <a:ln w="12700">
            <a:solidFill>
              <a:srgbClr val="B5ABFF">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B5ABFF"/>
                </a:solidFill>
                <a:latin typeface="Aptos" pitchFamily="34" charset="0"/>
                <a:ea typeface="Aptos" pitchFamily="34" charset="-122"/>
                <a:cs typeface="Aptos" pitchFamily="34" charset="-120"/>
              </a:rPr>
              <a:t>RECUPERAÇÃO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20</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Os limites do rollback</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Transação de metadados e escrita externa não são sinônimos.</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04088" y="2048256"/>
            <a:ext cx="5230368" cy="2377440"/>
          </a:xfrm>
          <a:prstGeom prst="roundRect">
            <a:avLst>
              <a:gd name="adj" fmla="val 5000"/>
            </a:avLst>
          </a:prstGeom>
          <a:solidFill>
            <a:srgbClr val="102337"/>
          </a:solidFill>
          <a:ln w="12700">
            <a:solidFill>
              <a:srgbClr val="2E4860">
                <a:alpha val="90000"/>
              </a:srgbClr>
            </a:solidFill>
            <a:prstDash val="solid"/>
          </a:ln>
        </p:spPr>
        <p:txBody>
          <a:bodyPr/>
          <a:lstStyle/>
          <a:p>
            <a:endParaRPr lang="pt-BR"/>
          </a:p>
        </p:txBody>
      </p:sp>
      <p:sp>
        <p:nvSpPr>
          <p:cNvPr id="12" name="Shape 10"/>
          <p:cNvSpPr/>
          <p:nvPr/>
        </p:nvSpPr>
        <p:spPr>
          <a:xfrm>
            <a:off x="704088" y="2048256"/>
            <a:ext cx="50292" cy="2377440"/>
          </a:xfrm>
          <a:prstGeom prst="rect">
            <a:avLst/>
          </a:prstGeom>
          <a:solidFill>
            <a:srgbClr val="FFBE68"/>
          </a:solidFill>
          <a:ln w="12700">
            <a:solidFill>
              <a:srgbClr val="FFBE68">
                <a:alpha val="0"/>
              </a:srgbClr>
            </a:solidFill>
            <a:prstDash val="solid"/>
          </a:ln>
        </p:spPr>
        <p:txBody>
          <a:bodyPr/>
          <a:lstStyle/>
          <a:p>
            <a:endParaRPr lang="pt-BR"/>
          </a:p>
        </p:txBody>
      </p:sp>
      <p:sp>
        <p:nvSpPr>
          <p:cNvPr id="13" name="Text 11"/>
          <p:cNvSpPr/>
          <p:nvPr/>
        </p:nvSpPr>
        <p:spPr>
          <a:xfrm>
            <a:off x="923544" y="2221992"/>
            <a:ext cx="4818888" cy="338328"/>
          </a:xfrm>
          <a:prstGeom prst="rect">
            <a:avLst/>
          </a:prstGeom>
          <a:noFill/>
          <a:ln/>
        </p:spPr>
        <p:txBody>
          <a:bodyPr wrap="square" lIns="0" tIns="0" rIns="0" bIns="0" rtlCol="0" anchor="ctr">
            <a:normAutofit/>
          </a:bodyPr>
          <a:lstStyle/>
          <a:p>
            <a:pPr marL="0" indent="0" algn="l">
              <a:buNone/>
            </a:pPr>
            <a:r>
              <a:rPr lang="en-US" sz="1900" b="1" dirty="0">
                <a:solidFill>
                  <a:srgbClr val="FFBE68"/>
                </a:solidFill>
                <a:latin typeface="Aptos" pitchFamily="34" charset="0"/>
                <a:ea typeface="Aptos" pitchFamily="34" charset="-122"/>
                <a:cs typeface="Aptos" pitchFamily="34" charset="-120"/>
              </a:rPr>
              <a:t>O QUE NÃO PROVA UM COMMIT</a:t>
            </a:r>
            <a:endParaRPr lang="en-US" sz="1900" dirty="0"/>
          </a:p>
        </p:txBody>
      </p:sp>
      <p:sp>
        <p:nvSpPr>
          <p:cNvPr id="14" name="Text 12"/>
          <p:cNvSpPr/>
          <p:nvPr/>
        </p:nvSpPr>
        <p:spPr>
          <a:xfrm>
            <a:off x="923544" y="2916936"/>
            <a:ext cx="4791456" cy="1399032"/>
          </a:xfrm>
          <a:prstGeom prst="rect">
            <a:avLst/>
          </a:prstGeom>
          <a:noFill/>
          <a:ln/>
        </p:spPr>
        <p:txBody>
          <a:bodyPr wrap="square" lIns="0" tIns="0" rIns="0" bIns="0" rtlCol="0" anchor="t">
            <a:normAutofit/>
          </a:bodyPr>
          <a:lstStyle/>
          <a:p>
            <a:pPr marL="0" indent="0" algn="l">
              <a:buNone/>
            </a:pPr>
            <a:r>
              <a:rPr lang="en-US" sz="1700" dirty="0">
                <a:solidFill>
                  <a:srgbClr val="B8C6D5"/>
                </a:solidFill>
                <a:latin typeface="Aptos" pitchFamily="34" charset="0"/>
                <a:ea typeface="Aptos" pitchFamily="34" charset="-122"/>
                <a:cs typeface="Aptos" pitchFamily="34" charset="-120"/>
              </a:rPr>
              <a:t>Ver no log “Teclado processado” não significa que a transação foi confirmada.</a:t>
            </a:r>
            <a:endParaRPr lang="en-US" sz="1700" dirty="0"/>
          </a:p>
        </p:txBody>
      </p:sp>
      <p:sp>
        <p:nvSpPr>
          <p:cNvPr id="15" name="Shape 13"/>
          <p:cNvSpPr/>
          <p:nvPr/>
        </p:nvSpPr>
        <p:spPr>
          <a:xfrm>
            <a:off x="6245352" y="2048256"/>
            <a:ext cx="5230368" cy="2377440"/>
          </a:xfrm>
          <a:prstGeom prst="roundRect">
            <a:avLst>
              <a:gd name="adj" fmla="val 5000"/>
            </a:avLst>
          </a:prstGeom>
          <a:solidFill>
            <a:srgbClr val="102337"/>
          </a:solidFill>
          <a:ln w="12700">
            <a:solidFill>
              <a:srgbClr val="2E4860">
                <a:alpha val="90000"/>
              </a:srgbClr>
            </a:solidFill>
            <a:prstDash val="solid"/>
          </a:ln>
        </p:spPr>
        <p:txBody>
          <a:bodyPr/>
          <a:lstStyle/>
          <a:p>
            <a:endParaRPr lang="pt-BR"/>
          </a:p>
        </p:txBody>
      </p:sp>
      <p:sp>
        <p:nvSpPr>
          <p:cNvPr id="16" name="Shape 14"/>
          <p:cNvSpPr/>
          <p:nvPr/>
        </p:nvSpPr>
        <p:spPr>
          <a:xfrm>
            <a:off x="6245352" y="2048256"/>
            <a:ext cx="50292" cy="2377440"/>
          </a:xfrm>
          <a:prstGeom prst="rect">
            <a:avLst/>
          </a:prstGeom>
          <a:solidFill>
            <a:srgbClr val="FF7285"/>
          </a:solidFill>
          <a:ln w="12700">
            <a:solidFill>
              <a:srgbClr val="FF7285">
                <a:alpha val="0"/>
              </a:srgbClr>
            </a:solidFill>
            <a:prstDash val="solid"/>
          </a:ln>
        </p:spPr>
        <p:txBody>
          <a:bodyPr/>
          <a:lstStyle/>
          <a:p>
            <a:endParaRPr lang="pt-BR"/>
          </a:p>
        </p:txBody>
      </p:sp>
      <p:sp>
        <p:nvSpPr>
          <p:cNvPr id="17" name="Text 15"/>
          <p:cNvSpPr/>
          <p:nvPr/>
        </p:nvSpPr>
        <p:spPr>
          <a:xfrm>
            <a:off x="6464808" y="2221992"/>
            <a:ext cx="4818888" cy="338328"/>
          </a:xfrm>
          <a:prstGeom prst="rect">
            <a:avLst/>
          </a:prstGeom>
          <a:noFill/>
          <a:ln/>
        </p:spPr>
        <p:txBody>
          <a:bodyPr wrap="square" lIns="0" tIns="0" rIns="0" bIns="0" rtlCol="0" anchor="ctr">
            <a:normAutofit/>
          </a:bodyPr>
          <a:lstStyle/>
          <a:p>
            <a:pPr marL="0" indent="0" algn="l">
              <a:buNone/>
            </a:pPr>
            <a:r>
              <a:rPr lang="en-US" sz="1900" b="1" dirty="0">
                <a:solidFill>
                  <a:srgbClr val="FF7285"/>
                </a:solidFill>
                <a:latin typeface="Aptos" pitchFamily="34" charset="0"/>
                <a:ea typeface="Aptos" pitchFamily="34" charset="-122"/>
                <a:cs typeface="Aptos" pitchFamily="34" charset="-120"/>
              </a:rPr>
              <a:t>O QUE NÃO DEVEMOS PRESUMIR</a:t>
            </a:r>
            <a:endParaRPr lang="en-US" sz="1900" dirty="0"/>
          </a:p>
        </p:txBody>
      </p:sp>
      <p:sp>
        <p:nvSpPr>
          <p:cNvPr id="18" name="Text 16"/>
          <p:cNvSpPr/>
          <p:nvPr/>
        </p:nvSpPr>
        <p:spPr>
          <a:xfrm>
            <a:off x="6464808" y="2916936"/>
            <a:ext cx="4791456" cy="1399032"/>
          </a:xfrm>
          <a:prstGeom prst="rect">
            <a:avLst/>
          </a:prstGeom>
          <a:noFill/>
          <a:ln/>
        </p:spPr>
        <p:txBody>
          <a:bodyPr wrap="square" lIns="0" tIns="0" rIns="0" bIns="0" rtlCol="0" anchor="t">
            <a:normAutofit/>
          </a:bodyPr>
          <a:lstStyle/>
          <a:p>
            <a:pPr marL="0" indent="0" algn="l">
              <a:buNone/>
            </a:pPr>
            <a:r>
              <a:rPr lang="en-US" sz="1700" dirty="0">
                <a:solidFill>
                  <a:srgbClr val="B8C6D5"/>
                </a:solidFill>
                <a:latin typeface="Aptos" pitchFamily="34" charset="0"/>
                <a:ea typeface="Aptos" pitchFamily="34" charset="-122"/>
                <a:cs typeface="Aptos" pitchFamily="34" charset="-120"/>
              </a:rPr>
              <a:t>Rollback não desfaz, automaticamente, toda operação em um arquivo.</a:t>
            </a:r>
            <a:endParaRPr lang="en-US" sz="1700" dirty="0"/>
          </a:p>
        </p:txBody>
      </p:sp>
      <p:sp>
        <p:nvSpPr>
          <p:cNvPr id="19" name="Shape 17"/>
          <p:cNvSpPr/>
          <p:nvPr/>
        </p:nvSpPr>
        <p:spPr>
          <a:xfrm>
            <a:off x="1024128" y="4937760"/>
            <a:ext cx="10104120" cy="758952"/>
          </a:xfrm>
          <a:prstGeom prst="roundRect">
            <a:avLst>
              <a:gd name="adj" fmla="val 15663"/>
            </a:avLst>
          </a:prstGeom>
          <a:solidFill>
            <a:srgbClr val="142C43"/>
          </a:solidFill>
          <a:ln w="12700">
            <a:solidFill>
              <a:srgbClr val="142C43">
                <a:alpha val="0"/>
              </a:srgbClr>
            </a:solidFill>
            <a:prstDash val="solid"/>
          </a:ln>
        </p:spPr>
        <p:txBody>
          <a:bodyPr/>
          <a:lstStyle/>
          <a:p>
            <a:endParaRPr lang="pt-BR"/>
          </a:p>
        </p:txBody>
      </p:sp>
      <p:sp>
        <p:nvSpPr>
          <p:cNvPr id="20" name="Text 18"/>
          <p:cNvSpPr/>
          <p:nvPr/>
        </p:nvSpPr>
        <p:spPr>
          <a:xfrm>
            <a:off x="1261872" y="5148072"/>
            <a:ext cx="9665208" cy="329184"/>
          </a:xfrm>
          <a:prstGeom prst="rect">
            <a:avLst/>
          </a:prstGeom>
          <a:noFill/>
          <a:ln/>
        </p:spPr>
        <p:txBody>
          <a:bodyPr wrap="square" lIns="0" tIns="0" rIns="0" bIns="0" rtlCol="0" anchor="ctr">
            <a:normAutofit/>
          </a:bodyPr>
          <a:lstStyle/>
          <a:p>
            <a:pPr marL="0" indent="0" algn="ctr">
              <a:buNone/>
            </a:pPr>
            <a:r>
              <a:rPr lang="en-US" sz="2000" b="1" dirty="0">
                <a:solidFill>
                  <a:srgbClr val="4FE0B5"/>
                </a:solidFill>
                <a:latin typeface="Aptos" pitchFamily="34" charset="0"/>
                <a:ea typeface="Aptos" pitchFamily="34" charset="-122"/>
                <a:cs typeface="Aptos" pitchFamily="34" charset="-120"/>
              </a:rPr>
              <a:t>VALIDAÇÃO  =  METADADOS  +  ESTADO REAL DO ARQUIVO</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B5ABFF"/>
          </a:solidFill>
          <a:ln w="12700">
            <a:solidFill>
              <a:srgbClr val="B5ABFF">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B5ABFF"/>
                </a:solidFill>
                <a:latin typeface="Aptos" pitchFamily="34" charset="0"/>
                <a:ea typeface="Aptos" pitchFamily="34" charset="-122"/>
                <a:cs typeface="Aptos" pitchFamily="34" charset="-120"/>
              </a:rPr>
              <a:t>RECUPERAÇÃO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21</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11 — Corrigir e fazer restart</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H2 persistente em arquivo preserva o histórico entre processos.</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9808" y="1911096"/>
            <a:ext cx="10634472" cy="640080"/>
          </a:xfrm>
          <a:prstGeom prst="roundRect">
            <a:avLst>
              <a:gd name="adj" fmla="val 18571"/>
            </a:avLst>
          </a:prstGeom>
          <a:solidFill>
            <a:srgbClr val="142C43"/>
          </a:solidFill>
          <a:ln w="12700">
            <a:solidFill>
              <a:srgbClr val="2E4860">
                <a:alpha val="90000"/>
              </a:srgbClr>
            </a:solidFill>
            <a:prstDash val="solid"/>
          </a:ln>
        </p:spPr>
        <p:txBody>
          <a:bodyPr/>
          <a:lstStyle/>
          <a:p>
            <a:endParaRPr lang="pt-BR"/>
          </a:p>
        </p:txBody>
      </p:sp>
      <p:sp>
        <p:nvSpPr>
          <p:cNvPr id="12" name="Text 10"/>
          <p:cNvSpPr/>
          <p:nvPr/>
        </p:nvSpPr>
        <p:spPr>
          <a:xfrm>
            <a:off x="987552" y="2066544"/>
            <a:ext cx="10122408" cy="329184"/>
          </a:xfrm>
          <a:prstGeom prst="rect">
            <a:avLst/>
          </a:prstGeom>
          <a:noFill/>
          <a:ln/>
        </p:spPr>
        <p:txBody>
          <a:bodyPr wrap="square" lIns="0" tIns="0" rIns="0" bIns="0" rtlCol="0" anchor="ctr">
            <a:normAutofit/>
          </a:bodyPr>
          <a:lstStyle/>
          <a:p>
            <a:pPr marL="0" indent="0" algn="ctr">
              <a:buNone/>
            </a:pPr>
            <a:r>
              <a:rPr lang="en-US" sz="1850" b="1" dirty="0">
                <a:solidFill>
                  <a:srgbClr val="37C4F3"/>
                </a:solidFill>
                <a:latin typeface="Aptos" pitchFamily="34" charset="0"/>
                <a:ea typeface="Aptos" pitchFamily="34" charset="-122"/>
                <a:cs typeface="Aptos" pitchFamily="34" charset="-120"/>
              </a:rPr>
              <a:t>JOBINSTANCE · mesma identidade + mesmos parâmetros identificadores</a:t>
            </a:r>
            <a:endParaRPr lang="en-US" sz="1850" dirty="0"/>
          </a:p>
        </p:txBody>
      </p:sp>
      <p:sp>
        <p:nvSpPr>
          <p:cNvPr id="13" name="Shape 11"/>
          <p:cNvSpPr/>
          <p:nvPr/>
        </p:nvSpPr>
        <p:spPr>
          <a:xfrm>
            <a:off x="758952" y="2944368"/>
            <a:ext cx="4910328" cy="2039112"/>
          </a:xfrm>
          <a:prstGeom prst="roundRect">
            <a:avLst>
              <a:gd name="adj" fmla="val 5830"/>
            </a:avLst>
          </a:prstGeom>
          <a:solidFill>
            <a:srgbClr val="102337"/>
          </a:solidFill>
          <a:ln w="12700">
            <a:solidFill>
              <a:srgbClr val="2E4860">
                <a:alpha val="90000"/>
              </a:srgbClr>
            </a:solidFill>
            <a:prstDash val="solid"/>
          </a:ln>
        </p:spPr>
        <p:txBody>
          <a:bodyPr/>
          <a:lstStyle/>
          <a:p>
            <a:endParaRPr lang="pt-BR"/>
          </a:p>
        </p:txBody>
      </p:sp>
      <p:sp>
        <p:nvSpPr>
          <p:cNvPr id="14" name="Shape 12"/>
          <p:cNvSpPr/>
          <p:nvPr/>
        </p:nvSpPr>
        <p:spPr>
          <a:xfrm>
            <a:off x="758952" y="2944368"/>
            <a:ext cx="50292" cy="2039112"/>
          </a:xfrm>
          <a:prstGeom prst="rect">
            <a:avLst/>
          </a:prstGeom>
          <a:solidFill>
            <a:srgbClr val="FF7285"/>
          </a:solidFill>
          <a:ln w="12700">
            <a:solidFill>
              <a:srgbClr val="FF7285">
                <a:alpha val="0"/>
              </a:srgbClr>
            </a:solidFill>
            <a:prstDash val="solid"/>
          </a:ln>
        </p:spPr>
        <p:txBody>
          <a:bodyPr/>
          <a:lstStyle/>
          <a:p>
            <a:endParaRPr lang="pt-BR"/>
          </a:p>
        </p:txBody>
      </p:sp>
      <p:sp>
        <p:nvSpPr>
          <p:cNvPr id="15" name="Text 13"/>
          <p:cNvSpPr/>
          <p:nvPr/>
        </p:nvSpPr>
        <p:spPr>
          <a:xfrm>
            <a:off x="978408" y="3118104"/>
            <a:ext cx="4498848" cy="338328"/>
          </a:xfrm>
          <a:prstGeom prst="rect">
            <a:avLst/>
          </a:prstGeom>
          <a:noFill/>
          <a:ln/>
        </p:spPr>
        <p:txBody>
          <a:bodyPr wrap="square" lIns="0" tIns="0" rIns="0" bIns="0" rtlCol="0" anchor="ctr">
            <a:normAutofit/>
          </a:bodyPr>
          <a:lstStyle/>
          <a:p>
            <a:pPr marL="0" indent="0" algn="l">
              <a:buNone/>
            </a:pPr>
            <a:r>
              <a:rPr lang="en-US" sz="1900" b="1" dirty="0">
                <a:solidFill>
                  <a:srgbClr val="FF7285"/>
                </a:solidFill>
                <a:latin typeface="Aptos" pitchFamily="34" charset="0"/>
                <a:ea typeface="Aptos" pitchFamily="34" charset="-122"/>
                <a:cs typeface="Aptos" pitchFamily="34" charset="-120"/>
              </a:rPr>
              <a:t>EXECUÇÃO ANTERIOR</a:t>
            </a:r>
            <a:endParaRPr lang="en-US" sz="1900" dirty="0"/>
          </a:p>
        </p:txBody>
      </p:sp>
      <p:sp>
        <p:nvSpPr>
          <p:cNvPr id="16" name="Text 14"/>
          <p:cNvSpPr/>
          <p:nvPr/>
        </p:nvSpPr>
        <p:spPr>
          <a:xfrm>
            <a:off x="978408" y="3639312"/>
            <a:ext cx="4471416" cy="1234440"/>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FAILED</a:t>
            </a:r>
            <a:endParaRPr lang="en-US" sz="1800" dirty="0"/>
          </a:p>
          <a:p>
            <a:pPr marL="0" indent="0" algn="l">
              <a:buNone/>
            </a:pPr>
            <a:r>
              <a:rPr lang="en-US" sz="1800" dirty="0">
                <a:solidFill>
                  <a:srgbClr val="B8C6D5"/>
                </a:solidFill>
                <a:latin typeface="Aptos" pitchFamily="34" charset="0"/>
                <a:ea typeface="Aptos" pitchFamily="34" charset="-122"/>
                <a:cs typeface="Aptos" pitchFamily="34" charset="-120"/>
              </a:rPr>
              <a:t>Continua registrada no repositório.</a:t>
            </a:r>
            <a:endParaRPr lang="en-US" sz="1800" dirty="0"/>
          </a:p>
        </p:txBody>
      </p:sp>
      <p:sp>
        <p:nvSpPr>
          <p:cNvPr id="17" name="Shape 15"/>
          <p:cNvSpPr/>
          <p:nvPr/>
        </p:nvSpPr>
        <p:spPr>
          <a:xfrm>
            <a:off x="5897880" y="3758184"/>
            <a:ext cx="374904" cy="292608"/>
          </a:xfrm>
          <a:prstGeom prst="chevron">
            <a:avLst/>
          </a:prstGeom>
          <a:solidFill>
            <a:srgbClr val="4FE0B5"/>
          </a:solidFill>
          <a:ln w="12700">
            <a:solidFill>
              <a:srgbClr val="4FE0B5">
                <a:alpha val="0"/>
              </a:srgbClr>
            </a:solidFill>
            <a:prstDash val="solid"/>
          </a:ln>
        </p:spPr>
        <p:txBody>
          <a:bodyPr/>
          <a:lstStyle/>
          <a:p>
            <a:endParaRPr lang="pt-BR"/>
          </a:p>
        </p:txBody>
      </p:sp>
      <p:sp>
        <p:nvSpPr>
          <p:cNvPr id="18" name="Shape 16"/>
          <p:cNvSpPr/>
          <p:nvPr/>
        </p:nvSpPr>
        <p:spPr>
          <a:xfrm>
            <a:off x="6528816" y="2944368"/>
            <a:ext cx="4910328" cy="2039112"/>
          </a:xfrm>
          <a:prstGeom prst="roundRect">
            <a:avLst>
              <a:gd name="adj" fmla="val 5830"/>
            </a:avLst>
          </a:prstGeom>
          <a:solidFill>
            <a:srgbClr val="102337"/>
          </a:solidFill>
          <a:ln w="12700">
            <a:solidFill>
              <a:srgbClr val="2E4860">
                <a:alpha val="90000"/>
              </a:srgbClr>
            </a:solidFill>
            <a:prstDash val="solid"/>
          </a:ln>
        </p:spPr>
        <p:txBody>
          <a:bodyPr/>
          <a:lstStyle/>
          <a:p>
            <a:endParaRPr lang="pt-BR"/>
          </a:p>
        </p:txBody>
      </p:sp>
      <p:sp>
        <p:nvSpPr>
          <p:cNvPr id="19" name="Shape 17"/>
          <p:cNvSpPr/>
          <p:nvPr/>
        </p:nvSpPr>
        <p:spPr>
          <a:xfrm>
            <a:off x="6528816" y="2944368"/>
            <a:ext cx="50292" cy="2039112"/>
          </a:xfrm>
          <a:prstGeom prst="rect">
            <a:avLst/>
          </a:prstGeom>
          <a:solidFill>
            <a:srgbClr val="4FE0B5"/>
          </a:solidFill>
          <a:ln w="12700">
            <a:solidFill>
              <a:srgbClr val="4FE0B5">
                <a:alpha val="0"/>
              </a:srgbClr>
            </a:solidFill>
            <a:prstDash val="solid"/>
          </a:ln>
        </p:spPr>
        <p:txBody>
          <a:bodyPr/>
          <a:lstStyle/>
          <a:p>
            <a:endParaRPr lang="pt-BR"/>
          </a:p>
        </p:txBody>
      </p:sp>
      <p:sp>
        <p:nvSpPr>
          <p:cNvPr id="20" name="Text 18"/>
          <p:cNvSpPr/>
          <p:nvPr/>
        </p:nvSpPr>
        <p:spPr>
          <a:xfrm>
            <a:off x="6748272" y="3118104"/>
            <a:ext cx="4498848"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NOVA TENTATIVA</a:t>
            </a:r>
            <a:endParaRPr lang="en-US" sz="1900" dirty="0"/>
          </a:p>
        </p:txBody>
      </p:sp>
      <p:sp>
        <p:nvSpPr>
          <p:cNvPr id="21" name="Text 19"/>
          <p:cNvSpPr/>
          <p:nvPr/>
        </p:nvSpPr>
        <p:spPr>
          <a:xfrm>
            <a:off x="6748272" y="3639312"/>
            <a:ext cx="4471416" cy="1234440"/>
          </a:xfrm>
          <a:prstGeom prst="rect">
            <a:avLst/>
          </a:prstGeom>
          <a:noFill/>
          <a:ln/>
        </p:spPr>
        <p:txBody>
          <a:bodyPr wrap="square" lIns="0" tIns="0" rIns="0" bIns="0" rtlCol="0" anchor="t">
            <a:normAutofit/>
          </a:bodyPr>
          <a:lstStyle/>
          <a:p>
            <a:pPr marL="0" indent="0" algn="l">
              <a:buNone/>
            </a:pPr>
            <a:r>
              <a:rPr lang="en-US" sz="1800" dirty="0">
                <a:solidFill>
                  <a:srgbClr val="B8C6D5"/>
                </a:solidFill>
                <a:latin typeface="Aptos" pitchFamily="34" charset="0"/>
                <a:ea typeface="Aptos" pitchFamily="34" charset="-122"/>
                <a:cs typeface="Aptos" pitchFamily="34" charset="-120"/>
              </a:rPr>
              <a:t>COMPLETED</a:t>
            </a:r>
            <a:endParaRPr lang="en-US" sz="1800" dirty="0"/>
          </a:p>
          <a:p>
            <a:pPr marL="0" indent="0" algn="l">
              <a:buNone/>
            </a:pPr>
            <a:r>
              <a:rPr lang="en-US" sz="1800" dirty="0">
                <a:solidFill>
                  <a:srgbClr val="B8C6D5"/>
                </a:solidFill>
                <a:latin typeface="Aptos" pitchFamily="34" charset="0"/>
                <a:ea typeface="Aptos" pitchFamily="34" charset="-122"/>
                <a:cs typeface="Aptos" pitchFamily="34" charset="-120"/>
              </a:rPr>
              <a:t>Após remover a falha.</a:t>
            </a:r>
            <a:endParaRPr lang="en-US" sz="1800" dirty="0"/>
          </a:p>
        </p:txBody>
      </p:sp>
      <p:sp>
        <p:nvSpPr>
          <p:cNvPr id="22" name="Text 20"/>
          <p:cNvSpPr/>
          <p:nvPr/>
        </p:nvSpPr>
        <p:spPr>
          <a:xfrm>
            <a:off x="1005840" y="5477256"/>
            <a:ext cx="10268712" cy="585216"/>
          </a:xfrm>
          <a:prstGeom prst="rect">
            <a:avLst/>
          </a:prstGeom>
          <a:noFill/>
          <a:ln/>
        </p:spPr>
        <p:txBody>
          <a:bodyPr wrap="square" lIns="0" tIns="0" rIns="0" bIns="0" rtlCol="0" anchor="ctr">
            <a:normAutofit/>
          </a:bodyPr>
          <a:lstStyle/>
          <a:p>
            <a:pPr marL="0" indent="0" algn="ctr">
              <a:buNone/>
            </a:pPr>
            <a:r>
              <a:rPr lang="en-US" sz="1740" dirty="0">
                <a:solidFill>
                  <a:srgbClr val="B8C6D5"/>
                </a:solidFill>
                <a:latin typeface="Aptos" pitchFamily="34" charset="0"/>
                <a:ea typeface="Aptos" pitchFamily="34" charset="-122"/>
                <a:cs typeface="Aptos" pitchFamily="34" charset="-120"/>
              </a:rPr>
              <a:t>Preservar: banco de metadados · nome do Job · parâmetros identificadores.</a:t>
            </a:r>
            <a:endParaRPr lang="en-US" sz="17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B5ABFF"/>
          </a:solidFill>
          <a:ln w="12700">
            <a:solidFill>
              <a:srgbClr val="B5ABFF">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B5ABFF"/>
                </a:solidFill>
                <a:latin typeface="Aptos" pitchFamily="34" charset="0"/>
                <a:ea typeface="Aptos" pitchFamily="34" charset="-122"/>
                <a:cs typeface="Aptos" pitchFamily="34" charset="-120"/>
              </a:rPr>
              <a:t>RECUPERAÇÃO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22</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O que esse restart demonstra?</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O cenário escolhido falha no primeiro chunk — antes de qualquer progresso confirmado.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31520" y="2002536"/>
            <a:ext cx="5230368" cy="2368296"/>
          </a:xfrm>
          <a:prstGeom prst="roundRect">
            <a:avLst>
              <a:gd name="adj" fmla="val 5019"/>
            </a:avLst>
          </a:prstGeom>
          <a:solidFill>
            <a:srgbClr val="102337"/>
          </a:solidFill>
          <a:ln w="12700">
            <a:solidFill>
              <a:srgbClr val="2E4860">
                <a:alpha val="90000"/>
              </a:srgbClr>
            </a:solidFill>
            <a:prstDash val="solid"/>
          </a:ln>
        </p:spPr>
        <p:txBody>
          <a:bodyPr/>
          <a:lstStyle/>
          <a:p>
            <a:endParaRPr lang="pt-BR"/>
          </a:p>
        </p:txBody>
      </p:sp>
      <p:sp>
        <p:nvSpPr>
          <p:cNvPr id="12" name="Shape 10"/>
          <p:cNvSpPr/>
          <p:nvPr/>
        </p:nvSpPr>
        <p:spPr>
          <a:xfrm>
            <a:off x="731520" y="2002536"/>
            <a:ext cx="50292" cy="2368296"/>
          </a:xfrm>
          <a:prstGeom prst="rect">
            <a:avLst/>
          </a:prstGeom>
          <a:solidFill>
            <a:srgbClr val="4FE0B5"/>
          </a:solidFill>
          <a:ln w="12700">
            <a:solidFill>
              <a:srgbClr val="4FE0B5">
                <a:alpha val="0"/>
              </a:srgbClr>
            </a:solidFill>
            <a:prstDash val="solid"/>
          </a:ln>
        </p:spPr>
        <p:txBody>
          <a:bodyPr/>
          <a:lstStyle/>
          <a:p>
            <a:endParaRPr lang="pt-BR"/>
          </a:p>
        </p:txBody>
      </p:sp>
      <p:sp>
        <p:nvSpPr>
          <p:cNvPr id="13" name="Text 11"/>
          <p:cNvSpPr/>
          <p:nvPr/>
        </p:nvSpPr>
        <p:spPr>
          <a:xfrm>
            <a:off x="950976" y="2176272"/>
            <a:ext cx="4818888"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DEMONSTRAMOS</a:t>
            </a:r>
            <a:endParaRPr lang="en-US" sz="1900" dirty="0"/>
          </a:p>
        </p:txBody>
      </p:sp>
      <p:sp>
        <p:nvSpPr>
          <p:cNvPr id="14" name="Text 12"/>
          <p:cNvSpPr/>
          <p:nvPr/>
        </p:nvSpPr>
        <p:spPr>
          <a:xfrm>
            <a:off x="950976" y="2871216"/>
            <a:ext cx="4791456" cy="1389888"/>
          </a:xfrm>
          <a:prstGeom prst="rect">
            <a:avLst/>
          </a:prstGeom>
          <a:noFill/>
          <a:ln/>
        </p:spPr>
        <p:txBody>
          <a:bodyPr wrap="square" lIns="0" tIns="0" rIns="0" bIns="0" rtlCol="0" anchor="t">
            <a:normAutofit/>
          </a:bodyPr>
          <a:lstStyle/>
          <a:p>
            <a:pPr marL="0" indent="0" algn="l">
              <a:buNone/>
            </a:pPr>
            <a:r>
              <a:rPr lang="en-US" sz="1780" dirty="0">
                <a:solidFill>
                  <a:srgbClr val="B8C6D5"/>
                </a:solidFill>
                <a:latin typeface="Aptos" pitchFamily="34" charset="0"/>
                <a:ea typeface="Aptos" pitchFamily="34" charset="-122"/>
                <a:cs typeface="Aptos" pitchFamily="34" charset="-120"/>
              </a:rPr>
              <a:t>Nova tentativa da mesma JobInstance, utilizando metadados preservados.</a:t>
            </a:r>
            <a:endParaRPr lang="en-US" sz="1780" dirty="0"/>
          </a:p>
        </p:txBody>
      </p:sp>
      <p:sp>
        <p:nvSpPr>
          <p:cNvPr id="15" name="Shape 13"/>
          <p:cNvSpPr/>
          <p:nvPr/>
        </p:nvSpPr>
        <p:spPr>
          <a:xfrm>
            <a:off x="6236208" y="2002536"/>
            <a:ext cx="5230368" cy="2368296"/>
          </a:xfrm>
          <a:prstGeom prst="roundRect">
            <a:avLst>
              <a:gd name="adj" fmla="val 5019"/>
            </a:avLst>
          </a:prstGeom>
          <a:solidFill>
            <a:srgbClr val="102337"/>
          </a:solidFill>
          <a:ln w="12700">
            <a:solidFill>
              <a:srgbClr val="2E4860">
                <a:alpha val="90000"/>
              </a:srgbClr>
            </a:solidFill>
            <a:prstDash val="solid"/>
          </a:ln>
        </p:spPr>
        <p:txBody>
          <a:bodyPr/>
          <a:lstStyle/>
          <a:p>
            <a:endParaRPr lang="pt-BR"/>
          </a:p>
        </p:txBody>
      </p:sp>
      <p:sp>
        <p:nvSpPr>
          <p:cNvPr id="16" name="Shape 14"/>
          <p:cNvSpPr/>
          <p:nvPr/>
        </p:nvSpPr>
        <p:spPr>
          <a:xfrm>
            <a:off x="6236208" y="2002536"/>
            <a:ext cx="50292" cy="2368296"/>
          </a:xfrm>
          <a:prstGeom prst="rect">
            <a:avLst/>
          </a:prstGeom>
          <a:solidFill>
            <a:srgbClr val="FFBE68"/>
          </a:solidFill>
          <a:ln w="12700">
            <a:solidFill>
              <a:srgbClr val="FFBE68">
                <a:alpha val="0"/>
              </a:srgbClr>
            </a:solidFill>
            <a:prstDash val="solid"/>
          </a:ln>
        </p:spPr>
        <p:txBody>
          <a:bodyPr/>
          <a:lstStyle/>
          <a:p>
            <a:endParaRPr lang="pt-BR"/>
          </a:p>
        </p:txBody>
      </p:sp>
      <p:sp>
        <p:nvSpPr>
          <p:cNvPr id="17" name="Text 15"/>
          <p:cNvSpPr/>
          <p:nvPr/>
        </p:nvSpPr>
        <p:spPr>
          <a:xfrm>
            <a:off x="6455664" y="2176272"/>
            <a:ext cx="4818888" cy="338328"/>
          </a:xfrm>
          <a:prstGeom prst="rect">
            <a:avLst/>
          </a:prstGeom>
          <a:noFill/>
          <a:ln/>
        </p:spPr>
        <p:txBody>
          <a:bodyPr wrap="square" lIns="0" tIns="0" rIns="0" bIns="0" rtlCol="0" anchor="ctr">
            <a:normAutofit/>
          </a:bodyPr>
          <a:lstStyle/>
          <a:p>
            <a:pPr marL="0" indent="0" algn="l">
              <a:buNone/>
            </a:pPr>
            <a:r>
              <a:rPr lang="en-US" sz="1900" b="1" dirty="0">
                <a:solidFill>
                  <a:srgbClr val="FFBE68"/>
                </a:solidFill>
                <a:latin typeface="Aptos" pitchFamily="34" charset="0"/>
                <a:ea typeface="Aptos" pitchFamily="34" charset="-122"/>
                <a:cs typeface="Aptos" pitchFamily="34" charset="-120"/>
              </a:rPr>
              <a:t>AINDA NÃO DEMONSTRAMOS</a:t>
            </a:r>
            <a:endParaRPr lang="en-US" sz="1900" dirty="0"/>
          </a:p>
        </p:txBody>
      </p:sp>
      <p:sp>
        <p:nvSpPr>
          <p:cNvPr id="18" name="Text 16"/>
          <p:cNvSpPr/>
          <p:nvPr/>
        </p:nvSpPr>
        <p:spPr>
          <a:xfrm>
            <a:off x="6455664" y="2871216"/>
            <a:ext cx="4791456" cy="1389888"/>
          </a:xfrm>
          <a:prstGeom prst="rect">
            <a:avLst/>
          </a:prstGeom>
          <a:noFill/>
          <a:ln/>
        </p:spPr>
        <p:txBody>
          <a:bodyPr wrap="square" lIns="0" tIns="0" rIns="0" bIns="0" rtlCol="0" anchor="t">
            <a:normAutofit/>
          </a:bodyPr>
          <a:lstStyle/>
          <a:p>
            <a:pPr marL="0" indent="0" algn="l">
              <a:buNone/>
            </a:pPr>
            <a:r>
              <a:rPr lang="en-US" sz="1780" dirty="0">
                <a:solidFill>
                  <a:srgbClr val="B8C6D5"/>
                </a:solidFill>
                <a:latin typeface="Aptos" pitchFamily="34" charset="0"/>
                <a:ea typeface="Aptos" pitchFamily="34" charset="-122"/>
                <a:cs typeface="Aptos" pitchFamily="34" charset="-120"/>
              </a:rPr>
              <a:t>Retomada após um chunk anterior já ter sido confirmado.</a:t>
            </a:r>
            <a:endParaRPr lang="en-US" sz="1780" dirty="0"/>
          </a:p>
        </p:txBody>
      </p:sp>
      <p:sp>
        <p:nvSpPr>
          <p:cNvPr id="19" name="Shape 17"/>
          <p:cNvSpPr/>
          <p:nvPr/>
        </p:nvSpPr>
        <p:spPr>
          <a:xfrm>
            <a:off x="1225296" y="4864608"/>
            <a:ext cx="9738360" cy="685800"/>
          </a:xfrm>
          <a:prstGeom prst="roundRect">
            <a:avLst>
              <a:gd name="adj" fmla="val 17333"/>
            </a:avLst>
          </a:prstGeom>
          <a:solidFill>
            <a:srgbClr val="142C43"/>
          </a:solidFill>
          <a:ln w="12700">
            <a:solidFill>
              <a:srgbClr val="142C43">
                <a:alpha val="0"/>
              </a:srgbClr>
            </a:solidFill>
            <a:prstDash val="solid"/>
          </a:ln>
        </p:spPr>
        <p:txBody>
          <a:bodyPr/>
          <a:lstStyle/>
          <a:p>
            <a:endParaRPr lang="pt-BR"/>
          </a:p>
        </p:txBody>
      </p:sp>
      <p:sp>
        <p:nvSpPr>
          <p:cNvPr id="20" name="Text 18"/>
          <p:cNvSpPr/>
          <p:nvPr/>
        </p:nvSpPr>
        <p:spPr>
          <a:xfrm>
            <a:off x="1499616" y="5056632"/>
            <a:ext cx="9244584" cy="320040"/>
          </a:xfrm>
          <a:prstGeom prst="rect">
            <a:avLst/>
          </a:prstGeom>
          <a:noFill/>
          <a:ln/>
        </p:spPr>
        <p:txBody>
          <a:bodyPr wrap="square" lIns="0" tIns="0" rIns="0" bIns="0" rtlCol="0" anchor="ctr">
            <a:normAutofit/>
          </a:bodyPr>
          <a:lstStyle/>
          <a:p>
            <a:pPr marL="0" indent="0" algn="ctr">
              <a:buNone/>
            </a:pPr>
            <a:r>
              <a:rPr lang="en-US" sz="1930" b="1" dirty="0">
                <a:solidFill>
                  <a:srgbClr val="37C4F3"/>
                </a:solidFill>
                <a:latin typeface="Aptos" pitchFamily="34" charset="0"/>
                <a:ea typeface="Aptos" pitchFamily="34" charset="-122"/>
                <a:cs typeface="Aptos" pitchFamily="34" charset="-120"/>
              </a:rPr>
              <a:t>Próximo experimento: provocar a falha no chunk 2.</a:t>
            </a:r>
            <a:endParaRPr lang="en-US" sz="19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BE68"/>
          </a:solidFill>
          <a:ln w="12700">
            <a:solidFill>
              <a:srgbClr val="FFBE68">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FFBE68"/>
                </a:solidFill>
                <a:latin typeface="Aptos" pitchFamily="34" charset="0"/>
                <a:ea typeface="Aptos" pitchFamily="34" charset="-122"/>
                <a:cs typeface="Aptos" pitchFamily="34" charset="-120"/>
              </a:rPr>
              <a:t>EXECUÇÃO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23</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12 — Adicionar observabilidade</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Logs úteis devem permitir identificar uma tentativa e compreender seu resultado.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9808" y="1956816"/>
            <a:ext cx="5586984" cy="3703320"/>
          </a:xfrm>
          <a:prstGeom prst="roundRect">
            <a:avLst>
              <a:gd name="adj" fmla="val 3210"/>
            </a:avLst>
          </a:prstGeom>
          <a:solidFill>
            <a:srgbClr val="0B1C2E"/>
          </a:solidFill>
          <a:ln w="12700">
            <a:solidFill>
              <a:srgbClr val="35526C">
                <a:alpha val="90000"/>
              </a:srgbClr>
            </a:solidFill>
            <a:prstDash val="solid"/>
          </a:ln>
        </p:spPr>
        <p:txBody>
          <a:bodyPr/>
          <a:lstStyle/>
          <a:p>
            <a:endParaRPr lang="pt-BR"/>
          </a:p>
        </p:txBody>
      </p:sp>
      <p:sp>
        <p:nvSpPr>
          <p:cNvPr id="12" name="Text 10"/>
          <p:cNvSpPr/>
          <p:nvPr/>
        </p:nvSpPr>
        <p:spPr>
          <a:xfrm>
            <a:off x="950976" y="2112264"/>
            <a:ext cx="4672584" cy="192024"/>
          </a:xfrm>
          <a:prstGeom prst="rect">
            <a:avLst/>
          </a:prstGeom>
          <a:noFill/>
          <a:ln/>
        </p:spPr>
        <p:txBody>
          <a:bodyPr wrap="square" lIns="0" tIns="0" rIns="0" bIns="0" rtlCol="0" anchor="ctr">
            <a:normAutofit/>
          </a:bodyPr>
          <a:lstStyle/>
          <a:p>
            <a:pPr marL="0" indent="0" algn="l">
              <a:buNone/>
            </a:pPr>
            <a:r>
              <a:rPr lang="en-US" sz="1050" b="1" kern="0" spc="100" dirty="0">
                <a:solidFill>
                  <a:srgbClr val="4FE0B5"/>
                </a:solidFill>
                <a:latin typeface="Aptos" pitchFamily="34" charset="0"/>
                <a:ea typeface="Aptos" pitchFamily="34" charset="-122"/>
                <a:cs typeface="Aptos" pitchFamily="34" charset="-120"/>
              </a:rPr>
              <a:t>EXEMPLO DE LOG ESTRUTURADO</a:t>
            </a:r>
            <a:endParaRPr lang="en-US" sz="1050" dirty="0"/>
          </a:p>
        </p:txBody>
      </p:sp>
      <p:sp>
        <p:nvSpPr>
          <p:cNvPr id="13" name="Text 11"/>
          <p:cNvSpPr/>
          <p:nvPr/>
        </p:nvSpPr>
        <p:spPr>
          <a:xfrm>
            <a:off x="960120" y="2441448"/>
            <a:ext cx="5148072" cy="3026664"/>
          </a:xfrm>
          <a:prstGeom prst="rect">
            <a:avLst/>
          </a:prstGeom>
          <a:noFill/>
          <a:ln/>
        </p:spPr>
        <p:txBody>
          <a:bodyPr wrap="square" lIns="0" tIns="0" rIns="0" bIns="0" rtlCol="0" anchor="t">
            <a:normAutofit/>
          </a:bodyPr>
          <a:lstStyle/>
          <a:p>
            <a:pPr marL="0" indent="0" algn="l">
              <a:buNone/>
            </a:pPr>
            <a:r>
              <a:rPr lang="en-US" sz="1700" dirty="0">
                <a:solidFill>
                  <a:srgbClr val="F4F8FC"/>
                </a:solidFill>
                <a:latin typeface="Aptos Mono" pitchFamily="34" charset="0"/>
                <a:ea typeface="Aptos Mono" pitchFamily="34" charset="-122"/>
                <a:cs typeface="Aptos Mono" pitchFamily="34" charset="-120"/>
              </a:rPr>
              <a:t>job=reajusteProdutoJob</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jobInstanceId=...</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jobExecutionId=...</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status=COMPLETED</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readCount=3</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writeCount=3</a:t>
            </a:r>
            <a:endParaRPr lang="en-US" sz="1700" dirty="0"/>
          </a:p>
          <a:p>
            <a:pPr marL="0" indent="0" algn="l">
              <a:buNone/>
            </a:pPr>
            <a:r>
              <a:rPr lang="en-US" sz="1700" dirty="0">
                <a:solidFill>
                  <a:srgbClr val="F4F8FC"/>
                </a:solidFill>
                <a:latin typeface="Aptos Mono" pitchFamily="34" charset="0"/>
                <a:ea typeface="Aptos Mono" pitchFamily="34" charset="-122"/>
                <a:cs typeface="Aptos Mono" pitchFamily="34" charset="-120"/>
              </a:rPr>
              <a:t>durationMs=...</a:t>
            </a:r>
            <a:endParaRPr lang="en-US" sz="1700" dirty="0"/>
          </a:p>
        </p:txBody>
      </p:sp>
      <p:sp>
        <p:nvSpPr>
          <p:cNvPr id="14" name="Text 12"/>
          <p:cNvSpPr/>
          <p:nvPr/>
        </p:nvSpPr>
        <p:spPr>
          <a:xfrm>
            <a:off x="6784848" y="2039112"/>
            <a:ext cx="4206240" cy="283464"/>
          </a:xfrm>
          <a:prstGeom prst="rect">
            <a:avLst/>
          </a:prstGeom>
          <a:noFill/>
          <a:ln/>
        </p:spPr>
        <p:txBody>
          <a:bodyPr wrap="square" lIns="0" tIns="0" rIns="0" bIns="0" rtlCol="0" anchor="ctr">
            <a:normAutofit/>
          </a:bodyPr>
          <a:lstStyle/>
          <a:p>
            <a:pPr marL="0" indent="0" algn="l">
              <a:buNone/>
            </a:pPr>
            <a:r>
              <a:rPr lang="en-US" sz="1330" b="1" dirty="0">
                <a:solidFill>
                  <a:srgbClr val="4FE0B5"/>
                </a:solidFill>
                <a:latin typeface="Aptos" pitchFamily="34" charset="0"/>
                <a:ea typeface="Aptos" pitchFamily="34" charset="-122"/>
                <a:cs typeface="Aptos" pitchFamily="34" charset="-120"/>
              </a:rPr>
              <a:t>REGISTRAR</a:t>
            </a:r>
            <a:endParaRPr lang="en-US" sz="1330" dirty="0"/>
          </a:p>
        </p:txBody>
      </p:sp>
      <p:sp>
        <p:nvSpPr>
          <p:cNvPr id="15" name="Shape 13"/>
          <p:cNvSpPr/>
          <p:nvPr/>
        </p:nvSpPr>
        <p:spPr>
          <a:xfrm>
            <a:off x="6784848" y="2670048"/>
            <a:ext cx="91440" cy="91440"/>
          </a:xfrm>
          <a:prstGeom prst="ellipse">
            <a:avLst/>
          </a:prstGeom>
          <a:solidFill>
            <a:srgbClr val="4FE0B5"/>
          </a:solidFill>
          <a:ln w="12700">
            <a:solidFill>
              <a:srgbClr val="4FE0B5">
                <a:alpha val="0"/>
              </a:srgbClr>
            </a:solidFill>
            <a:prstDash val="solid"/>
          </a:ln>
        </p:spPr>
        <p:txBody>
          <a:bodyPr/>
          <a:lstStyle/>
          <a:p>
            <a:endParaRPr lang="pt-BR"/>
          </a:p>
        </p:txBody>
      </p:sp>
      <p:sp>
        <p:nvSpPr>
          <p:cNvPr id="16" name="Text 14"/>
          <p:cNvSpPr/>
          <p:nvPr/>
        </p:nvSpPr>
        <p:spPr>
          <a:xfrm>
            <a:off x="6995160" y="2542032"/>
            <a:ext cx="4133088" cy="365760"/>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Início e fim do Job</a:t>
            </a:r>
            <a:endParaRPr lang="en-US" sz="1700" dirty="0"/>
          </a:p>
        </p:txBody>
      </p:sp>
      <p:sp>
        <p:nvSpPr>
          <p:cNvPr id="17" name="Shape 15"/>
          <p:cNvSpPr/>
          <p:nvPr/>
        </p:nvSpPr>
        <p:spPr>
          <a:xfrm>
            <a:off x="6784848" y="3264408"/>
            <a:ext cx="91440" cy="91440"/>
          </a:xfrm>
          <a:prstGeom prst="ellipse">
            <a:avLst/>
          </a:prstGeom>
          <a:solidFill>
            <a:srgbClr val="4FE0B5"/>
          </a:solidFill>
          <a:ln w="12700">
            <a:solidFill>
              <a:srgbClr val="4FE0B5">
                <a:alpha val="0"/>
              </a:srgbClr>
            </a:solidFill>
            <a:prstDash val="solid"/>
          </a:ln>
        </p:spPr>
        <p:txBody>
          <a:bodyPr/>
          <a:lstStyle/>
          <a:p>
            <a:endParaRPr lang="pt-BR"/>
          </a:p>
        </p:txBody>
      </p:sp>
      <p:sp>
        <p:nvSpPr>
          <p:cNvPr id="18" name="Text 16"/>
          <p:cNvSpPr/>
          <p:nvPr/>
        </p:nvSpPr>
        <p:spPr>
          <a:xfrm>
            <a:off x="6995160" y="3136392"/>
            <a:ext cx="4133088" cy="365760"/>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Início e fim do Step</a:t>
            </a:r>
            <a:endParaRPr lang="en-US" sz="1700" dirty="0"/>
          </a:p>
        </p:txBody>
      </p:sp>
      <p:sp>
        <p:nvSpPr>
          <p:cNvPr id="19" name="Shape 17"/>
          <p:cNvSpPr/>
          <p:nvPr/>
        </p:nvSpPr>
        <p:spPr>
          <a:xfrm>
            <a:off x="6784848" y="3858768"/>
            <a:ext cx="91440" cy="91440"/>
          </a:xfrm>
          <a:prstGeom prst="ellipse">
            <a:avLst/>
          </a:prstGeom>
          <a:solidFill>
            <a:srgbClr val="4FE0B5"/>
          </a:solidFill>
          <a:ln w="12700">
            <a:solidFill>
              <a:srgbClr val="4FE0B5">
                <a:alpha val="0"/>
              </a:srgbClr>
            </a:solidFill>
            <a:prstDash val="solid"/>
          </a:ln>
        </p:spPr>
        <p:txBody>
          <a:bodyPr/>
          <a:lstStyle/>
          <a:p>
            <a:endParaRPr lang="pt-BR"/>
          </a:p>
        </p:txBody>
      </p:sp>
      <p:sp>
        <p:nvSpPr>
          <p:cNvPr id="20" name="Text 18"/>
          <p:cNvSpPr/>
          <p:nvPr/>
        </p:nvSpPr>
        <p:spPr>
          <a:xfrm>
            <a:off x="6995160" y="3730752"/>
            <a:ext cx="4133088" cy="365760"/>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IDs da execução</a:t>
            </a:r>
            <a:endParaRPr lang="en-US" sz="1700" dirty="0"/>
          </a:p>
        </p:txBody>
      </p:sp>
      <p:sp>
        <p:nvSpPr>
          <p:cNvPr id="21" name="Shape 19"/>
          <p:cNvSpPr/>
          <p:nvPr/>
        </p:nvSpPr>
        <p:spPr>
          <a:xfrm>
            <a:off x="6784848" y="4453128"/>
            <a:ext cx="91440" cy="91440"/>
          </a:xfrm>
          <a:prstGeom prst="ellipse">
            <a:avLst/>
          </a:prstGeom>
          <a:solidFill>
            <a:srgbClr val="4FE0B5"/>
          </a:solidFill>
          <a:ln w="12700">
            <a:solidFill>
              <a:srgbClr val="4FE0B5">
                <a:alpha val="0"/>
              </a:srgbClr>
            </a:solidFill>
            <a:prstDash val="solid"/>
          </a:ln>
        </p:spPr>
        <p:txBody>
          <a:bodyPr/>
          <a:lstStyle/>
          <a:p>
            <a:endParaRPr lang="pt-BR"/>
          </a:p>
        </p:txBody>
      </p:sp>
      <p:sp>
        <p:nvSpPr>
          <p:cNvPr id="22" name="Text 20"/>
          <p:cNvSpPr/>
          <p:nvPr/>
        </p:nvSpPr>
        <p:spPr>
          <a:xfrm>
            <a:off x="6995160" y="4325112"/>
            <a:ext cx="4133088" cy="365760"/>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Status e contadores</a:t>
            </a:r>
            <a:endParaRPr lang="en-US" sz="1700" dirty="0"/>
          </a:p>
        </p:txBody>
      </p:sp>
      <p:sp>
        <p:nvSpPr>
          <p:cNvPr id="23" name="Shape 21"/>
          <p:cNvSpPr/>
          <p:nvPr/>
        </p:nvSpPr>
        <p:spPr>
          <a:xfrm>
            <a:off x="6784848" y="5047488"/>
            <a:ext cx="91440" cy="91440"/>
          </a:xfrm>
          <a:prstGeom prst="ellipse">
            <a:avLst/>
          </a:prstGeom>
          <a:solidFill>
            <a:srgbClr val="4FE0B5"/>
          </a:solidFill>
          <a:ln w="12700">
            <a:solidFill>
              <a:srgbClr val="4FE0B5">
                <a:alpha val="0"/>
              </a:srgbClr>
            </a:solidFill>
            <a:prstDash val="solid"/>
          </a:ln>
        </p:spPr>
        <p:txBody>
          <a:bodyPr/>
          <a:lstStyle/>
          <a:p>
            <a:endParaRPr lang="pt-BR"/>
          </a:p>
        </p:txBody>
      </p:sp>
      <p:sp>
        <p:nvSpPr>
          <p:cNvPr id="24" name="Text 22"/>
          <p:cNvSpPr/>
          <p:nvPr/>
        </p:nvSpPr>
        <p:spPr>
          <a:xfrm>
            <a:off x="6995160" y="4919472"/>
            <a:ext cx="4133088" cy="365760"/>
          </a:xfrm>
          <a:prstGeom prst="rect">
            <a:avLst/>
          </a:prstGeom>
          <a:noFill/>
          <a:ln/>
        </p:spPr>
        <p:txBody>
          <a:bodyPr wrap="square" lIns="0" tIns="0" rIns="0" bIns="0" rtlCol="0" anchor="ctr">
            <a:normAutofit/>
          </a:bodyPr>
          <a:lstStyle/>
          <a:p>
            <a:pPr marL="0" indent="0" algn="l">
              <a:buNone/>
            </a:pPr>
            <a:r>
              <a:rPr lang="en-US" sz="1700" dirty="0">
                <a:solidFill>
                  <a:srgbClr val="F4F8FC"/>
                </a:solidFill>
                <a:latin typeface="Aptos" pitchFamily="34" charset="0"/>
                <a:ea typeface="Aptos" pitchFamily="34" charset="-122"/>
                <a:cs typeface="Aptos" pitchFamily="34" charset="-120"/>
              </a:rPr>
              <a:t>Tempo de execução</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VALIDAÇÃO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24</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Passo 13 — Validar por integração</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Teste unitário comprova a regra; teste de integração comprova o fluxo.</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40664" y="1911096"/>
            <a:ext cx="5175504" cy="1545336"/>
          </a:xfrm>
          <a:prstGeom prst="roundRect">
            <a:avLst>
              <a:gd name="adj" fmla="val 7692"/>
            </a:avLst>
          </a:prstGeom>
          <a:solidFill>
            <a:srgbClr val="102337"/>
          </a:solidFill>
          <a:ln w="12700">
            <a:solidFill>
              <a:srgbClr val="2E4860">
                <a:alpha val="90000"/>
              </a:srgbClr>
            </a:solidFill>
            <a:prstDash val="solid"/>
          </a:ln>
        </p:spPr>
        <p:txBody>
          <a:bodyPr/>
          <a:lstStyle/>
          <a:p>
            <a:endParaRPr lang="pt-BR"/>
          </a:p>
        </p:txBody>
      </p:sp>
      <p:sp>
        <p:nvSpPr>
          <p:cNvPr id="12" name="Shape 10"/>
          <p:cNvSpPr/>
          <p:nvPr/>
        </p:nvSpPr>
        <p:spPr>
          <a:xfrm>
            <a:off x="740664" y="1911096"/>
            <a:ext cx="50292" cy="1545336"/>
          </a:xfrm>
          <a:prstGeom prst="rect">
            <a:avLst/>
          </a:prstGeom>
          <a:solidFill>
            <a:srgbClr val="37C4F3"/>
          </a:solidFill>
          <a:ln w="12700">
            <a:solidFill>
              <a:srgbClr val="37C4F3">
                <a:alpha val="0"/>
              </a:srgbClr>
            </a:solidFill>
            <a:prstDash val="solid"/>
          </a:ln>
        </p:spPr>
        <p:txBody>
          <a:bodyPr/>
          <a:lstStyle/>
          <a:p>
            <a:endParaRPr lang="pt-BR"/>
          </a:p>
        </p:txBody>
      </p:sp>
      <p:sp>
        <p:nvSpPr>
          <p:cNvPr id="13" name="Text 11"/>
          <p:cNvSpPr/>
          <p:nvPr/>
        </p:nvSpPr>
        <p:spPr>
          <a:xfrm>
            <a:off x="960120" y="2084832"/>
            <a:ext cx="4764024" cy="338328"/>
          </a:xfrm>
          <a:prstGeom prst="rect">
            <a:avLst/>
          </a:prstGeom>
          <a:noFill/>
          <a:ln/>
        </p:spPr>
        <p:txBody>
          <a:bodyPr wrap="square" lIns="0" tIns="0" rIns="0" bIns="0" rtlCol="0" anchor="ctr">
            <a:normAutofit/>
          </a:bodyPr>
          <a:lstStyle/>
          <a:p>
            <a:pPr marL="0" indent="0" algn="l">
              <a:buNone/>
            </a:pPr>
            <a:r>
              <a:rPr lang="en-US" sz="1900" b="1" dirty="0">
                <a:solidFill>
                  <a:srgbClr val="37C4F3"/>
                </a:solidFill>
                <a:latin typeface="Aptos" pitchFamily="34" charset="0"/>
                <a:ea typeface="Aptos" pitchFamily="34" charset="-122"/>
                <a:cs typeface="Aptos" pitchFamily="34" charset="-120"/>
              </a:rPr>
              <a:t>UNITÁRIO</a:t>
            </a:r>
            <a:endParaRPr lang="en-US" sz="1900" dirty="0"/>
          </a:p>
        </p:txBody>
      </p:sp>
      <p:sp>
        <p:nvSpPr>
          <p:cNvPr id="14" name="Text 12"/>
          <p:cNvSpPr/>
          <p:nvPr/>
        </p:nvSpPr>
        <p:spPr>
          <a:xfrm>
            <a:off x="960120" y="2615184"/>
            <a:ext cx="4736592" cy="731520"/>
          </a:xfrm>
          <a:prstGeom prst="rect">
            <a:avLst/>
          </a:prstGeom>
          <a:noFill/>
          <a:ln/>
        </p:spPr>
        <p:txBody>
          <a:bodyPr wrap="square" lIns="0" tIns="0" rIns="0" bIns="0" rtlCol="0" anchor="t">
            <a:normAutofit/>
          </a:bodyPr>
          <a:lstStyle/>
          <a:p>
            <a:pPr marL="0" indent="0" algn="l">
              <a:buNone/>
            </a:pPr>
            <a:r>
              <a:rPr lang="en-US" sz="1650" dirty="0">
                <a:solidFill>
                  <a:srgbClr val="B8C6D5"/>
                </a:solidFill>
                <a:latin typeface="Aptos" pitchFamily="34" charset="0"/>
                <a:ea typeface="Aptos" pitchFamily="34" charset="-122"/>
                <a:cs typeface="Aptos" pitchFamily="34" charset="-120"/>
              </a:rPr>
              <a:t>Processor: valida o cálculo decimal e o arredondamento.</a:t>
            </a:r>
            <a:endParaRPr lang="en-US" sz="1650" dirty="0"/>
          </a:p>
        </p:txBody>
      </p:sp>
      <p:sp>
        <p:nvSpPr>
          <p:cNvPr id="15" name="Shape 13"/>
          <p:cNvSpPr/>
          <p:nvPr/>
        </p:nvSpPr>
        <p:spPr>
          <a:xfrm>
            <a:off x="6281928" y="1911096"/>
            <a:ext cx="5175504" cy="1545336"/>
          </a:xfrm>
          <a:prstGeom prst="roundRect">
            <a:avLst>
              <a:gd name="adj" fmla="val 7692"/>
            </a:avLst>
          </a:prstGeom>
          <a:solidFill>
            <a:srgbClr val="102337"/>
          </a:solidFill>
          <a:ln w="12700">
            <a:solidFill>
              <a:srgbClr val="2E4860">
                <a:alpha val="90000"/>
              </a:srgbClr>
            </a:solidFill>
            <a:prstDash val="solid"/>
          </a:ln>
        </p:spPr>
        <p:txBody>
          <a:bodyPr/>
          <a:lstStyle/>
          <a:p>
            <a:endParaRPr lang="pt-BR"/>
          </a:p>
        </p:txBody>
      </p:sp>
      <p:sp>
        <p:nvSpPr>
          <p:cNvPr id="16" name="Shape 14"/>
          <p:cNvSpPr/>
          <p:nvPr/>
        </p:nvSpPr>
        <p:spPr>
          <a:xfrm>
            <a:off x="6281928" y="1911096"/>
            <a:ext cx="50292" cy="1545336"/>
          </a:xfrm>
          <a:prstGeom prst="rect">
            <a:avLst/>
          </a:prstGeom>
          <a:solidFill>
            <a:srgbClr val="4FE0B5"/>
          </a:solidFill>
          <a:ln w="12700">
            <a:solidFill>
              <a:srgbClr val="4FE0B5">
                <a:alpha val="0"/>
              </a:srgbClr>
            </a:solidFill>
            <a:prstDash val="solid"/>
          </a:ln>
        </p:spPr>
        <p:txBody>
          <a:bodyPr/>
          <a:lstStyle/>
          <a:p>
            <a:endParaRPr lang="pt-BR"/>
          </a:p>
        </p:txBody>
      </p:sp>
      <p:sp>
        <p:nvSpPr>
          <p:cNvPr id="17" name="Text 15"/>
          <p:cNvSpPr/>
          <p:nvPr/>
        </p:nvSpPr>
        <p:spPr>
          <a:xfrm>
            <a:off x="6501384" y="2084832"/>
            <a:ext cx="4764024" cy="338328"/>
          </a:xfrm>
          <a:prstGeom prst="rect">
            <a:avLst/>
          </a:prstGeom>
          <a:noFill/>
          <a:ln/>
        </p:spPr>
        <p:txBody>
          <a:bodyPr wrap="square" lIns="0" tIns="0" rIns="0" bIns="0" rtlCol="0" anchor="ctr">
            <a:normAutofit/>
          </a:bodyPr>
          <a:lstStyle/>
          <a:p>
            <a:pPr marL="0" indent="0" algn="l">
              <a:buNone/>
            </a:pPr>
            <a:r>
              <a:rPr lang="en-US" sz="1900" b="1" dirty="0">
                <a:solidFill>
                  <a:srgbClr val="4FE0B5"/>
                </a:solidFill>
                <a:latin typeface="Aptos" pitchFamily="34" charset="0"/>
                <a:ea typeface="Aptos" pitchFamily="34" charset="-122"/>
                <a:cs typeface="Aptos" pitchFamily="34" charset="-120"/>
              </a:rPr>
              <a:t>INTEGRAÇÃO</a:t>
            </a:r>
            <a:endParaRPr lang="en-US" sz="1900" dirty="0"/>
          </a:p>
        </p:txBody>
      </p:sp>
      <p:sp>
        <p:nvSpPr>
          <p:cNvPr id="18" name="Text 16"/>
          <p:cNvSpPr/>
          <p:nvPr/>
        </p:nvSpPr>
        <p:spPr>
          <a:xfrm>
            <a:off x="6501384" y="2615184"/>
            <a:ext cx="4736592" cy="731520"/>
          </a:xfrm>
          <a:prstGeom prst="rect">
            <a:avLst/>
          </a:prstGeom>
          <a:noFill/>
          <a:ln/>
        </p:spPr>
        <p:txBody>
          <a:bodyPr wrap="square" lIns="0" tIns="0" rIns="0" bIns="0" rtlCol="0" anchor="t">
            <a:normAutofit/>
          </a:bodyPr>
          <a:lstStyle/>
          <a:p>
            <a:pPr marL="0" indent="0" algn="l">
              <a:buNone/>
            </a:pPr>
            <a:r>
              <a:rPr lang="en-US" sz="1650" dirty="0">
                <a:solidFill>
                  <a:srgbClr val="B8C6D5"/>
                </a:solidFill>
                <a:latin typeface="Aptos" pitchFamily="34" charset="0"/>
                <a:ea typeface="Aptos" pitchFamily="34" charset="-122"/>
                <a:cs typeface="Aptos" pitchFamily="34" charset="-120"/>
              </a:rPr>
              <a:t>Job + Reader + Processor + Writer + infraestrutura.</a:t>
            </a:r>
            <a:endParaRPr lang="en-US" sz="1650" dirty="0"/>
          </a:p>
        </p:txBody>
      </p:sp>
      <p:sp>
        <p:nvSpPr>
          <p:cNvPr id="19" name="Text 17"/>
          <p:cNvSpPr/>
          <p:nvPr/>
        </p:nvSpPr>
        <p:spPr>
          <a:xfrm>
            <a:off x="832104" y="3803904"/>
            <a:ext cx="9966960" cy="292608"/>
          </a:xfrm>
          <a:prstGeom prst="rect">
            <a:avLst/>
          </a:prstGeom>
          <a:noFill/>
          <a:ln/>
        </p:spPr>
        <p:txBody>
          <a:bodyPr wrap="square" lIns="0" tIns="0" rIns="0" bIns="0" rtlCol="0" anchor="ctr">
            <a:normAutofit/>
          </a:bodyPr>
          <a:lstStyle/>
          <a:p>
            <a:pPr marL="0" indent="0" algn="l">
              <a:buNone/>
            </a:pPr>
            <a:r>
              <a:rPr lang="en-US" sz="1540" b="1" dirty="0">
                <a:solidFill>
                  <a:srgbClr val="37C4F3"/>
                </a:solidFill>
                <a:latin typeface="Aptos" pitchFamily="34" charset="0"/>
                <a:ea typeface="Aptos" pitchFamily="34" charset="-122"/>
                <a:cs typeface="Aptos" pitchFamily="34" charset="-120"/>
              </a:rPr>
              <a:t>CHECKLIST DO TESTE DE INTEGRAÇÃO</a:t>
            </a:r>
            <a:endParaRPr lang="en-US" sz="1540" dirty="0"/>
          </a:p>
        </p:txBody>
      </p:sp>
      <p:sp>
        <p:nvSpPr>
          <p:cNvPr id="20" name="Shape 18"/>
          <p:cNvSpPr/>
          <p:nvPr/>
        </p:nvSpPr>
        <p:spPr>
          <a:xfrm>
            <a:off x="923544" y="4325112"/>
            <a:ext cx="137160" cy="137160"/>
          </a:xfrm>
          <a:prstGeom prst="ellipse">
            <a:avLst/>
          </a:prstGeom>
          <a:solidFill>
            <a:srgbClr val="4FE0B5"/>
          </a:solidFill>
          <a:ln w="12700">
            <a:solidFill>
              <a:srgbClr val="4FE0B5">
                <a:alpha val="0"/>
              </a:srgbClr>
            </a:solidFill>
            <a:prstDash val="solid"/>
          </a:ln>
        </p:spPr>
        <p:txBody>
          <a:bodyPr/>
          <a:lstStyle/>
          <a:p>
            <a:endParaRPr lang="pt-BR"/>
          </a:p>
        </p:txBody>
      </p:sp>
      <p:sp>
        <p:nvSpPr>
          <p:cNvPr id="21" name="Text 19"/>
          <p:cNvSpPr/>
          <p:nvPr/>
        </p:nvSpPr>
        <p:spPr>
          <a:xfrm>
            <a:off x="1243584" y="4251960"/>
            <a:ext cx="10140696" cy="265176"/>
          </a:xfrm>
          <a:prstGeom prst="rect">
            <a:avLst/>
          </a:prstGeom>
          <a:noFill/>
          <a:ln/>
        </p:spPr>
        <p:txBody>
          <a:bodyPr wrap="square" lIns="0" tIns="0" rIns="0" bIns="0" rtlCol="0" anchor="ctr">
            <a:normAutofit/>
          </a:bodyPr>
          <a:lstStyle/>
          <a:p>
            <a:pPr marL="0" indent="0" algn="l">
              <a:buNone/>
            </a:pPr>
            <a:r>
              <a:rPr lang="en-US" sz="1550" dirty="0">
                <a:solidFill>
                  <a:srgbClr val="F4F8FC"/>
                </a:solidFill>
                <a:latin typeface="Aptos" pitchFamily="34" charset="0"/>
                <a:ea typeface="Aptos" pitchFamily="34" charset="-122"/>
                <a:cs typeface="Aptos" pitchFamily="34" charset="-120"/>
              </a:rPr>
              <a:t>Executar o Job e verificar BatchStatus.COMPLETED</a:t>
            </a:r>
            <a:endParaRPr lang="en-US" sz="1550" dirty="0"/>
          </a:p>
        </p:txBody>
      </p:sp>
      <p:sp>
        <p:nvSpPr>
          <p:cNvPr id="22" name="Shape 20"/>
          <p:cNvSpPr/>
          <p:nvPr/>
        </p:nvSpPr>
        <p:spPr>
          <a:xfrm>
            <a:off x="923544" y="4663440"/>
            <a:ext cx="137160" cy="137160"/>
          </a:xfrm>
          <a:prstGeom prst="ellipse">
            <a:avLst/>
          </a:prstGeom>
          <a:solidFill>
            <a:srgbClr val="4FE0B5"/>
          </a:solidFill>
          <a:ln w="12700">
            <a:solidFill>
              <a:srgbClr val="4FE0B5">
                <a:alpha val="0"/>
              </a:srgbClr>
            </a:solidFill>
            <a:prstDash val="solid"/>
          </a:ln>
        </p:spPr>
        <p:txBody>
          <a:bodyPr/>
          <a:lstStyle/>
          <a:p>
            <a:endParaRPr lang="pt-BR"/>
          </a:p>
        </p:txBody>
      </p:sp>
      <p:sp>
        <p:nvSpPr>
          <p:cNvPr id="23" name="Text 21"/>
          <p:cNvSpPr/>
          <p:nvPr/>
        </p:nvSpPr>
        <p:spPr>
          <a:xfrm>
            <a:off x="1243584" y="4590288"/>
            <a:ext cx="10140696" cy="265176"/>
          </a:xfrm>
          <a:prstGeom prst="rect">
            <a:avLst/>
          </a:prstGeom>
          <a:noFill/>
          <a:ln/>
        </p:spPr>
        <p:txBody>
          <a:bodyPr wrap="square" lIns="0" tIns="0" rIns="0" bIns="0" rtlCol="0" anchor="ctr">
            <a:normAutofit/>
          </a:bodyPr>
          <a:lstStyle/>
          <a:p>
            <a:pPr marL="0" indent="0" algn="l">
              <a:buNone/>
            </a:pPr>
            <a:r>
              <a:rPr lang="en-US" sz="1550" dirty="0">
                <a:solidFill>
                  <a:srgbClr val="F4F8FC"/>
                </a:solidFill>
                <a:latin typeface="Aptos" pitchFamily="34" charset="0"/>
                <a:ea typeface="Aptos" pitchFamily="34" charset="-122"/>
                <a:cs typeface="Aptos" pitchFamily="34" charset="-120"/>
              </a:rPr>
              <a:t>Confirmar a existência do arquivo</a:t>
            </a:r>
            <a:endParaRPr lang="en-US" sz="1550" dirty="0"/>
          </a:p>
        </p:txBody>
      </p:sp>
      <p:sp>
        <p:nvSpPr>
          <p:cNvPr id="24" name="Shape 22"/>
          <p:cNvSpPr/>
          <p:nvPr/>
        </p:nvSpPr>
        <p:spPr>
          <a:xfrm>
            <a:off x="923544" y="5001768"/>
            <a:ext cx="137160" cy="137160"/>
          </a:xfrm>
          <a:prstGeom prst="ellipse">
            <a:avLst/>
          </a:prstGeom>
          <a:solidFill>
            <a:srgbClr val="4FE0B5"/>
          </a:solidFill>
          <a:ln w="12700">
            <a:solidFill>
              <a:srgbClr val="4FE0B5">
                <a:alpha val="0"/>
              </a:srgbClr>
            </a:solidFill>
            <a:prstDash val="solid"/>
          </a:ln>
        </p:spPr>
        <p:txBody>
          <a:bodyPr/>
          <a:lstStyle/>
          <a:p>
            <a:endParaRPr lang="pt-BR"/>
          </a:p>
        </p:txBody>
      </p:sp>
      <p:sp>
        <p:nvSpPr>
          <p:cNvPr id="25" name="Text 23"/>
          <p:cNvSpPr/>
          <p:nvPr/>
        </p:nvSpPr>
        <p:spPr>
          <a:xfrm>
            <a:off x="1243584" y="4928616"/>
            <a:ext cx="10140696" cy="265176"/>
          </a:xfrm>
          <a:prstGeom prst="rect">
            <a:avLst/>
          </a:prstGeom>
          <a:noFill/>
          <a:ln/>
        </p:spPr>
        <p:txBody>
          <a:bodyPr wrap="square" lIns="0" tIns="0" rIns="0" bIns="0" rtlCol="0" anchor="ctr">
            <a:normAutofit/>
          </a:bodyPr>
          <a:lstStyle/>
          <a:p>
            <a:pPr marL="0" indent="0" algn="l">
              <a:buNone/>
            </a:pPr>
            <a:r>
              <a:rPr lang="en-US" sz="1550" dirty="0">
                <a:solidFill>
                  <a:srgbClr val="F4F8FC"/>
                </a:solidFill>
                <a:latin typeface="Aptos" pitchFamily="34" charset="0"/>
                <a:ea typeface="Aptos" pitchFamily="34" charset="-122"/>
                <a:cs typeface="Aptos" pitchFamily="34" charset="-120"/>
              </a:rPr>
              <a:t>Conferir os três registros</a:t>
            </a:r>
            <a:endParaRPr lang="en-US" sz="1550" dirty="0"/>
          </a:p>
        </p:txBody>
      </p:sp>
      <p:sp>
        <p:nvSpPr>
          <p:cNvPr id="26" name="Shape 24"/>
          <p:cNvSpPr/>
          <p:nvPr/>
        </p:nvSpPr>
        <p:spPr>
          <a:xfrm>
            <a:off x="923544" y="5340096"/>
            <a:ext cx="137160" cy="137160"/>
          </a:xfrm>
          <a:prstGeom prst="ellipse">
            <a:avLst/>
          </a:prstGeom>
          <a:solidFill>
            <a:srgbClr val="4FE0B5"/>
          </a:solidFill>
          <a:ln w="12700">
            <a:solidFill>
              <a:srgbClr val="4FE0B5">
                <a:alpha val="0"/>
              </a:srgbClr>
            </a:solidFill>
            <a:prstDash val="solid"/>
          </a:ln>
        </p:spPr>
        <p:txBody>
          <a:bodyPr/>
          <a:lstStyle/>
          <a:p>
            <a:endParaRPr lang="pt-BR"/>
          </a:p>
        </p:txBody>
      </p:sp>
      <p:sp>
        <p:nvSpPr>
          <p:cNvPr id="27" name="Text 25"/>
          <p:cNvSpPr/>
          <p:nvPr/>
        </p:nvSpPr>
        <p:spPr>
          <a:xfrm>
            <a:off x="1243584" y="5266944"/>
            <a:ext cx="10140696" cy="265176"/>
          </a:xfrm>
          <a:prstGeom prst="rect">
            <a:avLst/>
          </a:prstGeom>
          <a:noFill/>
          <a:ln/>
        </p:spPr>
        <p:txBody>
          <a:bodyPr wrap="square" lIns="0" tIns="0" rIns="0" bIns="0" rtlCol="0" anchor="ctr">
            <a:normAutofit/>
          </a:bodyPr>
          <a:lstStyle/>
          <a:p>
            <a:pPr marL="0" indent="0" algn="l">
              <a:buNone/>
            </a:pPr>
            <a:r>
              <a:rPr lang="en-US" sz="1550" dirty="0">
                <a:solidFill>
                  <a:srgbClr val="F4F8FC"/>
                </a:solidFill>
                <a:latin typeface="Aptos" pitchFamily="34" charset="0"/>
                <a:ea typeface="Aptos" pitchFamily="34" charset="-122"/>
                <a:cs typeface="Aptos" pitchFamily="34" charset="-120"/>
              </a:rPr>
              <a:t>Validar preços e formatação</a:t>
            </a:r>
            <a:endParaRPr lang="en-US" sz="1550" dirty="0"/>
          </a:p>
        </p:txBody>
      </p:sp>
      <p:sp>
        <p:nvSpPr>
          <p:cNvPr id="28" name="Shape 26"/>
          <p:cNvSpPr/>
          <p:nvPr/>
        </p:nvSpPr>
        <p:spPr>
          <a:xfrm>
            <a:off x="923544" y="5678424"/>
            <a:ext cx="137160" cy="137160"/>
          </a:xfrm>
          <a:prstGeom prst="ellipse">
            <a:avLst/>
          </a:prstGeom>
          <a:solidFill>
            <a:srgbClr val="4FE0B5"/>
          </a:solidFill>
          <a:ln w="12700">
            <a:solidFill>
              <a:srgbClr val="4FE0B5">
                <a:alpha val="0"/>
              </a:srgbClr>
            </a:solidFill>
            <a:prstDash val="solid"/>
          </a:ln>
        </p:spPr>
        <p:txBody>
          <a:bodyPr/>
          <a:lstStyle/>
          <a:p>
            <a:endParaRPr lang="pt-BR"/>
          </a:p>
        </p:txBody>
      </p:sp>
      <p:sp>
        <p:nvSpPr>
          <p:cNvPr id="29" name="Text 27"/>
          <p:cNvSpPr/>
          <p:nvPr/>
        </p:nvSpPr>
        <p:spPr>
          <a:xfrm>
            <a:off x="1243584" y="5605272"/>
            <a:ext cx="10140696" cy="265176"/>
          </a:xfrm>
          <a:prstGeom prst="rect">
            <a:avLst/>
          </a:prstGeom>
          <a:noFill/>
          <a:ln/>
        </p:spPr>
        <p:txBody>
          <a:bodyPr wrap="square" lIns="0" tIns="0" rIns="0" bIns="0" rtlCol="0" anchor="ctr">
            <a:normAutofit/>
          </a:bodyPr>
          <a:lstStyle/>
          <a:p>
            <a:pPr marL="0" indent="0" algn="l">
              <a:buNone/>
            </a:pPr>
            <a:r>
              <a:rPr lang="en-US" sz="1550" dirty="0">
                <a:solidFill>
                  <a:srgbClr val="F4F8FC"/>
                </a:solidFill>
                <a:latin typeface="Aptos" pitchFamily="34" charset="0"/>
                <a:ea typeface="Aptos" pitchFamily="34" charset="-122"/>
                <a:cs typeface="Aptos" pitchFamily="34" charset="-120"/>
              </a:rPr>
              <a:t>Isolar metadados e usar saída temporária</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REVISÃO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25</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Perguntas frequentes · Top 15</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Bloco 1 de 3 — respostas para usar na demonstração e no debate.</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77240" y="1865376"/>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60120" y="2029968"/>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01</a:t>
            </a:r>
            <a:endParaRPr lang="en-US" sz="1650" dirty="0"/>
          </a:p>
        </p:txBody>
      </p:sp>
      <p:sp>
        <p:nvSpPr>
          <p:cNvPr id="13" name="Text 11"/>
          <p:cNvSpPr/>
          <p:nvPr/>
        </p:nvSpPr>
        <p:spPr>
          <a:xfrm>
            <a:off x="1563624" y="1961388"/>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que é Spring Batch?</a:t>
            </a:r>
            <a:endParaRPr lang="en-US" sz="1530" dirty="0"/>
          </a:p>
        </p:txBody>
      </p:sp>
      <p:sp>
        <p:nvSpPr>
          <p:cNvPr id="14" name="Text 12"/>
          <p:cNvSpPr/>
          <p:nvPr/>
        </p:nvSpPr>
        <p:spPr>
          <a:xfrm>
            <a:off x="5404104" y="1961388"/>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Framework para organizar processamento em lote com transações, metadados e recuperação.</a:t>
            </a:r>
            <a:endParaRPr lang="en-US" sz="1370" dirty="0"/>
          </a:p>
        </p:txBody>
      </p:sp>
      <p:sp>
        <p:nvSpPr>
          <p:cNvPr id="15" name="Shape 13"/>
          <p:cNvSpPr/>
          <p:nvPr/>
        </p:nvSpPr>
        <p:spPr>
          <a:xfrm>
            <a:off x="777240" y="2624328"/>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16" name="Text 14"/>
          <p:cNvSpPr/>
          <p:nvPr/>
        </p:nvSpPr>
        <p:spPr>
          <a:xfrm>
            <a:off x="960120" y="2788920"/>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02</a:t>
            </a:r>
            <a:endParaRPr lang="en-US" sz="1650" dirty="0"/>
          </a:p>
        </p:txBody>
      </p:sp>
      <p:sp>
        <p:nvSpPr>
          <p:cNvPr id="17" name="Text 15"/>
          <p:cNvSpPr/>
          <p:nvPr/>
        </p:nvSpPr>
        <p:spPr>
          <a:xfrm>
            <a:off x="1563624" y="2720340"/>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que é um Job?</a:t>
            </a:r>
            <a:endParaRPr lang="en-US" sz="1530" dirty="0"/>
          </a:p>
        </p:txBody>
      </p:sp>
      <p:sp>
        <p:nvSpPr>
          <p:cNvPr id="18" name="Text 16"/>
          <p:cNvSpPr/>
          <p:nvPr/>
        </p:nvSpPr>
        <p:spPr>
          <a:xfrm>
            <a:off x="5404104" y="2720340"/>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É o trabalho completo que queremos executar.</a:t>
            </a:r>
            <a:endParaRPr lang="en-US" sz="1370" dirty="0"/>
          </a:p>
        </p:txBody>
      </p:sp>
      <p:sp>
        <p:nvSpPr>
          <p:cNvPr id="19" name="Shape 17"/>
          <p:cNvSpPr/>
          <p:nvPr/>
        </p:nvSpPr>
        <p:spPr>
          <a:xfrm>
            <a:off x="777240" y="3383280"/>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0" name="Text 18"/>
          <p:cNvSpPr/>
          <p:nvPr/>
        </p:nvSpPr>
        <p:spPr>
          <a:xfrm>
            <a:off x="960120" y="3547872"/>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03</a:t>
            </a:r>
            <a:endParaRPr lang="en-US" sz="1650" dirty="0"/>
          </a:p>
        </p:txBody>
      </p:sp>
      <p:sp>
        <p:nvSpPr>
          <p:cNvPr id="21" name="Text 19"/>
          <p:cNvSpPr/>
          <p:nvPr/>
        </p:nvSpPr>
        <p:spPr>
          <a:xfrm>
            <a:off x="1563624" y="3479292"/>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que é um Step?</a:t>
            </a:r>
            <a:endParaRPr lang="en-US" sz="1530" dirty="0"/>
          </a:p>
        </p:txBody>
      </p:sp>
      <p:sp>
        <p:nvSpPr>
          <p:cNvPr id="22" name="Text 20"/>
          <p:cNvSpPr/>
          <p:nvPr/>
        </p:nvSpPr>
        <p:spPr>
          <a:xfrm>
            <a:off x="5404104" y="3479292"/>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É uma etapa desse trabalho.</a:t>
            </a:r>
            <a:endParaRPr lang="en-US" sz="1370" dirty="0"/>
          </a:p>
        </p:txBody>
      </p:sp>
      <p:sp>
        <p:nvSpPr>
          <p:cNvPr id="23" name="Shape 21"/>
          <p:cNvSpPr/>
          <p:nvPr/>
        </p:nvSpPr>
        <p:spPr>
          <a:xfrm>
            <a:off x="777240" y="4142232"/>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24" name="Text 22"/>
          <p:cNvSpPr/>
          <p:nvPr/>
        </p:nvSpPr>
        <p:spPr>
          <a:xfrm>
            <a:off x="960120" y="4306824"/>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04</a:t>
            </a:r>
            <a:endParaRPr lang="en-US" sz="1650" dirty="0"/>
          </a:p>
        </p:txBody>
      </p:sp>
      <p:sp>
        <p:nvSpPr>
          <p:cNvPr id="25" name="Text 23"/>
          <p:cNvSpPr/>
          <p:nvPr/>
        </p:nvSpPr>
        <p:spPr>
          <a:xfrm>
            <a:off x="1563624" y="4238244"/>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que é um Chunk?</a:t>
            </a:r>
            <a:endParaRPr lang="en-US" sz="1530" dirty="0"/>
          </a:p>
        </p:txBody>
      </p:sp>
      <p:sp>
        <p:nvSpPr>
          <p:cNvPr id="26" name="Text 24"/>
          <p:cNvSpPr/>
          <p:nvPr/>
        </p:nvSpPr>
        <p:spPr>
          <a:xfrm>
            <a:off x="5404104" y="4238244"/>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Grupo de itens associado a uma unidade transacional.</a:t>
            </a:r>
            <a:endParaRPr lang="en-US" sz="1370" dirty="0"/>
          </a:p>
        </p:txBody>
      </p:sp>
      <p:sp>
        <p:nvSpPr>
          <p:cNvPr id="27" name="Shape 25"/>
          <p:cNvSpPr/>
          <p:nvPr/>
        </p:nvSpPr>
        <p:spPr>
          <a:xfrm>
            <a:off x="777240" y="4901184"/>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8" name="Text 26"/>
          <p:cNvSpPr/>
          <p:nvPr/>
        </p:nvSpPr>
        <p:spPr>
          <a:xfrm>
            <a:off x="960120" y="5065776"/>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05</a:t>
            </a:r>
            <a:endParaRPr lang="en-US" sz="1650" dirty="0"/>
          </a:p>
        </p:txBody>
      </p:sp>
      <p:sp>
        <p:nvSpPr>
          <p:cNvPr id="29" name="Text 27"/>
          <p:cNvSpPr/>
          <p:nvPr/>
        </p:nvSpPr>
        <p:spPr>
          <a:xfrm>
            <a:off x="1563624" y="4997196"/>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Reader faz o quê?</a:t>
            </a:r>
            <a:endParaRPr lang="en-US" sz="1530" dirty="0"/>
          </a:p>
        </p:txBody>
      </p:sp>
      <p:sp>
        <p:nvSpPr>
          <p:cNvPr id="30" name="Text 28"/>
          <p:cNvSpPr/>
          <p:nvPr/>
        </p:nvSpPr>
        <p:spPr>
          <a:xfrm>
            <a:off x="5404104" y="4997196"/>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Lê a entrada e entrega os itens.</a:t>
            </a:r>
            <a:endParaRPr lang="en-US" sz="137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REVISÃO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26</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Perguntas frequentes · Top 15</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Bloco 2 de 3 — respostas para usar na demonstração e no debate.</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77240" y="1865376"/>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60120" y="2029968"/>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06</a:t>
            </a:r>
            <a:endParaRPr lang="en-US" sz="1650" dirty="0"/>
          </a:p>
        </p:txBody>
      </p:sp>
      <p:sp>
        <p:nvSpPr>
          <p:cNvPr id="13" name="Text 11"/>
          <p:cNvSpPr/>
          <p:nvPr/>
        </p:nvSpPr>
        <p:spPr>
          <a:xfrm>
            <a:off x="1563624" y="1961388"/>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Processor faz o quê?</a:t>
            </a:r>
            <a:endParaRPr lang="en-US" sz="1530" dirty="0"/>
          </a:p>
        </p:txBody>
      </p:sp>
      <p:sp>
        <p:nvSpPr>
          <p:cNvPr id="14" name="Text 12"/>
          <p:cNvSpPr/>
          <p:nvPr/>
        </p:nvSpPr>
        <p:spPr>
          <a:xfrm>
            <a:off x="5404104" y="1961388"/>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Aplica a transformação em cada item.</a:t>
            </a:r>
            <a:endParaRPr lang="en-US" sz="1370" dirty="0"/>
          </a:p>
        </p:txBody>
      </p:sp>
      <p:sp>
        <p:nvSpPr>
          <p:cNvPr id="15" name="Shape 13"/>
          <p:cNvSpPr/>
          <p:nvPr/>
        </p:nvSpPr>
        <p:spPr>
          <a:xfrm>
            <a:off x="777240" y="2624328"/>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16" name="Text 14"/>
          <p:cNvSpPr/>
          <p:nvPr/>
        </p:nvSpPr>
        <p:spPr>
          <a:xfrm>
            <a:off x="960120" y="2788920"/>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07</a:t>
            </a:r>
            <a:endParaRPr lang="en-US" sz="1650" dirty="0"/>
          </a:p>
        </p:txBody>
      </p:sp>
      <p:sp>
        <p:nvSpPr>
          <p:cNvPr id="17" name="Text 15"/>
          <p:cNvSpPr/>
          <p:nvPr/>
        </p:nvSpPr>
        <p:spPr>
          <a:xfrm>
            <a:off x="1563624" y="2720340"/>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Writer faz o quê?</a:t>
            </a:r>
            <a:endParaRPr lang="en-US" sz="1530" dirty="0"/>
          </a:p>
        </p:txBody>
      </p:sp>
      <p:sp>
        <p:nvSpPr>
          <p:cNvPr id="18" name="Text 16"/>
          <p:cNvSpPr/>
          <p:nvPr/>
        </p:nvSpPr>
        <p:spPr>
          <a:xfrm>
            <a:off x="5404104" y="2720340"/>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Escreve os itens recebidos em grupos.</a:t>
            </a:r>
            <a:endParaRPr lang="en-US" sz="1370" dirty="0"/>
          </a:p>
        </p:txBody>
      </p:sp>
      <p:sp>
        <p:nvSpPr>
          <p:cNvPr id="19" name="Shape 17"/>
          <p:cNvSpPr/>
          <p:nvPr/>
        </p:nvSpPr>
        <p:spPr>
          <a:xfrm>
            <a:off x="777240" y="3383280"/>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0" name="Text 18"/>
          <p:cNvSpPr/>
          <p:nvPr/>
        </p:nvSpPr>
        <p:spPr>
          <a:xfrm>
            <a:off x="960120" y="3547872"/>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08</a:t>
            </a:r>
            <a:endParaRPr lang="en-US" sz="1650" dirty="0"/>
          </a:p>
        </p:txBody>
      </p:sp>
      <p:sp>
        <p:nvSpPr>
          <p:cNvPr id="21" name="Text 19"/>
          <p:cNvSpPr/>
          <p:nvPr/>
        </p:nvSpPr>
        <p:spPr>
          <a:xfrm>
            <a:off x="1563624" y="3479292"/>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Por que chunk de tamanho dois?</a:t>
            </a:r>
            <a:endParaRPr lang="en-US" sz="1530" dirty="0"/>
          </a:p>
        </p:txBody>
      </p:sp>
      <p:sp>
        <p:nvSpPr>
          <p:cNvPr id="22" name="Text 20"/>
          <p:cNvSpPr/>
          <p:nvPr/>
        </p:nvSpPr>
        <p:spPr>
          <a:xfrm>
            <a:off x="5404104" y="3479292"/>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Para visualizar facilmente o agrupamento dos nossos três produtos.</a:t>
            </a:r>
            <a:endParaRPr lang="en-US" sz="1370" dirty="0"/>
          </a:p>
        </p:txBody>
      </p:sp>
      <p:sp>
        <p:nvSpPr>
          <p:cNvPr id="23" name="Shape 21"/>
          <p:cNvSpPr/>
          <p:nvPr/>
        </p:nvSpPr>
        <p:spPr>
          <a:xfrm>
            <a:off x="777240" y="4142232"/>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24" name="Text 22"/>
          <p:cNvSpPr/>
          <p:nvPr/>
        </p:nvSpPr>
        <p:spPr>
          <a:xfrm>
            <a:off x="960120" y="4306824"/>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09</a:t>
            </a:r>
            <a:endParaRPr lang="en-US" sz="1650" dirty="0"/>
          </a:p>
        </p:txBody>
      </p:sp>
      <p:sp>
        <p:nvSpPr>
          <p:cNvPr id="25" name="Text 23"/>
          <p:cNvSpPr/>
          <p:nvPr/>
        </p:nvSpPr>
        <p:spPr>
          <a:xfrm>
            <a:off x="1563624" y="4238244"/>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Quando acontece o commit?</a:t>
            </a:r>
            <a:endParaRPr lang="en-US" sz="1530" dirty="0"/>
          </a:p>
        </p:txBody>
      </p:sp>
      <p:sp>
        <p:nvSpPr>
          <p:cNvPr id="26" name="Text 24"/>
          <p:cNvSpPr/>
          <p:nvPr/>
        </p:nvSpPr>
        <p:spPr>
          <a:xfrm>
            <a:off x="5404104" y="4238244"/>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Quando a transação do chunk é confirmada.</a:t>
            </a:r>
            <a:endParaRPr lang="en-US" sz="1370" dirty="0"/>
          </a:p>
        </p:txBody>
      </p:sp>
      <p:sp>
        <p:nvSpPr>
          <p:cNvPr id="27" name="Shape 25"/>
          <p:cNvSpPr/>
          <p:nvPr/>
        </p:nvSpPr>
        <p:spPr>
          <a:xfrm>
            <a:off x="777240" y="4901184"/>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8" name="Text 26"/>
          <p:cNvSpPr/>
          <p:nvPr/>
        </p:nvSpPr>
        <p:spPr>
          <a:xfrm>
            <a:off x="960120" y="5065776"/>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10</a:t>
            </a:r>
            <a:endParaRPr lang="en-US" sz="1650" dirty="0"/>
          </a:p>
        </p:txBody>
      </p:sp>
      <p:sp>
        <p:nvSpPr>
          <p:cNvPr id="29" name="Text 27"/>
          <p:cNvSpPr/>
          <p:nvPr/>
        </p:nvSpPr>
        <p:spPr>
          <a:xfrm>
            <a:off x="1563624" y="4997196"/>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O que ocorre quando o Mouse falha?</a:t>
            </a:r>
            <a:endParaRPr lang="en-US" sz="1530" dirty="0"/>
          </a:p>
        </p:txBody>
      </p:sp>
      <p:sp>
        <p:nvSpPr>
          <p:cNvPr id="30" name="Text 28"/>
          <p:cNvSpPr/>
          <p:nvPr/>
        </p:nvSpPr>
        <p:spPr>
          <a:xfrm>
            <a:off x="5404104" y="4997196"/>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O primeiro chunk sofre rollback e, nesta POC, o Step falha.</a:t>
            </a:r>
            <a:endParaRPr lang="en-US" sz="137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37C4F3"/>
          </a:solidFill>
          <a:ln w="12700">
            <a:solidFill>
              <a:srgbClr val="37C4F3">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37C4F3"/>
                </a:solidFill>
                <a:latin typeface="Aptos" pitchFamily="34" charset="0"/>
                <a:ea typeface="Aptos" pitchFamily="34" charset="-122"/>
                <a:cs typeface="Aptos" pitchFamily="34" charset="-120"/>
              </a:rPr>
              <a:t>REVISÃO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27</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Perguntas frequentes · Top 15</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Bloco 3 de 3 — respostas para usar na demonstração e no debate.</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Shape 9"/>
          <p:cNvSpPr/>
          <p:nvPr/>
        </p:nvSpPr>
        <p:spPr>
          <a:xfrm>
            <a:off x="777240" y="1865376"/>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12" name="Text 10"/>
          <p:cNvSpPr/>
          <p:nvPr/>
        </p:nvSpPr>
        <p:spPr>
          <a:xfrm>
            <a:off x="960120" y="2029968"/>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11</a:t>
            </a:r>
            <a:endParaRPr lang="en-US" sz="1650" dirty="0"/>
          </a:p>
        </p:txBody>
      </p:sp>
      <p:sp>
        <p:nvSpPr>
          <p:cNvPr id="13" name="Text 11"/>
          <p:cNvSpPr/>
          <p:nvPr/>
        </p:nvSpPr>
        <p:spPr>
          <a:xfrm>
            <a:off x="1563624" y="1961388"/>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Rollback desfaz qualquer arquivo?</a:t>
            </a:r>
            <a:endParaRPr lang="en-US" sz="1530" dirty="0"/>
          </a:p>
        </p:txBody>
      </p:sp>
      <p:sp>
        <p:nvSpPr>
          <p:cNvPr id="14" name="Text 12"/>
          <p:cNvSpPr/>
          <p:nvPr/>
        </p:nvSpPr>
        <p:spPr>
          <a:xfrm>
            <a:off x="5404104" y="1961388"/>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Não. Precisamos considerar o comportamento do Writer.</a:t>
            </a:r>
            <a:endParaRPr lang="en-US" sz="1370" dirty="0"/>
          </a:p>
        </p:txBody>
      </p:sp>
      <p:sp>
        <p:nvSpPr>
          <p:cNvPr id="15" name="Shape 13"/>
          <p:cNvSpPr/>
          <p:nvPr/>
        </p:nvSpPr>
        <p:spPr>
          <a:xfrm>
            <a:off x="777240" y="2624328"/>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16" name="Text 14"/>
          <p:cNvSpPr/>
          <p:nvPr/>
        </p:nvSpPr>
        <p:spPr>
          <a:xfrm>
            <a:off x="960120" y="2788920"/>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12</a:t>
            </a:r>
            <a:endParaRPr lang="en-US" sz="1650" dirty="0"/>
          </a:p>
        </p:txBody>
      </p:sp>
      <p:sp>
        <p:nvSpPr>
          <p:cNvPr id="17" name="Text 15"/>
          <p:cNvSpPr/>
          <p:nvPr/>
        </p:nvSpPr>
        <p:spPr>
          <a:xfrm>
            <a:off x="1563624" y="2720340"/>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Para que serve o JobRepository?</a:t>
            </a:r>
            <a:endParaRPr lang="en-US" sz="1530" dirty="0"/>
          </a:p>
        </p:txBody>
      </p:sp>
      <p:sp>
        <p:nvSpPr>
          <p:cNvPr id="18" name="Text 16"/>
          <p:cNvSpPr/>
          <p:nvPr/>
        </p:nvSpPr>
        <p:spPr>
          <a:xfrm>
            <a:off x="5404104" y="2720340"/>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Persistir metadados de execução e apoiar o restart.</a:t>
            </a:r>
            <a:endParaRPr lang="en-US" sz="1370" dirty="0"/>
          </a:p>
        </p:txBody>
      </p:sp>
      <p:sp>
        <p:nvSpPr>
          <p:cNvPr id="19" name="Shape 17"/>
          <p:cNvSpPr/>
          <p:nvPr/>
        </p:nvSpPr>
        <p:spPr>
          <a:xfrm>
            <a:off x="777240" y="3383280"/>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0" name="Text 18"/>
          <p:cNvSpPr/>
          <p:nvPr/>
        </p:nvSpPr>
        <p:spPr>
          <a:xfrm>
            <a:off x="960120" y="3547872"/>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13</a:t>
            </a:r>
            <a:endParaRPr lang="en-US" sz="1650" dirty="0"/>
          </a:p>
        </p:txBody>
      </p:sp>
      <p:sp>
        <p:nvSpPr>
          <p:cNvPr id="21" name="Text 19"/>
          <p:cNvSpPr/>
          <p:nvPr/>
        </p:nvSpPr>
        <p:spPr>
          <a:xfrm>
            <a:off x="1563624" y="3479292"/>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JobInstance e JobExecution são iguais?</a:t>
            </a:r>
            <a:endParaRPr lang="en-US" sz="1530" dirty="0"/>
          </a:p>
        </p:txBody>
      </p:sp>
      <p:sp>
        <p:nvSpPr>
          <p:cNvPr id="22" name="Text 20"/>
          <p:cNvSpPr/>
          <p:nvPr/>
        </p:nvSpPr>
        <p:spPr>
          <a:xfrm>
            <a:off x="5404104" y="3479292"/>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Não. Uma identifica o processamento; outra representa uma tentativa.</a:t>
            </a:r>
            <a:endParaRPr lang="en-US" sz="1370" dirty="0"/>
          </a:p>
        </p:txBody>
      </p:sp>
      <p:sp>
        <p:nvSpPr>
          <p:cNvPr id="23" name="Shape 21"/>
          <p:cNvSpPr/>
          <p:nvPr/>
        </p:nvSpPr>
        <p:spPr>
          <a:xfrm>
            <a:off x="777240" y="4142232"/>
            <a:ext cx="10616184" cy="667512"/>
          </a:xfrm>
          <a:prstGeom prst="roundRect">
            <a:avLst>
              <a:gd name="adj" fmla="val 17808"/>
            </a:avLst>
          </a:prstGeom>
          <a:solidFill>
            <a:srgbClr val="142C43"/>
          </a:solidFill>
          <a:ln w="12700">
            <a:solidFill>
              <a:srgbClr val="2E4860">
                <a:alpha val="90000"/>
              </a:srgbClr>
            </a:solidFill>
            <a:prstDash val="solid"/>
          </a:ln>
        </p:spPr>
        <p:txBody>
          <a:bodyPr/>
          <a:lstStyle/>
          <a:p>
            <a:endParaRPr lang="pt-BR"/>
          </a:p>
        </p:txBody>
      </p:sp>
      <p:sp>
        <p:nvSpPr>
          <p:cNvPr id="24" name="Text 22"/>
          <p:cNvSpPr/>
          <p:nvPr/>
        </p:nvSpPr>
        <p:spPr>
          <a:xfrm>
            <a:off x="960120" y="4306824"/>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14</a:t>
            </a:r>
            <a:endParaRPr lang="en-US" sz="1650" dirty="0"/>
          </a:p>
        </p:txBody>
      </p:sp>
      <p:sp>
        <p:nvSpPr>
          <p:cNvPr id="25" name="Text 23"/>
          <p:cNvSpPr/>
          <p:nvPr/>
        </p:nvSpPr>
        <p:spPr>
          <a:xfrm>
            <a:off x="1563624" y="4238244"/>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Como demonstramos restart?</a:t>
            </a:r>
            <a:endParaRPr lang="en-US" sz="1530" dirty="0"/>
          </a:p>
        </p:txBody>
      </p:sp>
      <p:sp>
        <p:nvSpPr>
          <p:cNvPr id="26" name="Text 24"/>
          <p:cNvSpPr/>
          <p:nvPr/>
        </p:nvSpPr>
        <p:spPr>
          <a:xfrm>
            <a:off x="5404104" y="4238244"/>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Preservamos a instância que falhou e executamos outra tentativa com os mesmos parâmetros identificadores.</a:t>
            </a:r>
            <a:endParaRPr lang="en-US" sz="1370" dirty="0"/>
          </a:p>
        </p:txBody>
      </p:sp>
      <p:sp>
        <p:nvSpPr>
          <p:cNvPr id="27" name="Shape 25"/>
          <p:cNvSpPr/>
          <p:nvPr/>
        </p:nvSpPr>
        <p:spPr>
          <a:xfrm>
            <a:off x="777240" y="4901184"/>
            <a:ext cx="10616184" cy="667512"/>
          </a:xfrm>
          <a:prstGeom prst="roundRect">
            <a:avLst>
              <a:gd name="adj" fmla="val 17808"/>
            </a:avLst>
          </a:prstGeom>
          <a:solidFill>
            <a:srgbClr val="102337"/>
          </a:solidFill>
          <a:ln w="12700">
            <a:solidFill>
              <a:srgbClr val="2E4860">
                <a:alpha val="90000"/>
              </a:srgbClr>
            </a:solidFill>
            <a:prstDash val="solid"/>
          </a:ln>
        </p:spPr>
        <p:txBody>
          <a:bodyPr/>
          <a:lstStyle/>
          <a:p>
            <a:endParaRPr lang="pt-BR"/>
          </a:p>
        </p:txBody>
      </p:sp>
      <p:sp>
        <p:nvSpPr>
          <p:cNvPr id="28" name="Text 26"/>
          <p:cNvSpPr/>
          <p:nvPr/>
        </p:nvSpPr>
        <p:spPr>
          <a:xfrm>
            <a:off x="960120" y="5065776"/>
            <a:ext cx="557784" cy="283464"/>
          </a:xfrm>
          <a:prstGeom prst="rect">
            <a:avLst/>
          </a:prstGeom>
          <a:noFill/>
          <a:ln/>
        </p:spPr>
        <p:txBody>
          <a:bodyPr wrap="square" lIns="0" tIns="0" rIns="0" bIns="0" rtlCol="0" anchor="ctr">
            <a:normAutofit/>
          </a:bodyPr>
          <a:lstStyle/>
          <a:p>
            <a:pPr marL="0" indent="0" algn="l">
              <a:buNone/>
            </a:pPr>
            <a:r>
              <a:rPr lang="en-US" sz="1650" b="1" dirty="0">
                <a:solidFill>
                  <a:srgbClr val="4FE0B5"/>
                </a:solidFill>
                <a:latin typeface="Aptos" pitchFamily="34" charset="0"/>
                <a:ea typeface="Aptos" pitchFamily="34" charset="-122"/>
                <a:cs typeface="Aptos" pitchFamily="34" charset="-120"/>
              </a:rPr>
              <a:t>15</a:t>
            </a:r>
            <a:endParaRPr lang="en-US" sz="1650" dirty="0"/>
          </a:p>
        </p:txBody>
      </p:sp>
      <p:sp>
        <p:nvSpPr>
          <p:cNvPr id="29" name="Text 27"/>
          <p:cNvSpPr/>
          <p:nvPr/>
        </p:nvSpPr>
        <p:spPr>
          <a:xfrm>
            <a:off x="1563624" y="4997196"/>
            <a:ext cx="3749040" cy="438912"/>
          </a:xfrm>
          <a:prstGeom prst="rect">
            <a:avLst/>
          </a:prstGeom>
          <a:noFill/>
          <a:ln/>
        </p:spPr>
        <p:txBody>
          <a:bodyPr wrap="square" lIns="0" tIns="0" rIns="0" bIns="0" rtlCol="0" anchor="ctr">
            <a:normAutofit/>
          </a:bodyPr>
          <a:lstStyle/>
          <a:p>
            <a:pPr marL="0" indent="0" algn="l">
              <a:buNone/>
            </a:pPr>
            <a:r>
              <a:rPr lang="en-US" sz="1530" b="1" dirty="0">
                <a:solidFill>
                  <a:srgbClr val="F4F8FC"/>
                </a:solidFill>
                <a:latin typeface="Aptos" pitchFamily="34" charset="0"/>
                <a:ea typeface="Aptos" pitchFamily="34" charset="-122"/>
                <a:cs typeface="Aptos" pitchFamily="34" charset="-120"/>
              </a:rPr>
              <a:t>Como comprovamos o resultado?</a:t>
            </a:r>
            <a:endParaRPr lang="en-US" sz="1530" dirty="0"/>
          </a:p>
        </p:txBody>
      </p:sp>
      <p:sp>
        <p:nvSpPr>
          <p:cNvPr id="30" name="Text 28"/>
          <p:cNvSpPr/>
          <p:nvPr/>
        </p:nvSpPr>
        <p:spPr>
          <a:xfrm>
            <a:off x="5404104" y="4997196"/>
            <a:ext cx="5650992" cy="448056"/>
          </a:xfrm>
          <a:prstGeom prst="rect">
            <a:avLst/>
          </a:prstGeom>
          <a:noFill/>
          <a:ln/>
        </p:spPr>
        <p:txBody>
          <a:bodyPr wrap="square" lIns="0" tIns="0" rIns="0" bIns="0" rtlCol="0" anchor="ctr">
            <a:normAutofit/>
          </a:bodyPr>
          <a:lstStyle/>
          <a:p>
            <a:pPr marL="0" indent="0" algn="l">
              <a:buNone/>
            </a:pPr>
            <a:r>
              <a:rPr lang="en-US" sz="1370" dirty="0">
                <a:solidFill>
                  <a:srgbClr val="B8C6D5"/>
                </a:solidFill>
                <a:latin typeface="Aptos" pitchFamily="34" charset="0"/>
                <a:ea typeface="Aptos" pitchFamily="34" charset="-122"/>
                <a:cs typeface="Aptos" pitchFamily="34" charset="-120"/>
              </a:rPr>
              <a:t>Conferimos status, contadores, conteúdo do arquivo e testes.</a:t>
            </a:r>
            <a:endParaRPr lang="en-US" sz="137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4FE0B5"/>
          </a:solidFill>
          <a:ln w="12700">
            <a:solidFill>
              <a:srgbClr val="4FE0B5">
                <a:alpha val="0"/>
              </a:srgbClr>
            </a:solidFill>
            <a:prstDash val="solid"/>
          </a:ln>
        </p:spPr>
        <p:txBody>
          <a:bodyPr/>
          <a:lstStyle/>
          <a:p>
            <a:endParaRPr lang="pt-BR"/>
          </a:p>
        </p:txBody>
      </p:sp>
      <p:sp>
        <p:nvSpPr>
          <p:cNvPr id="3" name="Shape 1"/>
          <p:cNvSpPr/>
          <p:nvPr/>
        </p:nvSpPr>
        <p:spPr>
          <a:xfrm>
            <a:off x="566928" y="448056"/>
            <a:ext cx="11064240" cy="0"/>
          </a:xfrm>
          <a:prstGeom prst="line">
            <a:avLst/>
          </a:prstGeom>
          <a:noFill/>
          <a:ln w="10160">
            <a:solidFill>
              <a:srgbClr val="2E4860"/>
            </a:solidFill>
            <a:prstDash val="solid"/>
          </a:ln>
        </p:spPr>
        <p:txBody>
          <a:bodyPr/>
          <a:lstStyle/>
          <a:p>
            <a:endParaRPr lang="pt-BR"/>
          </a:p>
        </p:txBody>
      </p:sp>
      <p:sp>
        <p:nvSpPr>
          <p:cNvPr id="4" name="Text 2"/>
          <p:cNvSpPr/>
          <p:nvPr/>
        </p:nvSpPr>
        <p:spPr>
          <a:xfrm>
            <a:off x="603504" y="155448"/>
            <a:ext cx="6400800" cy="201168"/>
          </a:xfrm>
          <a:prstGeom prst="rect">
            <a:avLst/>
          </a:prstGeom>
          <a:noFill/>
          <a:ln/>
        </p:spPr>
        <p:txBody>
          <a:bodyPr wrap="square" lIns="0" tIns="0" rIns="0" bIns="0" rtlCol="0" anchor="ctr">
            <a:normAutofit/>
          </a:bodyPr>
          <a:lstStyle/>
          <a:p>
            <a:pPr marL="0" indent="0" algn="l">
              <a:buNone/>
            </a:pPr>
            <a:r>
              <a:rPr lang="en-US" sz="1050" b="1" kern="0" spc="200" dirty="0">
                <a:solidFill>
                  <a:srgbClr val="4FE0B5"/>
                </a:solidFill>
                <a:latin typeface="Aptos" pitchFamily="34" charset="0"/>
                <a:ea typeface="Aptos" pitchFamily="34" charset="-122"/>
                <a:cs typeface="Aptos" pitchFamily="34" charset="-120"/>
              </a:rPr>
              <a:t>ENCERRAMENTO</a:t>
            </a:r>
            <a:endParaRPr lang="en-US" sz="1050" dirty="0"/>
          </a:p>
        </p:txBody>
      </p:sp>
      <p:sp>
        <p:nvSpPr>
          <p:cNvPr id="5" name="Text 3"/>
          <p:cNvSpPr/>
          <p:nvPr/>
        </p:nvSpPr>
        <p:spPr>
          <a:xfrm>
            <a:off x="10981944" y="146304"/>
            <a:ext cx="594360" cy="237744"/>
          </a:xfrm>
          <a:prstGeom prst="rect">
            <a:avLst/>
          </a:prstGeom>
          <a:noFill/>
          <a:ln/>
        </p:spPr>
        <p:txBody>
          <a:bodyPr wrap="square" lIns="0" tIns="0" rIns="0" bIns="0" rtlCol="0" anchor="ctr">
            <a:normAutofit/>
          </a:bodyPr>
          <a:lstStyle/>
          <a:p>
            <a:pPr marL="0" indent="0" algn="r">
              <a:buNone/>
            </a:pPr>
            <a:r>
              <a:rPr lang="en-US" sz="1100" dirty="0">
                <a:solidFill>
                  <a:srgbClr val="B8C6D5"/>
                </a:solidFill>
                <a:latin typeface="Aptos" pitchFamily="34" charset="0"/>
                <a:ea typeface="Aptos" pitchFamily="34" charset="-122"/>
                <a:cs typeface="Aptos" pitchFamily="34" charset="-120"/>
              </a:rPr>
              <a:t>28</a:t>
            </a:r>
            <a:endParaRPr lang="en-US" sz="1100" dirty="0"/>
          </a:p>
        </p:txBody>
      </p:sp>
      <p:sp>
        <p:nvSpPr>
          <p:cNvPr id="6" name="Text 4"/>
          <p:cNvSpPr/>
          <p:nvPr/>
        </p:nvSpPr>
        <p:spPr>
          <a:xfrm>
            <a:off x="594360" y="713232"/>
            <a:ext cx="11018520" cy="530352"/>
          </a:xfrm>
          <a:prstGeom prst="rect">
            <a:avLst/>
          </a:prstGeom>
          <a:noFill/>
          <a:ln/>
        </p:spPr>
        <p:txBody>
          <a:bodyPr wrap="square" lIns="0" tIns="0" rIns="0" bIns="0" rtlCol="0" anchor="ctr">
            <a:normAutofit/>
          </a:bodyPr>
          <a:lstStyle/>
          <a:p>
            <a:pPr marL="0" indent="0" algn="l">
              <a:buNone/>
            </a:pPr>
            <a:r>
              <a:rPr lang="en-US" sz="3050" b="1" dirty="0">
                <a:solidFill>
                  <a:srgbClr val="F4F8FC"/>
                </a:solidFill>
                <a:latin typeface="Aptos" pitchFamily="34" charset="0"/>
                <a:ea typeface="Aptos" pitchFamily="34" charset="-122"/>
                <a:cs typeface="Aptos" pitchFamily="34" charset="-120"/>
              </a:rPr>
              <a:t>Encerramento — Demonstrem o que aprenderam</a:t>
            </a:r>
            <a:endParaRPr lang="en-US" sz="3050" dirty="0"/>
          </a:p>
        </p:txBody>
      </p:sp>
      <p:sp>
        <p:nvSpPr>
          <p:cNvPr id="7" name="Text 5"/>
          <p:cNvSpPr/>
          <p:nvPr/>
        </p:nvSpPr>
        <p:spPr>
          <a:xfrm>
            <a:off x="621792" y="1280160"/>
            <a:ext cx="10881360" cy="402336"/>
          </a:xfrm>
          <a:prstGeom prst="rect">
            <a:avLst/>
          </a:prstGeom>
          <a:noFill/>
          <a:ln/>
        </p:spPr>
        <p:txBody>
          <a:bodyPr wrap="square" lIns="0" tIns="0" rIns="0" bIns="0" rtlCol="0" anchor="ctr">
            <a:normAutofit/>
          </a:bodyPr>
          <a:lstStyle/>
          <a:p>
            <a:pPr marL="0" indent="0" algn="l">
              <a:buNone/>
            </a:pPr>
            <a:r>
              <a:rPr lang="en-US" sz="1550" dirty="0">
                <a:solidFill>
                  <a:srgbClr val="B8C6D5"/>
                </a:solidFill>
                <a:latin typeface="Aptos" pitchFamily="34" charset="0"/>
                <a:ea typeface="Aptos" pitchFamily="34" charset="-122"/>
                <a:cs typeface="Aptos" pitchFamily="34" charset="-120"/>
              </a:rPr>
              <a:t>A meta é explicar, observar e recuperar — não apenas “fazer funcionar”.</a:t>
            </a:r>
            <a:endParaRPr lang="en-US" sz="1550" dirty="0"/>
          </a:p>
        </p:txBody>
      </p:sp>
      <p:sp>
        <p:nvSpPr>
          <p:cNvPr id="8" name="Shape 6"/>
          <p:cNvSpPr/>
          <p:nvPr/>
        </p:nvSpPr>
        <p:spPr>
          <a:xfrm>
            <a:off x="585216" y="6455664"/>
            <a:ext cx="11000232" cy="0"/>
          </a:xfrm>
          <a:prstGeom prst="line">
            <a:avLst/>
          </a:prstGeom>
          <a:noFill/>
          <a:ln w="10160">
            <a:solidFill>
              <a:srgbClr val="2E4860"/>
            </a:solidFill>
            <a:prstDash val="solid"/>
          </a:ln>
        </p:spPr>
        <p:txBody>
          <a:bodyPr/>
          <a:lstStyle/>
          <a:p>
            <a:endParaRPr lang="pt-BR"/>
          </a:p>
        </p:txBody>
      </p:sp>
      <p:sp>
        <p:nvSpPr>
          <p:cNvPr id="9" name="Text 7"/>
          <p:cNvSpPr/>
          <p:nvPr/>
        </p:nvSpPr>
        <p:spPr>
          <a:xfrm>
            <a:off x="603504" y="6510528"/>
            <a:ext cx="5486400" cy="173736"/>
          </a:xfrm>
          <a:prstGeom prst="rect">
            <a:avLst/>
          </a:prstGeom>
          <a:noFill/>
          <a:ln/>
        </p:spPr>
        <p:txBody>
          <a:bodyPr wrap="square" lIns="0" tIns="0" rIns="0" bIns="0" rtlCol="0" anchor="ctr">
            <a:normAutofit/>
          </a:bodyPr>
          <a:lstStyle/>
          <a:p>
            <a:pPr marL="0" indent="0" algn="l">
              <a:buNone/>
            </a:pPr>
            <a:r>
              <a:rPr lang="en-US" sz="880" dirty="0">
                <a:solidFill>
                  <a:srgbClr val="8299B0"/>
                </a:solidFill>
                <a:latin typeface="Aptos" pitchFamily="34" charset="0"/>
                <a:ea typeface="Aptos" pitchFamily="34" charset="-122"/>
                <a:cs typeface="Aptos" pitchFamily="34" charset="-120"/>
              </a:rPr>
              <a:t>SPRING BATCH NA PRÁTICA  ·  V2</a:t>
            </a:r>
            <a:endParaRPr lang="en-US" sz="880" dirty="0"/>
          </a:p>
        </p:txBody>
      </p:sp>
      <p:sp>
        <p:nvSpPr>
          <p:cNvPr id="10" name="Text 8"/>
          <p:cNvSpPr/>
          <p:nvPr/>
        </p:nvSpPr>
        <p:spPr>
          <a:xfrm>
            <a:off x="8366760" y="6510528"/>
            <a:ext cx="3200400" cy="173736"/>
          </a:xfrm>
          <a:prstGeom prst="rect">
            <a:avLst/>
          </a:prstGeom>
          <a:noFill/>
          <a:ln/>
        </p:spPr>
        <p:txBody>
          <a:bodyPr wrap="square" lIns="0" tIns="0" rIns="0" bIns="0" rtlCol="0" anchor="ctr">
            <a:normAutofit/>
          </a:bodyPr>
          <a:lstStyle/>
          <a:p>
            <a:pPr marL="0" indent="0" algn="r">
              <a:buNone/>
            </a:pPr>
            <a:r>
              <a:rPr lang="en-US" sz="880" dirty="0">
                <a:solidFill>
                  <a:srgbClr val="8299B0"/>
                </a:solidFill>
                <a:latin typeface="Aptos" pitchFamily="34" charset="0"/>
                <a:ea typeface="Aptos" pitchFamily="34" charset="-122"/>
                <a:cs typeface="Aptos" pitchFamily="34" charset="-120"/>
              </a:rPr>
              <a:t>TREINAMENTO  |  JAVA 21</a:t>
            </a:r>
            <a:endParaRPr lang="en-US" sz="880" dirty="0"/>
          </a:p>
        </p:txBody>
      </p:sp>
      <p:sp>
        <p:nvSpPr>
          <p:cNvPr id="11" name="Text 9"/>
          <p:cNvSpPr/>
          <p:nvPr/>
        </p:nvSpPr>
        <p:spPr>
          <a:xfrm>
            <a:off x="786384" y="1901952"/>
            <a:ext cx="10149840" cy="347472"/>
          </a:xfrm>
          <a:prstGeom prst="rect">
            <a:avLst/>
          </a:prstGeom>
          <a:noFill/>
          <a:ln/>
        </p:spPr>
        <p:txBody>
          <a:bodyPr wrap="square" lIns="0" tIns="0" rIns="0" bIns="0" rtlCol="0" anchor="ctr">
            <a:normAutofit/>
          </a:bodyPr>
          <a:lstStyle/>
          <a:p>
            <a:pPr marL="0" indent="0" algn="l">
              <a:buNone/>
            </a:pPr>
            <a:r>
              <a:rPr lang="en-US" sz="1700" b="1" dirty="0">
                <a:solidFill>
                  <a:srgbClr val="4FE0B5"/>
                </a:solidFill>
                <a:latin typeface="Aptos" pitchFamily="34" charset="0"/>
                <a:ea typeface="Aptos" pitchFamily="34" charset="-122"/>
                <a:cs typeface="Aptos" pitchFamily="34" charset="-120"/>
              </a:rPr>
              <a:t>CADA PARTICIPANTE DEVE CONSEGUIR:</a:t>
            </a:r>
            <a:endParaRPr lang="en-US" sz="1700" dirty="0"/>
          </a:p>
        </p:txBody>
      </p:sp>
      <p:sp>
        <p:nvSpPr>
          <p:cNvPr id="12" name="Shape 10"/>
          <p:cNvSpPr/>
          <p:nvPr/>
        </p:nvSpPr>
        <p:spPr>
          <a:xfrm>
            <a:off x="932688" y="2560320"/>
            <a:ext cx="164592" cy="164592"/>
          </a:xfrm>
          <a:prstGeom prst="ellipse">
            <a:avLst/>
          </a:prstGeom>
          <a:solidFill>
            <a:srgbClr val="4FE0B5"/>
          </a:solidFill>
          <a:ln w="12700">
            <a:solidFill>
              <a:srgbClr val="4FE0B5">
                <a:alpha val="0"/>
              </a:srgbClr>
            </a:solidFill>
            <a:prstDash val="solid"/>
          </a:ln>
        </p:spPr>
        <p:txBody>
          <a:bodyPr/>
          <a:lstStyle/>
          <a:p>
            <a:endParaRPr lang="pt-BR"/>
          </a:p>
        </p:txBody>
      </p:sp>
      <p:sp>
        <p:nvSpPr>
          <p:cNvPr id="13" name="Text 11"/>
          <p:cNvSpPr/>
          <p:nvPr/>
        </p:nvSpPr>
        <p:spPr>
          <a:xfrm>
            <a:off x="1271016" y="2478024"/>
            <a:ext cx="9957816" cy="365760"/>
          </a:xfrm>
          <a:prstGeom prst="rect">
            <a:avLst/>
          </a:prstGeom>
          <a:noFill/>
          <a:ln/>
        </p:spPr>
        <p:txBody>
          <a:bodyPr wrap="square" lIns="0" tIns="0" rIns="0" bIns="0" rtlCol="0" anchor="ctr">
            <a:normAutofit/>
          </a:bodyPr>
          <a:lstStyle/>
          <a:p>
            <a:pPr marL="0" indent="0" algn="l">
              <a:buNone/>
            </a:pPr>
            <a:r>
              <a:rPr lang="en-US" sz="1840" dirty="0">
                <a:solidFill>
                  <a:srgbClr val="F4F8FC"/>
                </a:solidFill>
                <a:latin typeface="Aptos" pitchFamily="34" charset="0"/>
                <a:ea typeface="Aptos" pitchFamily="34" charset="-122"/>
                <a:cs typeface="Aptos" pitchFamily="34" charset="-120"/>
              </a:rPr>
              <a:t>Explicar a responsabilidade de cada componente</a:t>
            </a:r>
            <a:endParaRPr lang="en-US" sz="1840" dirty="0"/>
          </a:p>
        </p:txBody>
      </p:sp>
      <p:sp>
        <p:nvSpPr>
          <p:cNvPr id="14" name="Shape 12"/>
          <p:cNvSpPr/>
          <p:nvPr/>
        </p:nvSpPr>
        <p:spPr>
          <a:xfrm>
            <a:off x="932688" y="3118104"/>
            <a:ext cx="164592" cy="164592"/>
          </a:xfrm>
          <a:prstGeom prst="ellipse">
            <a:avLst/>
          </a:prstGeom>
          <a:solidFill>
            <a:srgbClr val="4FE0B5"/>
          </a:solidFill>
          <a:ln w="12700">
            <a:solidFill>
              <a:srgbClr val="4FE0B5">
                <a:alpha val="0"/>
              </a:srgbClr>
            </a:solidFill>
            <a:prstDash val="solid"/>
          </a:ln>
        </p:spPr>
        <p:txBody>
          <a:bodyPr/>
          <a:lstStyle/>
          <a:p>
            <a:endParaRPr lang="pt-BR"/>
          </a:p>
        </p:txBody>
      </p:sp>
      <p:sp>
        <p:nvSpPr>
          <p:cNvPr id="15" name="Text 13"/>
          <p:cNvSpPr/>
          <p:nvPr/>
        </p:nvSpPr>
        <p:spPr>
          <a:xfrm>
            <a:off x="1271016" y="3035808"/>
            <a:ext cx="9957816" cy="365760"/>
          </a:xfrm>
          <a:prstGeom prst="rect">
            <a:avLst/>
          </a:prstGeom>
          <a:noFill/>
          <a:ln/>
        </p:spPr>
        <p:txBody>
          <a:bodyPr wrap="square" lIns="0" tIns="0" rIns="0" bIns="0" rtlCol="0" anchor="ctr">
            <a:normAutofit/>
          </a:bodyPr>
          <a:lstStyle/>
          <a:p>
            <a:pPr marL="0" indent="0" algn="l">
              <a:buNone/>
            </a:pPr>
            <a:r>
              <a:rPr lang="en-US" sz="1840" dirty="0">
                <a:solidFill>
                  <a:srgbClr val="F4F8FC"/>
                </a:solidFill>
                <a:latin typeface="Aptos" pitchFamily="34" charset="0"/>
                <a:ea typeface="Aptos" pitchFamily="34" charset="-122"/>
                <a:cs typeface="Aptos" pitchFamily="34" charset="-120"/>
              </a:rPr>
              <a:t>Mostrar os produtos do primeiro chunk</a:t>
            </a:r>
            <a:endParaRPr lang="en-US" sz="1840" dirty="0"/>
          </a:p>
        </p:txBody>
      </p:sp>
      <p:sp>
        <p:nvSpPr>
          <p:cNvPr id="16" name="Shape 14"/>
          <p:cNvSpPr/>
          <p:nvPr/>
        </p:nvSpPr>
        <p:spPr>
          <a:xfrm>
            <a:off x="932688" y="3675888"/>
            <a:ext cx="164592" cy="164592"/>
          </a:xfrm>
          <a:prstGeom prst="ellipse">
            <a:avLst/>
          </a:prstGeom>
          <a:solidFill>
            <a:srgbClr val="4FE0B5"/>
          </a:solidFill>
          <a:ln w="12700">
            <a:solidFill>
              <a:srgbClr val="4FE0B5">
                <a:alpha val="0"/>
              </a:srgbClr>
            </a:solidFill>
            <a:prstDash val="solid"/>
          </a:ln>
        </p:spPr>
        <p:txBody>
          <a:bodyPr/>
          <a:lstStyle/>
          <a:p>
            <a:endParaRPr lang="pt-BR"/>
          </a:p>
        </p:txBody>
      </p:sp>
      <p:sp>
        <p:nvSpPr>
          <p:cNvPr id="17" name="Text 15"/>
          <p:cNvSpPr/>
          <p:nvPr/>
        </p:nvSpPr>
        <p:spPr>
          <a:xfrm>
            <a:off x="1271016" y="3593592"/>
            <a:ext cx="9957816" cy="365760"/>
          </a:xfrm>
          <a:prstGeom prst="rect">
            <a:avLst/>
          </a:prstGeom>
          <a:noFill/>
          <a:ln/>
        </p:spPr>
        <p:txBody>
          <a:bodyPr wrap="square" lIns="0" tIns="0" rIns="0" bIns="0" rtlCol="0" anchor="ctr">
            <a:normAutofit/>
          </a:bodyPr>
          <a:lstStyle/>
          <a:p>
            <a:pPr marL="0" indent="0" algn="l">
              <a:buNone/>
            </a:pPr>
            <a:r>
              <a:rPr lang="en-US" sz="1840" dirty="0">
                <a:solidFill>
                  <a:srgbClr val="F4F8FC"/>
                </a:solidFill>
                <a:latin typeface="Aptos" pitchFamily="34" charset="0"/>
                <a:ea typeface="Aptos" pitchFamily="34" charset="-122"/>
                <a:cs typeface="Aptos" pitchFamily="34" charset="-120"/>
              </a:rPr>
              <a:t>Localizar status e contadores</a:t>
            </a:r>
            <a:endParaRPr lang="en-US" sz="1840" dirty="0"/>
          </a:p>
        </p:txBody>
      </p:sp>
      <p:sp>
        <p:nvSpPr>
          <p:cNvPr id="18" name="Shape 16"/>
          <p:cNvSpPr/>
          <p:nvPr/>
        </p:nvSpPr>
        <p:spPr>
          <a:xfrm>
            <a:off x="932688" y="4233672"/>
            <a:ext cx="164592" cy="164592"/>
          </a:xfrm>
          <a:prstGeom prst="ellipse">
            <a:avLst/>
          </a:prstGeom>
          <a:solidFill>
            <a:srgbClr val="4FE0B5"/>
          </a:solidFill>
          <a:ln w="12700">
            <a:solidFill>
              <a:srgbClr val="4FE0B5">
                <a:alpha val="0"/>
              </a:srgbClr>
            </a:solidFill>
            <a:prstDash val="solid"/>
          </a:ln>
        </p:spPr>
        <p:txBody>
          <a:bodyPr/>
          <a:lstStyle/>
          <a:p>
            <a:endParaRPr lang="pt-BR"/>
          </a:p>
        </p:txBody>
      </p:sp>
      <p:sp>
        <p:nvSpPr>
          <p:cNvPr id="19" name="Text 17"/>
          <p:cNvSpPr/>
          <p:nvPr/>
        </p:nvSpPr>
        <p:spPr>
          <a:xfrm>
            <a:off x="1271016" y="4151376"/>
            <a:ext cx="9957816" cy="365760"/>
          </a:xfrm>
          <a:prstGeom prst="rect">
            <a:avLst/>
          </a:prstGeom>
          <a:noFill/>
          <a:ln/>
        </p:spPr>
        <p:txBody>
          <a:bodyPr wrap="square" lIns="0" tIns="0" rIns="0" bIns="0" rtlCol="0" anchor="ctr">
            <a:normAutofit/>
          </a:bodyPr>
          <a:lstStyle/>
          <a:p>
            <a:pPr marL="0" indent="0" algn="l">
              <a:buNone/>
            </a:pPr>
            <a:r>
              <a:rPr lang="en-US" sz="1840" dirty="0">
                <a:solidFill>
                  <a:srgbClr val="F4F8FC"/>
                </a:solidFill>
                <a:latin typeface="Aptos" pitchFamily="34" charset="0"/>
                <a:ea typeface="Aptos" pitchFamily="34" charset="-122"/>
                <a:cs typeface="Aptos" pitchFamily="34" charset="-120"/>
              </a:rPr>
              <a:t>Diferenciar nova instância e restart</a:t>
            </a:r>
            <a:endParaRPr lang="en-US" sz="1840" dirty="0"/>
          </a:p>
        </p:txBody>
      </p:sp>
      <p:sp>
        <p:nvSpPr>
          <p:cNvPr id="20" name="Shape 18"/>
          <p:cNvSpPr/>
          <p:nvPr/>
        </p:nvSpPr>
        <p:spPr>
          <a:xfrm>
            <a:off x="932688" y="4791456"/>
            <a:ext cx="164592" cy="164592"/>
          </a:xfrm>
          <a:prstGeom prst="ellipse">
            <a:avLst/>
          </a:prstGeom>
          <a:solidFill>
            <a:srgbClr val="4FE0B5"/>
          </a:solidFill>
          <a:ln w="12700">
            <a:solidFill>
              <a:srgbClr val="4FE0B5">
                <a:alpha val="0"/>
              </a:srgbClr>
            </a:solidFill>
            <a:prstDash val="solid"/>
          </a:ln>
        </p:spPr>
        <p:txBody>
          <a:bodyPr/>
          <a:lstStyle/>
          <a:p>
            <a:endParaRPr lang="pt-BR"/>
          </a:p>
        </p:txBody>
      </p:sp>
      <p:sp>
        <p:nvSpPr>
          <p:cNvPr id="21" name="Text 19"/>
          <p:cNvSpPr/>
          <p:nvPr/>
        </p:nvSpPr>
        <p:spPr>
          <a:xfrm>
            <a:off x="1271016" y="4709160"/>
            <a:ext cx="9957816" cy="365760"/>
          </a:xfrm>
          <a:prstGeom prst="rect">
            <a:avLst/>
          </a:prstGeom>
          <a:noFill/>
          <a:ln/>
        </p:spPr>
        <p:txBody>
          <a:bodyPr wrap="square" lIns="0" tIns="0" rIns="0" bIns="0" rtlCol="0" anchor="ctr">
            <a:normAutofit/>
          </a:bodyPr>
          <a:lstStyle/>
          <a:p>
            <a:pPr marL="0" indent="0" algn="l">
              <a:buNone/>
            </a:pPr>
            <a:r>
              <a:rPr lang="en-US" sz="1840" dirty="0">
                <a:solidFill>
                  <a:srgbClr val="F4F8FC"/>
                </a:solidFill>
                <a:latin typeface="Aptos" pitchFamily="34" charset="0"/>
                <a:ea typeface="Aptos" pitchFamily="34" charset="-122"/>
                <a:cs typeface="Aptos" pitchFamily="34" charset="-120"/>
              </a:rPr>
              <a:t>Demonstrar recuperação sem apagar metadados</a:t>
            </a:r>
            <a:endParaRPr lang="en-US" sz="1840" dirty="0"/>
          </a:p>
        </p:txBody>
      </p:sp>
      <p:sp>
        <p:nvSpPr>
          <p:cNvPr id="22" name="Shape 20"/>
          <p:cNvSpPr/>
          <p:nvPr/>
        </p:nvSpPr>
        <p:spPr>
          <a:xfrm>
            <a:off x="768096" y="5532120"/>
            <a:ext cx="10607040" cy="594360"/>
          </a:xfrm>
          <a:prstGeom prst="roundRect">
            <a:avLst>
              <a:gd name="adj" fmla="val 20000"/>
            </a:avLst>
          </a:prstGeom>
          <a:solidFill>
            <a:srgbClr val="142C43"/>
          </a:solidFill>
          <a:ln w="12700">
            <a:solidFill>
              <a:srgbClr val="142C43">
                <a:alpha val="0"/>
              </a:srgbClr>
            </a:solidFill>
            <a:prstDash val="solid"/>
          </a:ln>
        </p:spPr>
        <p:txBody>
          <a:bodyPr/>
          <a:lstStyle/>
          <a:p>
            <a:endParaRPr lang="pt-BR"/>
          </a:p>
        </p:txBody>
      </p:sp>
      <p:sp>
        <p:nvSpPr>
          <p:cNvPr id="23" name="Text 21"/>
          <p:cNvSpPr/>
          <p:nvPr/>
        </p:nvSpPr>
        <p:spPr>
          <a:xfrm>
            <a:off x="950976" y="5687568"/>
            <a:ext cx="10213848" cy="274320"/>
          </a:xfrm>
          <a:prstGeom prst="rect">
            <a:avLst/>
          </a:prstGeom>
          <a:noFill/>
          <a:ln/>
        </p:spPr>
        <p:txBody>
          <a:bodyPr wrap="square" lIns="0" tIns="0" rIns="0" bIns="0" rtlCol="0" anchor="ctr">
            <a:normAutofit/>
          </a:bodyPr>
          <a:lstStyle/>
          <a:p>
            <a:pPr marL="0" indent="0" algn="ctr">
              <a:buNone/>
            </a:pPr>
            <a:r>
              <a:rPr lang="en-US" sz="1540" b="1" dirty="0">
                <a:solidFill>
                  <a:srgbClr val="37C4F3"/>
                </a:solidFill>
                <a:latin typeface="Aptos" pitchFamily="34" charset="0"/>
                <a:ea typeface="Aptos" pitchFamily="34" charset="-122"/>
                <a:cs typeface="Aptos" pitchFamily="34" charset="-120"/>
              </a:rPr>
              <a:t>ORGANIZAR  ·  TRANSAÇÕES  ·  METADADOS  ·  RECUPERAÇÃO</a:t>
            </a:r>
            <a:endParaRPr lang="en-US" sz="15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4206</Words>
  <Application>Microsoft Office PowerPoint</Application>
  <PresentationFormat>Widescreen</PresentationFormat>
  <Paragraphs>538</Paragraphs>
  <Slides>28</Slides>
  <Notes>28</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28</vt:i4>
      </vt:variant>
    </vt:vector>
  </HeadingPairs>
  <TitlesOfParts>
    <vt:vector size="32" baseType="lpstr">
      <vt:lpstr>Aptos</vt:lpstr>
      <vt:lpstr>Aptos Mono</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Treinamento de Engenharia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Batch na prática — V2</dc:title>
  <dc:subject>Spring Batch na prática — V2, com comentários do apresentador</dc:subject>
  <dc:creator>Spring Batch POC — Material de treinamento</dc:creator>
  <cp:lastModifiedBy>Denilson Barreto de Souza</cp:lastModifiedBy>
  <cp:revision>3</cp:revision>
  <dcterms:created xsi:type="dcterms:W3CDTF">2026-10-20T21:39:01Z</dcterms:created>
  <dcterms:modified xsi:type="dcterms:W3CDTF">2026-10-21T21:22:00Z</dcterms:modified>
</cp:coreProperties>
</file>